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embeddedFontLst>
    <p:embeddedFont>
      <p:font typeface="Plus Jakarta Sans" panose="00000000000000000000" pitchFamily="34" charset="0"/>
      <p:regular r:id="rId20"/>
      <p:bold r:id="rId21"/>
    </p:embeddedFont>
    <p:embeddedFont>
      <p:font typeface="Plus Jakarta Sans Medium" panose="00000000000000000000" pitchFamily="34" charset="0"/>
      <p:regular r:id="rId22"/>
    </p:embeddedFont>
    <p:embeddedFont>
      <p:font typeface="Plus Jakarta Sans ExtraBold" panose="00000000000000000000" pitchFamily="34" charset="0"/>
      <p:regular r:id="rId23"/>
    </p:embeddedFont>
    <p:embeddedFont>
      <p:font typeface="JetBrains Mono" panose="02000009000000000000" pitchFamily="49" charset="0"/>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0:00–0:12 · Introduction</a:t>
            </a:r>
          </a:p>
          <a:p/>
          <a:p>
            <a:r>
              <a:t>SAY: Hi, I’m Arnav Kochar, a freshman in District 10. CareSphere brings daily support together for older adults, people living with dementia, autistic people, and caregivers.</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Hi, I’m Arnav Kochar, a freshman in Congressional District 10, and this is CareSphere: Your wellness, your way. CareSphere is a human-centered, privacy-first care assistant that helps older adults, people living with dementia, autistic people, and caregivers manage daily routines, well-being, connection, and care visits in one place.</a:t>
            </a:r>
          </a:p>
          <a:p>
            <a:r>
              <a:t>The title identifies Arnav Kochar, 9th grade, and Congressional District 10 as requested. Introduce yourself aloud in the actual recording. No email, school or direct contact information is printed.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0:12–0:24 · Why I built it</a:t>
            </a:r>
          </a:p>
          <a:p/>
          <a:p>
            <a:r>
              <a:t>SAY: Watching my grandparents in India manage independently, and talking with an autistic friend, showed me how often apps overlook different needs. I wanted to build something more accessible.</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Seeing my grandparents in India manage daily life independently, and talking with an autistic friend, helped me notice how often apps overlook different needs. I wanted to build an app that could support older adults, people living with dementia, and autistic people without making everyday technology feel more complicated.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0:24–0:35 · One place for daily support</a:t>
            </a:r>
          </a:p>
          <a:p/>
          <a:p>
            <a:r>
              <a:t>SAY: CareSphere combines routines, reminders, mood check-ins, calming tools, activities, calls, notes, visit preparation, health readings, and emergency options. People choose their language and comfort settings.</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CareSphere combines routines, medication reminders, mood check-ins, calming tools, activities, video calls, care notes, visit preparation, health readings, and emergency options in one app. People can adjust the screens, language, and comfort settings to suit their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0:35–0:45 · Activities at your own pace</a:t>
            </a:r>
          </a:p>
          <a:p/>
          <a:p>
            <a:r>
              <a:t>SAY: Sixteen activities include Solitaire, Word Search, Bingo, picture matching, stories, sorting, and conversation. There is no timer or score.</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The library has sixteen activities, including Solitaire, Word Search, Bingo, Picture Pairs, memory activities, stories, sorting, and conversation. They are designed to be simple and easy to enjoy, with no timer or score.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0:45–0:58 · Research behind CareSphere</a:t>
            </a:r>
          </a:p>
          <a:p/>
          <a:p>
            <a:r>
              <a:t>SAY: Research guided the design: tailored support, predictable choices, and social connection. CareSphere responds with activities, customizable settings, and optional video rooms. The studies do not establish CareSphere’s clinical effectiveness.</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Research helped shape the design. Ditton and colleagues describe potential benefits of digital support for cognition and well-being. Maun and colleagues emphasize predictable structure and individual needs. Noh and colleagues report benefits from video-call interventions. These findings inform CareSphere’s activities, settings, calming tools, and social features; they do not establish that CareSphere itself is clinically effective.</a:t>
            </a:r>
          </a:p>
          <a:p>
            <a:r>
              <a:t>R1: Exploring the effectiveness and experiences of people living with dementia interacting with digital interventions: A mixed methods systematic review</a:t>
            </a:r>
          </a:p>
          <a:p>
            <a:r>
              <a:t>https://doi.org/10.1177/14713012241302371</a:t>
            </a:r>
          </a:p>
          <a:p>
            <a:r>
              <a:t>https://pubmed.ncbi.nlm.nih.gov/39604136/</a:t>
            </a:r>
          </a:p>
          <a:p>
            <a:r>
              <a:t>Limit: Included dementia or mild cognitive impairment. Benefits depended on motivation, tailored training, support, suitable devices and content. Findings about studied programs do not establish CareSphere outcomes. The abstract was checked, not every included trial.</a:t>
            </a:r>
          </a:p>
          <a:p>
            <a:r>
              <a:t>R2: Participatory Methods to Engage Autistic People in the Design of Digital Technology: A Systematic Literature Review</a:t>
            </a:r>
          </a:p>
          <a:p>
            <a:r>
              <a:t>https://doi.org/10.1007/s10803-023-06015-5</a:t>
            </a:r>
          </a:p>
          <a:p>
            <a:r>
              <a:t>https://pmc.ncbi.nlm.nih.gov/articles/PMC11300472/</a:t>
            </a:r>
          </a:p>
          <a:p>
            <a:r>
              <a:t>Limit: 2024 journal issue; first published online in May 2023. Review of 18 articles on design participation, not an efficacy trial. Supports involving autistic people as equal design partners; CareSphere does not claim such involvement has already occurred.</a:t>
            </a:r>
          </a:p>
          <a:p>
            <a:r>
              <a:t>R3: Effectiveness and recommendation strategies for videoconference-based interventions to alleviate social isolation and loneliness in older adults: A systematic review and meta-analysis</a:t>
            </a:r>
          </a:p>
          <a:p>
            <a:r>
              <a:t>https://doi.org/10.1016/j.gerinurse.2025.03.042</a:t>
            </a:r>
          </a:p>
          <a:p>
            <a:r>
              <a:t>https://pubmed.ncbi.nlm.nih.gov/40239396/</a:t>
            </a:r>
          </a:p>
          <a:p>
            <a:r>
              <a:t>Limit: Geriatric Nursing 63 (2025), 353–361. Review of ten videoconference-based intervention studies: small-to-medium effect on social support and small effects on loneliness and depressive symptoms. This does not test CareSphere, prove that simply providing a room link reduces loneliness, or support a benefit claim for daily reminders. Responses in the table are design choices, not individually validated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0:58–1:01 · Demonstration handoff</a:t>
            </a:r>
          </a:p>
          <a:p/>
          <a:p>
            <a:r>
              <a:t>SAY: Now, let me show you CareSphere in action.</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Now, let me show you CareSphere in action. Choose what you need, in any order.</a:t>
            </a:r>
          </a:p>
          <a:p>
            <a:r>
              <a:t>Switch immediately to real app footage for 70 seconds; resume at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2:11–2:21 · Tools, languages and privacy</a:t>
            </a:r>
          </a:p>
          <a:p/>
          <a:p>
            <a:r>
              <a:t>SAY: Web uses React and JavaScript; iPhone, SwiftUI; Android, Kotlin. Data is encrypted locally. Eligible iPhones offer Apple’s on-device AI.</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The web app uses React and JavaScript; iPhone uses Swift and SwiftUI; and Android uses Kotlin. Core features are account-free, with care data encrypted locally. A generation check rejects stale Bluetooth readings. Eligible iPhones can use Apple Foundation Models on-device. MedlinePlus links provide general health information—not diagnosis or treatment advice.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2:21–2:34 · Who this could support</a:t>
            </a:r>
          </a:p>
          <a:p/>
          <a:p>
            <a:r>
              <a:t>SAY: These figures show why accessible daily support matters. They describe different U.S. populations and years—not CareSphere users or new diagnoses.</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These figures show the scale of different needs: older adults, people living with Alzheimer’s dementia, family caregivers, and autistic children identified in CDC monitoring communities. Each figure has its own year and population. They overlap and are not counts of CareSphere users.</a:t>
            </a:r>
          </a:p>
          <a:p>
            <a:r>
              <a:t>[S1] U.S. Census Bureau · 2024 data: 61.2 million — Older adults; Americans age 65+ · 2024</a:t>
            </a:r>
          </a:p>
          <a:p>
            <a:r>
              <a:t>https://www.census.gov/newsroom/press-releases/2025/older-adults-outnumber-children.html</a:t>
            </a:r>
          </a:p>
          <a:p>
            <a:r>
              <a:t>Scope: Vintage 2024 population estimate, published June 26, 2025. Ages 65 and older; not a count of app users.</a:t>
            </a:r>
          </a:p>
          <a:p>
            <a:r>
              <a:t>[S2] Alzheimer’s Association · 2026: 7.4 million — Alzheimer’s dementia; Americans age 65+ · 2026 estimate</a:t>
            </a:r>
          </a:p>
          <a:p>
            <a:r>
              <a:t>https://www.alz.org/alzheimers-dementia/facts-figures</a:t>
            </a:r>
          </a:p>
          <a:p>
            <a:r>
              <a:t>Scope: Estimated people living with Alzheimer’s dementia, not all dementia types and not new cases per year.</a:t>
            </a:r>
          </a:p>
          <a:p>
            <a:r>
              <a:t>[S3] AARP / National Alliance for Caregiving · 2025: 63 million — Family caregivers; U.S. family caregivers · 2025</a:t>
            </a:r>
          </a:p>
          <a:p>
            <a:r>
              <a:t>https://www.aarp.org/pri/topics/ltss/family-caregiving/caregiving-in-the-us-2025/</a:t>
            </a:r>
          </a:p>
          <a:p>
            <a:r>
              <a:t>Scope: Family caregivers of adults or children with chronic, disabling or serious health conditions. The report includes some compensated caregivers; this is not an unpaid-only count.</a:t>
            </a:r>
          </a:p>
          <a:p>
            <a:r>
              <a:t>[S4] Centers for Disease Control and Prevention · 2022 data: 1 in 31 — Autism identification; 8-year-olds in CDC monitoring communities · 2022</a:t>
            </a:r>
          </a:p>
          <a:p>
            <a:r>
              <a:t>https://www.cdc.gov/autism/data-research/index.html</a:t>
            </a:r>
          </a:p>
          <a:p>
            <a:r>
              <a:t>Scope: Combined monitoring-site estimate for identified autism among children aged eight in 2022. Not a count of autistic people of every age or annual new diagnoses.</a:t>
            </a:r>
          </a:p>
          <a:p>
            <a:r>
              <a:t>These populations overlap and must not be added together. Do not interpret prevalence as annual new diagnoses, market size or actual CareSphere users.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2:34–2:39 · Connection is your choice</a:t>
            </a:r>
          </a:p>
          <a:p/>
          <a:p>
            <a:r>
              <a:t>SAY: Join Coffee Circles when you choose. Notes stay on-device; calls use Jitsi.</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Coffee Circles are video rooms you choose to join. Care Circle notes stay on your device; nothing is automatically sent to family or clinicians. Calls use the external Jitsi service.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2:39–2:44 · Preparing for a care visit</a:t>
            </a:r>
          </a:p>
          <a:p/>
          <a:p>
            <a:r>
              <a:t>SAY: Choose records, review your summary, then decide whether to share it with your provider.</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Before a visit, choose the records you want to include, review the summary, and decide whether to share it with a care provider. It can help organize your questions and self-entered information for that conversation. The provider makes clinical decisions; the summary is not a diagnosis or verified medical record.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2:44–2:47 · What comes next</a:t>
            </a:r>
          </a:p>
          <a:p/>
          <a:p>
            <a:r>
              <a:t>SAY: Next: user feedback, accessibility improvements, and device testing.</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The next major update will be guided by feedback, needs, and experience. I plan to improve VoiceOver and Dynamic Type support and test Bluetooth, time zones, reminders, and encryption on real devices. Trust means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2:47–2:56 · Contribution and closing</a:t>
            </a:r>
          </a:p>
          <a:p/>
          <a:p>
            <a:r>
              <a:t>SAY: I used Claude Code and Arena.ai for debugging, reviewing changes myself. Thank you—technology should adapt to people.</a:t>
            </a:r>
          </a:p>
          <a:p/>
          <a:p>
            <a:r>
              <a:t>Actual mobile web screenshots from source a3d9e4489c935b67e4a6c55c133b02a2e639d6df inside script-drawn iPhone-style frames. Device status area and frame are outside the captured UI. Not native screenshots or clinical validation. No AI-generated imagery.</a:t>
            </a:r>
          </a:p>
          <a:p/>
          <a:p>
            <a:r>
              <a:t>EXPANDED SCRIPT (longer than the 3-minute recording cut):</a:t>
            </a:r>
          </a:p>
          <a:p>
            <a:r>
              <a:t>CareSphere is my first iOS app, built with purpose and shared with pride. I used Claude Code and Arena.ai for debugging and test ideas while reviewing and checking changes myself. Thank you for watching! Explore CareSphere through the project link on screen—and remember, technology should adapt to people, not the other way around.</a:t>
            </a:r>
          </a:p>
          <a:p>
            <a:r>
              <a:t>QR destination (presenter-selected GitHub project, not a live deployment): https://github.com/engineer2025-sudo/CareSphere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notesSlide" Target="../notesSlides/notesSlide12.xml"/><Relationship Id="rId6" Type="http://schemas.openxmlformats.org/officeDocument/2006/relationships/hyperlink" Target="https://github.com/engineer2025-sudo/CareSpher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Picture 1" descr="app-background.png"/>
          <p:cNvPicPr>
            <a:picLocks noChangeAspect="1"/>
          </p:cNvPicPr>
          <p:nvPr/>
        </p:nvPicPr>
        <p:blipFill>
          <a:blip r:embed="rId2"/>
          <a:stretch>
            <a:fillRect/>
          </a:stretch>
        </p:blipFill>
        <p:spPr>
          <a:xfrm>
            <a:off x="0" y="85"/>
            <a:ext cx="12191695" cy="6857828"/>
          </a:xfrm>
          <a:prstGeom prst="rect">
            <a:avLst/>
          </a:prstGeom>
        </p:spPr>
      </p:pic>
      <p:sp>
        <p:nvSpPr>
          <p:cNvPr id="3" name="Rounded Rectangle 2"/>
          <p:cNvSpPr/>
          <p:nvPr/>
        </p:nvSpPr>
        <p:spPr>
          <a:xfrm>
            <a:off x="731520" y="1175004"/>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1060704"/>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CONGRESSIONAL APP CHALLENGE · APP DEMONSTRATION</a:t>
            </a:r>
          </a:p>
        </p:txBody>
      </p:sp>
      <p:sp>
        <p:nvSpPr>
          <p:cNvPr id="5" name="TextBox 4"/>
          <p:cNvSpPr txBox="1"/>
          <p:nvPr/>
        </p:nvSpPr>
        <p:spPr>
          <a:xfrm>
            <a:off x="731520" y="1783080"/>
            <a:ext cx="6858000" cy="1051560"/>
          </a:xfrm>
          <a:prstGeom prst="rect">
            <a:avLst/>
          </a:prstGeom>
          <a:noFill/>
        </p:spPr>
        <p:txBody>
          <a:bodyPr wrap="square" lIns="0" rIns="0" tIns="0" bIns="0" anchor="t">
            <a:noAutofit/>
          </a:bodyPr>
          <a:lstStyle/>
          <a:p>
            <a:pPr algn="l">
              <a:lnSpc>
                <a:spcPts val="8250"/>
              </a:lnSpc>
              <a:spcBef>
                <a:spcPts val="0"/>
              </a:spcBef>
              <a:spcAft>
                <a:spcPts val="0"/>
              </a:spcAft>
              <a:buNone/>
            </a:pPr>
            <a:r>
              <a:rPr sz="6600" b="0">
                <a:solidFill>
                  <a:srgbClr val="EDF1E8"/>
                </a:solidFill>
                <a:latin typeface="Plus Jakarta Sans ExtraBold"/>
              </a:rPr>
              <a:t>CareSphere</a:t>
            </a:r>
          </a:p>
        </p:txBody>
      </p:sp>
      <p:sp>
        <p:nvSpPr>
          <p:cNvPr id="6" name="TextBox 5"/>
          <p:cNvSpPr txBox="1"/>
          <p:nvPr/>
        </p:nvSpPr>
        <p:spPr>
          <a:xfrm>
            <a:off x="731520" y="2926080"/>
            <a:ext cx="6492240" cy="731520"/>
          </a:xfrm>
          <a:prstGeom prst="rect">
            <a:avLst/>
          </a:prstGeom>
          <a:noFill/>
        </p:spPr>
        <p:txBody>
          <a:bodyPr wrap="square" lIns="0" rIns="0" tIns="0" bIns="0" anchor="t">
            <a:noAutofit/>
          </a:bodyPr>
          <a:lstStyle/>
          <a:p>
            <a:pPr algn="l">
              <a:lnSpc>
                <a:spcPts val="3625"/>
              </a:lnSpc>
              <a:spcBef>
                <a:spcPts val="0"/>
              </a:spcBef>
              <a:spcAft>
                <a:spcPts val="0"/>
              </a:spcAft>
              <a:buNone/>
            </a:pPr>
            <a:r>
              <a:rPr sz="2900" b="0">
                <a:solidFill>
                  <a:srgbClr val="89AA91"/>
                </a:solidFill>
                <a:latin typeface="Plus Jakarta Sans Medium"/>
              </a:rPr>
              <a:t>Your wellness, your way.</a:t>
            </a:r>
          </a:p>
        </p:txBody>
      </p:sp>
      <p:sp>
        <p:nvSpPr>
          <p:cNvPr id="7" name="TextBox 6"/>
          <p:cNvSpPr txBox="1"/>
          <p:nvPr/>
        </p:nvSpPr>
        <p:spPr>
          <a:xfrm>
            <a:off x="731520" y="3703320"/>
            <a:ext cx="6126480" cy="731520"/>
          </a:xfrm>
          <a:prstGeom prst="rect">
            <a:avLst/>
          </a:prstGeom>
          <a:noFill/>
        </p:spPr>
        <p:txBody>
          <a:bodyPr wrap="square" lIns="0" rIns="0" tIns="0" bIns="0" anchor="t">
            <a:noAutofit/>
          </a:bodyPr>
          <a:lstStyle/>
          <a:p>
            <a:pPr algn="l">
              <a:lnSpc>
                <a:spcPts val="2860"/>
              </a:lnSpc>
              <a:spcBef>
                <a:spcPts val="0"/>
              </a:spcBef>
              <a:spcAft>
                <a:spcPts val="0"/>
              </a:spcAft>
              <a:buNone/>
            </a:pPr>
            <a:r>
              <a:rPr sz="2200" b="0">
                <a:solidFill>
                  <a:srgbClr val="D5DED3"/>
                </a:solidFill>
                <a:latin typeface="Plus Jakarta Sans"/>
              </a:rPr>
              <a:t>Activities, daily routines, connection and help preparing for care visits.</a:t>
            </a:r>
          </a:p>
        </p:txBody>
      </p:sp>
      <p:sp>
        <p:nvSpPr>
          <p:cNvPr id="8" name="TextBox 7"/>
          <p:cNvSpPr txBox="1"/>
          <p:nvPr/>
        </p:nvSpPr>
        <p:spPr>
          <a:xfrm>
            <a:off x="731520" y="4617720"/>
            <a:ext cx="6035040" cy="228600"/>
          </a:xfrm>
          <a:prstGeom prst="rect">
            <a:avLst/>
          </a:prstGeom>
          <a:noFill/>
        </p:spPr>
        <p:txBody>
          <a:bodyPr wrap="square" lIns="0" rIns="0" tIns="0" bIns="0" anchor="t">
            <a:noAutofit/>
          </a:bodyPr>
          <a:lstStyle/>
          <a:p>
            <a:pPr algn="l">
              <a:lnSpc>
                <a:spcPts val="1500"/>
              </a:lnSpc>
              <a:spcBef>
                <a:spcPts val="0"/>
              </a:spcBef>
              <a:spcAft>
                <a:spcPts val="0"/>
              </a:spcAft>
              <a:buNone/>
            </a:pPr>
            <a:r>
              <a:rPr sz="1200" b="1" spc="120">
                <a:solidFill>
                  <a:srgbClr val="89AA91"/>
                </a:solidFill>
                <a:latin typeface="Plus Jakarta Sans"/>
              </a:rPr>
              <a:t>DESIGNED FOR</a:t>
            </a:r>
          </a:p>
        </p:txBody>
      </p:sp>
      <p:sp>
        <p:nvSpPr>
          <p:cNvPr id="9" name="TextBox 8"/>
          <p:cNvSpPr txBox="1"/>
          <p:nvPr/>
        </p:nvSpPr>
        <p:spPr>
          <a:xfrm>
            <a:off x="731520" y="4919472"/>
            <a:ext cx="6217920" cy="868680"/>
          </a:xfrm>
          <a:prstGeom prst="rect">
            <a:avLst/>
          </a:prstGeom>
          <a:noFill/>
        </p:spPr>
        <p:txBody>
          <a:bodyPr wrap="square" lIns="0" rIns="0" tIns="0" bIns="0" anchor="t">
            <a:noAutofit/>
          </a:bodyPr>
          <a:lstStyle/>
          <a:p>
            <a:pPr algn="l">
              <a:lnSpc>
                <a:spcPts val="2160"/>
              </a:lnSpc>
              <a:spcBef>
                <a:spcPts val="0"/>
              </a:spcBef>
              <a:spcAft>
                <a:spcPts val="0"/>
              </a:spcAft>
              <a:buNone/>
            </a:pPr>
            <a:r>
              <a:rPr sz="1800" b="0">
                <a:solidFill>
                  <a:srgbClr val="EDF1E8"/>
                </a:solidFill>
                <a:latin typeface="Plus Jakarta Sans Medium"/>
              </a:rPr>
              <a:t>Older adults, people living with dementia, autistic people, and the families and caregivers who support them.</a:t>
            </a:r>
          </a:p>
        </p:txBody>
      </p:sp>
      <p:sp>
        <p:nvSpPr>
          <p:cNvPr id="10" name="Rectangle 9"/>
          <p:cNvSpPr/>
          <p:nvPr/>
        </p:nvSpPr>
        <p:spPr>
          <a:xfrm>
            <a:off x="731520" y="5907024"/>
            <a:ext cx="6217920" cy="10972"/>
          </a:xfrm>
          <a:prstGeom prst="rect">
            <a:avLst/>
          </a:prstGeom>
          <a:solidFill>
            <a:srgbClr val="89AA91">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6089904"/>
            <a:ext cx="6217920" cy="329184"/>
          </a:xfrm>
          <a:prstGeom prst="rect">
            <a:avLst/>
          </a:prstGeom>
          <a:noFill/>
        </p:spPr>
        <p:txBody>
          <a:bodyPr wrap="square" lIns="0" rIns="0" tIns="0" bIns="0" anchor="t">
            <a:noAutofit/>
          </a:bodyPr>
          <a:lstStyle/>
          <a:p>
            <a:pPr algn="l">
              <a:lnSpc>
                <a:spcPts val="2000"/>
              </a:lnSpc>
              <a:spcBef>
                <a:spcPts val="0"/>
              </a:spcBef>
              <a:spcAft>
                <a:spcPts val="0"/>
              </a:spcAft>
              <a:buNone/>
            </a:pPr>
            <a:r>
              <a:rPr sz="1600" b="0">
                <a:solidFill>
                  <a:srgbClr val="D5DED3"/>
                </a:solidFill>
                <a:latin typeface="Plus Jakarta Sans Medium"/>
              </a:rPr>
              <a:t>Arnav Kochar · 9th grade · Congressional District 10</a:t>
            </a:r>
          </a:p>
        </p:txBody>
      </p:sp>
      <p:pic>
        <p:nvPicPr>
          <p:cNvPr id="12" name="Picture 11" descr="solitaire.png"/>
          <p:cNvPicPr>
            <a:picLocks noChangeAspect="1"/>
          </p:cNvPicPr>
          <p:nvPr/>
        </p:nvPicPr>
        <p:blipFill>
          <a:blip r:embed="rId3"/>
          <a:stretch>
            <a:fillRect/>
          </a:stretch>
        </p:blipFill>
        <p:spPr>
          <a:xfrm rot="21060000">
            <a:off x="7223760" y="1417320"/>
            <a:ext cx="2490048" cy="4892040"/>
          </a:xfrm>
          <a:prstGeom prst="rect">
            <a:avLst/>
          </a:prstGeom>
        </p:spPr>
      </p:pic>
      <p:pic>
        <p:nvPicPr>
          <p:cNvPr id="13" name="Picture 12" descr="overview.png"/>
          <p:cNvPicPr>
            <a:picLocks noChangeAspect="1"/>
          </p:cNvPicPr>
          <p:nvPr/>
        </p:nvPicPr>
        <p:blipFill>
          <a:blip r:embed="rId4"/>
          <a:stretch>
            <a:fillRect/>
          </a:stretch>
        </p:blipFill>
        <p:spPr>
          <a:xfrm rot="300000">
            <a:off x="8823960" y="777240"/>
            <a:ext cx="2815849" cy="55321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USER-FRIENDLY DESIGN</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070"/>
              </a:lnSpc>
              <a:spcBef>
                <a:spcPts val="0"/>
              </a:spcBef>
              <a:spcAft>
                <a:spcPts val="0"/>
              </a:spcAft>
              <a:buNone/>
            </a:pPr>
            <a:r>
              <a:rPr sz="3700" b="0">
                <a:solidFill>
                  <a:srgbClr val="EDF1E8"/>
                </a:solidFill>
                <a:latin typeface="Plus Jakarta Sans ExtraBold"/>
              </a:rPr>
              <a:t>Simple to use. </a:t>
            </a:r>
            <a:r>
              <a:rPr sz="3700" b="0">
                <a:solidFill>
                  <a:srgbClr val="89AA91"/>
                </a:solidFill>
                <a:latin typeface="Plus Jakarta Sans ExtraBold"/>
              </a:rPr>
              <a:t>Built around people.</a:t>
            </a:r>
          </a:p>
        </p:txBody>
      </p:sp>
      <p:sp>
        <p:nvSpPr>
          <p:cNvPr id="6" name="TextBox 5"/>
          <p:cNvSpPr txBox="1"/>
          <p:nvPr/>
        </p:nvSpPr>
        <p:spPr>
          <a:xfrm>
            <a:off x="731520" y="2057400"/>
            <a:ext cx="5669280" cy="914400"/>
          </a:xfrm>
          <a:prstGeom prst="rect">
            <a:avLst/>
          </a:prstGeom>
          <a:noFill/>
        </p:spPr>
        <p:txBody>
          <a:bodyPr wrap="square" lIns="0" rIns="0" tIns="0" bIns="0" anchor="t">
            <a:noAutofit/>
          </a:bodyPr>
          <a:lstStyle/>
          <a:p>
            <a:pPr algn="l">
              <a:lnSpc>
                <a:spcPts val="3564"/>
              </a:lnSpc>
              <a:spcBef>
                <a:spcPts val="0"/>
              </a:spcBef>
              <a:spcAft>
                <a:spcPts val="0"/>
              </a:spcAft>
              <a:buNone/>
            </a:pPr>
            <a:r>
              <a:rPr sz="2850" b="1">
                <a:solidFill>
                  <a:srgbClr val="EDF1E8"/>
                </a:solidFill>
                <a:latin typeface="Plus Jakarta Sans"/>
              </a:rPr>
              <a:t>Clear choices. A comfortable pace.</a:t>
            </a:r>
          </a:p>
        </p:txBody>
      </p:sp>
      <p:sp>
        <p:nvSpPr>
          <p:cNvPr id="7" name="TextBox 6"/>
          <p:cNvSpPr txBox="1"/>
          <p:nvPr/>
        </p:nvSpPr>
        <p:spPr>
          <a:xfrm>
            <a:off x="731520" y="3291840"/>
            <a:ext cx="5029200" cy="347472"/>
          </a:xfrm>
          <a:prstGeom prst="rect">
            <a:avLst/>
          </a:prstGeom>
          <a:noFill/>
        </p:spPr>
        <p:txBody>
          <a:bodyPr wrap="square" lIns="0" rIns="0" tIns="0" bIns="0" anchor="t">
            <a:noAutofit/>
          </a:bodyPr>
          <a:lstStyle/>
          <a:p>
            <a:pPr algn="l">
              <a:lnSpc>
                <a:spcPts val="2750"/>
              </a:lnSpc>
              <a:spcBef>
                <a:spcPts val="0"/>
              </a:spcBef>
              <a:spcAft>
                <a:spcPts val="0"/>
              </a:spcAft>
              <a:buNone/>
            </a:pPr>
            <a:r>
              <a:rPr sz="2200" b="1">
                <a:solidFill>
                  <a:srgbClr val="89AA91"/>
                </a:solidFill>
                <a:latin typeface="Plus Jakarta Sans"/>
              </a:rPr>
              <a:t>A predictable day</a:t>
            </a:r>
          </a:p>
        </p:txBody>
      </p:sp>
      <p:sp>
        <p:nvSpPr>
          <p:cNvPr id="8" name="TextBox 7"/>
          <p:cNvSpPr txBox="1"/>
          <p:nvPr/>
        </p:nvSpPr>
        <p:spPr>
          <a:xfrm>
            <a:off x="731520" y="3675888"/>
            <a:ext cx="5943600" cy="384048"/>
          </a:xfrm>
          <a:prstGeom prst="rect">
            <a:avLst/>
          </a:prstGeom>
          <a:noFill/>
        </p:spPr>
        <p:txBody>
          <a:bodyPr wrap="square" lIns="0" rIns="0" tIns="0" bIns="0" anchor="t">
            <a:noAutofit/>
          </a:bodyPr>
          <a:lstStyle/>
          <a:p>
            <a:pPr algn="l">
              <a:lnSpc>
                <a:spcPts val="2039"/>
              </a:lnSpc>
              <a:spcBef>
                <a:spcPts val="0"/>
              </a:spcBef>
              <a:spcAft>
                <a:spcPts val="0"/>
              </a:spcAft>
              <a:buNone/>
            </a:pPr>
            <a:r>
              <a:rPr sz="1650" b="0">
                <a:solidFill>
                  <a:srgbClr val="D5DED3"/>
                </a:solidFill>
                <a:latin typeface="Plus Jakarta Sans"/>
              </a:rPr>
              <a:t>Mood check-ins, daily routines and medication reminders.</a:t>
            </a:r>
          </a:p>
        </p:txBody>
      </p:sp>
      <p:sp>
        <p:nvSpPr>
          <p:cNvPr id="9" name="TextBox 8"/>
          <p:cNvSpPr txBox="1"/>
          <p:nvPr/>
        </p:nvSpPr>
        <p:spPr>
          <a:xfrm>
            <a:off x="731520" y="4206240"/>
            <a:ext cx="5029200" cy="347472"/>
          </a:xfrm>
          <a:prstGeom prst="rect">
            <a:avLst/>
          </a:prstGeom>
          <a:noFill/>
        </p:spPr>
        <p:txBody>
          <a:bodyPr wrap="square" lIns="0" rIns="0" tIns="0" bIns="0" anchor="t">
            <a:noAutofit/>
          </a:bodyPr>
          <a:lstStyle/>
          <a:p>
            <a:pPr algn="l">
              <a:lnSpc>
                <a:spcPts val="2750"/>
              </a:lnSpc>
              <a:spcBef>
                <a:spcPts val="0"/>
              </a:spcBef>
              <a:spcAft>
                <a:spcPts val="0"/>
              </a:spcAft>
              <a:buNone/>
            </a:pPr>
            <a:r>
              <a:rPr sz="2200" b="1">
                <a:solidFill>
                  <a:srgbClr val="89AA91"/>
                </a:solidFill>
                <a:latin typeface="Plus Jakarta Sans"/>
              </a:rPr>
              <a:t>A low-pressure activity</a:t>
            </a:r>
          </a:p>
        </p:txBody>
      </p:sp>
      <p:sp>
        <p:nvSpPr>
          <p:cNvPr id="10" name="TextBox 9"/>
          <p:cNvSpPr txBox="1"/>
          <p:nvPr/>
        </p:nvSpPr>
        <p:spPr>
          <a:xfrm>
            <a:off x="731520" y="4590288"/>
            <a:ext cx="5943600" cy="384048"/>
          </a:xfrm>
          <a:prstGeom prst="rect">
            <a:avLst/>
          </a:prstGeom>
          <a:noFill/>
        </p:spPr>
        <p:txBody>
          <a:bodyPr wrap="square" lIns="0" rIns="0" tIns="0" bIns="0" anchor="t">
            <a:noAutofit/>
          </a:bodyPr>
          <a:lstStyle/>
          <a:p>
            <a:pPr algn="l">
              <a:lnSpc>
                <a:spcPts val="2039"/>
              </a:lnSpc>
              <a:spcBef>
                <a:spcPts val="0"/>
              </a:spcBef>
              <a:spcAft>
                <a:spcPts val="0"/>
              </a:spcAft>
              <a:buNone/>
            </a:pPr>
            <a:r>
              <a:rPr sz="1650" b="0">
                <a:solidFill>
                  <a:srgbClr val="D5DED3"/>
                </a:solidFill>
                <a:latin typeface="Plus Jakarta Sans"/>
              </a:rPr>
              <a:t>Familiar activities, optional sound and clear stop controls.</a:t>
            </a:r>
          </a:p>
        </p:txBody>
      </p:sp>
      <p:sp>
        <p:nvSpPr>
          <p:cNvPr id="11" name="TextBox 10"/>
          <p:cNvSpPr txBox="1"/>
          <p:nvPr/>
        </p:nvSpPr>
        <p:spPr>
          <a:xfrm>
            <a:off x="731520" y="5120640"/>
            <a:ext cx="5029200" cy="347472"/>
          </a:xfrm>
          <a:prstGeom prst="rect">
            <a:avLst/>
          </a:prstGeom>
          <a:noFill/>
        </p:spPr>
        <p:txBody>
          <a:bodyPr wrap="square" lIns="0" rIns="0" tIns="0" bIns="0" anchor="t">
            <a:noAutofit/>
          </a:bodyPr>
          <a:lstStyle/>
          <a:p>
            <a:pPr algn="l">
              <a:lnSpc>
                <a:spcPts val="2750"/>
              </a:lnSpc>
              <a:spcBef>
                <a:spcPts val="0"/>
              </a:spcBef>
              <a:spcAft>
                <a:spcPts val="0"/>
              </a:spcAft>
              <a:buNone/>
            </a:pPr>
            <a:r>
              <a:rPr sz="2200" b="1">
                <a:solidFill>
                  <a:srgbClr val="89AA91"/>
                </a:solidFill>
                <a:latin typeface="Plus Jakarta Sans"/>
              </a:rPr>
              <a:t>A way to connect</a:t>
            </a:r>
          </a:p>
        </p:txBody>
      </p:sp>
      <p:sp>
        <p:nvSpPr>
          <p:cNvPr id="12" name="TextBox 11"/>
          <p:cNvSpPr txBox="1"/>
          <p:nvPr/>
        </p:nvSpPr>
        <p:spPr>
          <a:xfrm>
            <a:off x="731520" y="5504688"/>
            <a:ext cx="5943600" cy="384048"/>
          </a:xfrm>
          <a:prstGeom prst="rect">
            <a:avLst/>
          </a:prstGeom>
          <a:noFill/>
        </p:spPr>
        <p:txBody>
          <a:bodyPr wrap="square" lIns="0" rIns="0" tIns="0" bIns="0" anchor="t">
            <a:noAutofit/>
          </a:bodyPr>
          <a:lstStyle/>
          <a:p>
            <a:pPr algn="l">
              <a:lnSpc>
                <a:spcPts val="2125"/>
              </a:lnSpc>
              <a:spcBef>
                <a:spcPts val="0"/>
              </a:spcBef>
              <a:spcAft>
                <a:spcPts val="0"/>
              </a:spcAft>
              <a:buNone/>
            </a:pPr>
            <a:r>
              <a:rPr sz="1700" b="0">
                <a:solidFill>
                  <a:srgbClr val="D5DED3"/>
                </a:solidFill>
                <a:latin typeface="Plus Jakarta Sans"/>
              </a:rPr>
              <a:t>Video rooms and a brief you prepare before a visit.</a:t>
            </a:r>
          </a:p>
        </p:txBody>
      </p:sp>
      <p:pic>
        <p:nvPicPr>
          <p:cNvPr id="13" name="Picture 12" descr="overview.png"/>
          <p:cNvPicPr>
            <a:picLocks noChangeAspect="1"/>
          </p:cNvPicPr>
          <p:nvPr/>
        </p:nvPicPr>
        <p:blipFill>
          <a:blip r:embed="rId3"/>
          <a:stretch>
            <a:fillRect/>
          </a:stretch>
        </p:blipFill>
        <p:spPr>
          <a:xfrm>
            <a:off x="7818120" y="1920240"/>
            <a:ext cx="2187519" cy="4297680"/>
          </a:xfrm>
          <a:prstGeom prst="rect">
            <a:avLst/>
          </a:prstGeom>
        </p:spPr>
      </p:pic>
      <p:sp>
        <p:nvSpPr>
          <p:cNvPr id="14" name="TextBox 13"/>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02</a:t>
            </a:r>
          </a:p>
        </p:txBody>
      </p:sp>
      <p:pic>
        <p:nvPicPr>
          <p:cNvPr id="15" name="Picture 14" descr="icon.png"/>
          <p:cNvPicPr>
            <a:picLocks noChangeAspect="1"/>
          </p:cNvPicPr>
          <p:nvPr/>
        </p:nvPicPr>
        <p:blipFill>
          <a:blip r:embed="rId4"/>
          <a:stretch>
            <a:fillRect/>
          </a:stretch>
        </p:blipFill>
        <p:spPr>
          <a:xfrm>
            <a:off x="731520" y="6382512"/>
            <a:ext cx="237744" cy="237744"/>
          </a:xfrm>
          <a:prstGeom prst="roundRect">
            <a:avLst>
              <a:gd name="adj" fmla="val 26923"/>
            </a:avLst>
          </a:prstGeom>
        </p:spPr>
      </p:pic>
      <p:sp>
        <p:nvSpPr>
          <p:cNvPr id="16" name="TextBox 15"/>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WHAT THE APP DOES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070"/>
              </a:lnSpc>
              <a:spcBef>
                <a:spcPts val="0"/>
              </a:spcBef>
              <a:spcAft>
                <a:spcPts val="0"/>
              </a:spcAft>
              <a:buNone/>
            </a:pPr>
            <a:r>
              <a:rPr sz="3700" b="0">
                <a:solidFill>
                  <a:srgbClr val="EDF1E8"/>
                </a:solidFill>
                <a:latin typeface="Plus Jakarta Sans ExtraBold"/>
              </a:rPr>
              <a:t>Everyday support. </a:t>
            </a:r>
            <a:r>
              <a:rPr sz="3700" b="0">
                <a:solidFill>
                  <a:srgbClr val="89AA91"/>
                </a:solidFill>
                <a:latin typeface="Plus Jakarta Sans ExtraBold"/>
              </a:rPr>
              <a:t>Six connected areas.</a:t>
            </a:r>
          </a:p>
        </p:txBody>
      </p:sp>
      <p:sp>
        <p:nvSpPr>
          <p:cNvPr id="6" name="Rounded Rectangle 5"/>
          <p:cNvSpPr/>
          <p:nvPr/>
        </p:nvSpPr>
        <p:spPr>
          <a:xfrm>
            <a:off x="731520" y="2057400"/>
            <a:ext cx="5166360" cy="1088136"/>
          </a:xfrm>
          <a:prstGeom prst="roundRect">
            <a:avLst>
              <a:gd name="adj" fmla="val 1680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2203704"/>
            <a:ext cx="4754880" cy="36576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EDF1E8"/>
                </a:solidFill>
                <a:latin typeface="Plus Jakarta Sans"/>
              </a:rPr>
              <a:t>Sensory &amp; interactive activities</a:t>
            </a:r>
          </a:p>
        </p:txBody>
      </p:sp>
      <p:sp>
        <p:nvSpPr>
          <p:cNvPr id="8" name="TextBox 7"/>
          <p:cNvSpPr txBox="1"/>
          <p:nvPr/>
        </p:nvSpPr>
        <p:spPr>
          <a:xfrm>
            <a:off x="932688" y="2642616"/>
            <a:ext cx="4754880" cy="420624"/>
          </a:xfrm>
          <a:prstGeom prst="rect">
            <a:avLst/>
          </a:prstGeom>
          <a:noFill/>
        </p:spPr>
        <p:txBody>
          <a:bodyPr wrap="square" lIns="0" rIns="0" tIns="0" bIns="0" anchor="t">
            <a:noAutofit/>
          </a:bodyPr>
          <a:lstStyle/>
          <a:p>
            <a:pPr algn="l">
              <a:lnSpc>
                <a:spcPts val="1839"/>
              </a:lnSpc>
              <a:spcBef>
                <a:spcPts val="0"/>
              </a:spcBef>
              <a:spcAft>
                <a:spcPts val="0"/>
              </a:spcAft>
              <a:buNone/>
            </a:pPr>
            <a:r>
              <a:rPr sz="1450" b="0">
                <a:solidFill>
                  <a:srgbClr val="D5DED3"/>
                </a:solidFill>
                <a:latin typeface="Plus Jakarta Sans"/>
              </a:rPr>
              <a:t>16 activities with search, favorites and pace choices.</a:t>
            </a:r>
          </a:p>
        </p:txBody>
      </p:sp>
      <p:sp>
        <p:nvSpPr>
          <p:cNvPr id="9" name="Rounded Rectangle 8"/>
          <p:cNvSpPr/>
          <p:nvPr/>
        </p:nvSpPr>
        <p:spPr>
          <a:xfrm>
            <a:off x="6217920" y="2057400"/>
            <a:ext cx="5166360" cy="1088136"/>
          </a:xfrm>
          <a:prstGeom prst="roundRect">
            <a:avLst>
              <a:gd name="adj" fmla="val 1680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19088" y="2203704"/>
            <a:ext cx="4754880" cy="36576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EDF1E8"/>
                </a:solidFill>
                <a:latin typeface="Plus Jakarta Sans"/>
              </a:rPr>
              <a:t>Daily support</a:t>
            </a:r>
          </a:p>
        </p:txBody>
      </p:sp>
      <p:sp>
        <p:nvSpPr>
          <p:cNvPr id="11" name="TextBox 10"/>
          <p:cNvSpPr txBox="1"/>
          <p:nvPr/>
        </p:nvSpPr>
        <p:spPr>
          <a:xfrm>
            <a:off x="6419088" y="2642616"/>
            <a:ext cx="4754880" cy="420624"/>
          </a:xfrm>
          <a:prstGeom prst="rect">
            <a:avLst/>
          </a:prstGeom>
          <a:noFill/>
        </p:spPr>
        <p:txBody>
          <a:bodyPr wrap="square" lIns="0" rIns="0" tIns="0" bIns="0" anchor="t">
            <a:noAutofit/>
          </a:bodyPr>
          <a:lstStyle/>
          <a:p>
            <a:pPr algn="l">
              <a:lnSpc>
                <a:spcPts val="1839"/>
              </a:lnSpc>
              <a:spcBef>
                <a:spcPts val="0"/>
              </a:spcBef>
              <a:spcAft>
                <a:spcPts val="0"/>
              </a:spcAft>
              <a:buNone/>
            </a:pPr>
            <a:r>
              <a:rPr sz="1450" b="0">
                <a:solidFill>
                  <a:srgbClr val="D5DED3"/>
                </a:solidFill>
                <a:latin typeface="Plus Jakarta Sans"/>
              </a:rPr>
              <a:t>Mood check-ins, reminders and a moment to pause.</a:t>
            </a:r>
          </a:p>
        </p:txBody>
      </p:sp>
      <p:sp>
        <p:nvSpPr>
          <p:cNvPr id="12" name="Rounded Rectangle 11"/>
          <p:cNvSpPr/>
          <p:nvPr/>
        </p:nvSpPr>
        <p:spPr>
          <a:xfrm>
            <a:off x="731520" y="3300984"/>
            <a:ext cx="5166360" cy="1088136"/>
          </a:xfrm>
          <a:prstGeom prst="roundRect">
            <a:avLst>
              <a:gd name="adj" fmla="val 1680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447288"/>
            <a:ext cx="4754880" cy="36576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EDF1E8"/>
                </a:solidFill>
                <a:latin typeface="Plus Jakarta Sans"/>
              </a:rPr>
              <a:t>Human connection</a:t>
            </a:r>
          </a:p>
        </p:txBody>
      </p:sp>
      <p:sp>
        <p:nvSpPr>
          <p:cNvPr id="14" name="TextBox 13"/>
          <p:cNvSpPr txBox="1"/>
          <p:nvPr/>
        </p:nvSpPr>
        <p:spPr>
          <a:xfrm>
            <a:off x="932688" y="3886200"/>
            <a:ext cx="4754880" cy="420624"/>
          </a:xfrm>
          <a:prstGeom prst="rect">
            <a:avLst/>
          </a:prstGeom>
          <a:noFill/>
        </p:spPr>
        <p:txBody>
          <a:bodyPr wrap="square" lIns="0" rIns="0" tIns="0" bIns="0" anchor="t">
            <a:noAutofit/>
          </a:bodyPr>
          <a:lstStyle/>
          <a:p>
            <a:pPr algn="l">
              <a:lnSpc>
                <a:spcPts val="1920"/>
              </a:lnSpc>
              <a:spcBef>
                <a:spcPts val="0"/>
              </a:spcBef>
              <a:spcAft>
                <a:spcPts val="0"/>
              </a:spcAft>
              <a:buNone/>
            </a:pPr>
            <a:r>
              <a:rPr sz="1550" b="0">
                <a:solidFill>
                  <a:srgbClr val="D5DED3"/>
                </a:solidFill>
                <a:latin typeface="Plus Jakarta Sans"/>
              </a:rPr>
              <a:t>Coffee Circles and video calls you choose to join.</a:t>
            </a:r>
          </a:p>
        </p:txBody>
      </p:sp>
      <p:sp>
        <p:nvSpPr>
          <p:cNvPr id="15" name="Rounded Rectangle 14"/>
          <p:cNvSpPr/>
          <p:nvPr/>
        </p:nvSpPr>
        <p:spPr>
          <a:xfrm>
            <a:off x="6217920" y="3300984"/>
            <a:ext cx="5166360" cy="1088136"/>
          </a:xfrm>
          <a:prstGeom prst="roundRect">
            <a:avLst>
              <a:gd name="adj" fmla="val 1680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19088" y="3447288"/>
            <a:ext cx="4754880" cy="36576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EDF1E8"/>
                </a:solidFill>
                <a:latin typeface="Plus Jakarta Sans"/>
              </a:rPr>
              <a:t>Notes &amp; care visits</a:t>
            </a:r>
          </a:p>
        </p:txBody>
      </p:sp>
      <p:sp>
        <p:nvSpPr>
          <p:cNvPr id="17" name="TextBox 16"/>
          <p:cNvSpPr txBox="1"/>
          <p:nvPr/>
        </p:nvSpPr>
        <p:spPr>
          <a:xfrm>
            <a:off x="6419088" y="3886200"/>
            <a:ext cx="4754880" cy="420624"/>
          </a:xfrm>
          <a:prstGeom prst="rect">
            <a:avLst/>
          </a:prstGeom>
          <a:noFill/>
        </p:spPr>
        <p:txBody>
          <a:bodyPr wrap="square" lIns="0" rIns="0" tIns="0" bIns="0" anchor="t">
            <a:noAutofit/>
          </a:bodyPr>
          <a:lstStyle/>
          <a:p>
            <a:pPr algn="l">
              <a:lnSpc>
                <a:spcPts val="1839"/>
              </a:lnSpc>
              <a:spcBef>
                <a:spcPts val="0"/>
              </a:spcBef>
              <a:spcAft>
                <a:spcPts val="0"/>
              </a:spcAft>
              <a:buNone/>
            </a:pPr>
            <a:r>
              <a:rPr sz="1450" b="0">
                <a:solidFill>
                  <a:srgbClr val="D5DED3"/>
                </a:solidFill>
                <a:latin typeface="Plus Jakarta Sans"/>
              </a:rPr>
              <a:t>Choose notes to share and prepare a visit summary.</a:t>
            </a:r>
          </a:p>
        </p:txBody>
      </p:sp>
      <p:sp>
        <p:nvSpPr>
          <p:cNvPr id="18" name="Rounded Rectangle 17"/>
          <p:cNvSpPr/>
          <p:nvPr/>
        </p:nvSpPr>
        <p:spPr>
          <a:xfrm>
            <a:off x="731520" y="4544568"/>
            <a:ext cx="5166360" cy="1088136"/>
          </a:xfrm>
          <a:prstGeom prst="roundRect">
            <a:avLst>
              <a:gd name="adj" fmla="val 1680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690872"/>
            <a:ext cx="4754880" cy="36576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EDF1E8"/>
                </a:solidFill>
                <a:latin typeface="Plus Jakarta Sans"/>
              </a:rPr>
              <a:t>Health readings</a:t>
            </a:r>
          </a:p>
        </p:txBody>
      </p:sp>
      <p:sp>
        <p:nvSpPr>
          <p:cNvPr id="20" name="TextBox 19"/>
          <p:cNvSpPr txBox="1"/>
          <p:nvPr/>
        </p:nvSpPr>
        <p:spPr>
          <a:xfrm>
            <a:off x="932688" y="5129784"/>
            <a:ext cx="4754880" cy="420624"/>
          </a:xfrm>
          <a:prstGeom prst="rect">
            <a:avLst/>
          </a:prstGeom>
          <a:noFill/>
        </p:spPr>
        <p:txBody>
          <a:bodyPr wrap="square" lIns="0" rIns="0" tIns="0" bIns="0" anchor="t">
            <a:noAutofit/>
          </a:bodyPr>
          <a:lstStyle/>
          <a:p>
            <a:pPr algn="l">
              <a:lnSpc>
                <a:spcPts val="1679"/>
              </a:lnSpc>
              <a:spcBef>
                <a:spcPts val="0"/>
              </a:spcBef>
              <a:spcAft>
                <a:spcPts val="0"/>
              </a:spcAft>
              <a:buNone/>
            </a:pPr>
            <a:r>
              <a:rPr sz="1350" b="0">
                <a:solidFill>
                  <a:srgbClr val="D5DED3"/>
                </a:solidFill>
                <a:latin typeface="Plus Jakarta Sans"/>
              </a:rPr>
              <a:t>Readings from a monitor or records you enter yourself.</a:t>
            </a:r>
          </a:p>
        </p:txBody>
      </p:sp>
      <p:sp>
        <p:nvSpPr>
          <p:cNvPr id="21" name="Rounded Rectangle 20"/>
          <p:cNvSpPr/>
          <p:nvPr/>
        </p:nvSpPr>
        <p:spPr>
          <a:xfrm>
            <a:off x="6217920" y="4544568"/>
            <a:ext cx="5166360" cy="1088136"/>
          </a:xfrm>
          <a:prstGeom prst="roundRect">
            <a:avLst>
              <a:gd name="adj" fmla="val 1680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8" y="4690872"/>
            <a:ext cx="4754880" cy="36576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EDF1E8"/>
                </a:solidFill>
                <a:latin typeface="Plus Jakarta Sans"/>
              </a:rPr>
              <a:t>Make it your own</a:t>
            </a:r>
          </a:p>
        </p:txBody>
      </p:sp>
      <p:sp>
        <p:nvSpPr>
          <p:cNvPr id="23" name="TextBox 22"/>
          <p:cNvSpPr txBox="1"/>
          <p:nvPr/>
        </p:nvSpPr>
        <p:spPr>
          <a:xfrm>
            <a:off x="6419088" y="5129784"/>
            <a:ext cx="4754880" cy="420624"/>
          </a:xfrm>
          <a:prstGeom prst="rect">
            <a:avLst/>
          </a:prstGeom>
          <a:noFill/>
        </p:spPr>
        <p:txBody>
          <a:bodyPr wrap="square" lIns="0" rIns="0" tIns="0" bIns="0" anchor="t">
            <a:noAutofit/>
          </a:bodyPr>
          <a:lstStyle/>
          <a:p>
            <a:pPr algn="l">
              <a:lnSpc>
                <a:spcPts val="1679"/>
              </a:lnSpc>
              <a:spcBef>
                <a:spcPts val="0"/>
              </a:spcBef>
              <a:spcAft>
                <a:spcPts val="0"/>
              </a:spcAft>
              <a:buNone/>
            </a:pPr>
            <a:r>
              <a:rPr sz="1350" b="0">
                <a:solidFill>
                  <a:srgbClr val="D5DED3"/>
                </a:solidFill>
                <a:latin typeface="Plus Jakarta Sans"/>
              </a:rPr>
              <a:t>Simpler screens, language choices and comfort settings.</a:t>
            </a:r>
          </a:p>
        </p:txBody>
      </p:sp>
      <p:sp>
        <p:nvSpPr>
          <p:cNvPr id="24" name="TextBox 23"/>
          <p:cNvSpPr txBox="1"/>
          <p:nvPr/>
        </p:nvSpPr>
        <p:spPr>
          <a:xfrm>
            <a:off x="731520" y="5961888"/>
            <a:ext cx="10728655" cy="329184"/>
          </a:xfrm>
          <a:prstGeom prst="rect">
            <a:avLst/>
          </a:prstGeom>
          <a:noFill/>
        </p:spPr>
        <p:txBody>
          <a:bodyPr wrap="square" lIns="0" rIns="0" tIns="0" bIns="0" anchor="t">
            <a:noAutofit/>
          </a:bodyPr>
          <a:lstStyle/>
          <a:p>
            <a:pPr algn="l">
              <a:lnSpc>
                <a:spcPts val="1875"/>
              </a:lnSpc>
              <a:spcBef>
                <a:spcPts val="0"/>
              </a:spcBef>
              <a:spcAft>
                <a:spcPts val="0"/>
              </a:spcAft>
              <a:buNone/>
            </a:pPr>
            <a:r>
              <a:rPr sz="1500" b="0">
                <a:solidFill>
                  <a:srgbClr val="89AA91"/>
                </a:solidFill>
                <a:latin typeface="Plus Jakarta Sans"/>
              </a:rPr>
              <a:t>Also: emergency options · save a backup · decide what to share</a:t>
            </a:r>
          </a:p>
        </p:txBody>
      </p:sp>
      <p:sp>
        <p:nvSpPr>
          <p:cNvPr id="25" name="TextBox 24"/>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03</a:t>
            </a:r>
          </a:p>
        </p:txBody>
      </p:sp>
      <p:pic>
        <p:nvPicPr>
          <p:cNvPr id="26" name="Picture 25"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7" name="TextBox 26"/>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CORE FEATURE · ACTIVITIES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EDF1E8"/>
                </a:solidFill>
                <a:latin typeface="Plus Jakarta Sans ExtraBold"/>
              </a:rPr>
              <a:t>Activities. </a:t>
            </a:r>
            <a:r>
              <a:rPr sz="3800" b="0">
                <a:solidFill>
                  <a:srgbClr val="89AA91"/>
                </a:solidFill>
                <a:latin typeface="Plus Jakarta Sans ExtraBold"/>
              </a:rPr>
              <a:t>At your own pace.</a:t>
            </a:r>
          </a:p>
        </p:txBody>
      </p:sp>
      <p:sp>
        <p:nvSpPr>
          <p:cNvPr id="6" name="Rounded Rectangle 5"/>
          <p:cNvSpPr/>
          <p:nvPr/>
        </p:nvSpPr>
        <p:spPr>
          <a:xfrm>
            <a:off x="731520" y="2011680"/>
            <a:ext cx="2514600" cy="4023360"/>
          </a:xfrm>
          <a:prstGeom prst="roundRect">
            <a:avLst>
              <a:gd name="adj" fmla="val 7272"/>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148840"/>
            <a:ext cx="2240280" cy="411480"/>
          </a:xfrm>
          <a:prstGeom prst="rect">
            <a:avLst/>
          </a:prstGeom>
          <a:noFill/>
        </p:spPr>
        <p:txBody>
          <a:bodyPr wrap="square" lIns="0" rIns="0" tIns="0" bIns="0" anchor="t">
            <a:noAutofit/>
          </a:bodyPr>
          <a:lstStyle/>
          <a:p>
            <a:pPr algn="ctr">
              <a:lnSpc>
                <a:spcPts val="2500"/>
              </a:lnSpc>
              <a:spcBef>
                <a:spcPts val="0"/>
              </a:spcBef>
              <a:spcAft>
                <a:spcPts val="0"/>
              </a:spcAft>
              <a:buNone/>
            </a:pPr>
            <a:r>
              <a:rPr sz="2000" b="1">
                <a:solidFill>
                  <a:srgbClr val="EDF1E8"/>
                </a:solidFill>
                <a:latin typeface="Plus Jakarta Sans"/>
              </a:rPr>
              <a:t>Solitaire</a:t>
            </a:r>
          </a:p>
        </p:txBody>
      </p:sp>
      <p:pic>
        <p:nvPicPr>
          <p:cNvPr id="8" name="Picture 7" descr="solitaire.png"/>
          <p:cNvPicPr>
            <a:picLocks noChangeAspect="1"/>
          </p:cNvPicPr>
          <p:nvPr/>
        </p:nvPicPr>
        <p:blipFill>
          <a:blip r:embed="rId3"/>
          <a:stretch>
            <a:fillRect/>
          </a:stretch>
        </p:blipFill>
        <p:spPr>
          <a:xfrm>
            <a:off x="1232496" y="2606040"/>
            <a:ext cx="1512646" cy="2971800"/>
          </a:xfrm>
          <a:prstGeom prst="rect">
            <a:avLst/>
          </a:prstGeom>
        </p:spPr>
      </p:pic>
      <p:sp>
        <p:nvSpPr>
          <p:cNvPr id="9" name="TextBox 8"/>
          <p:cNvSpPr txBox="1"/>
          <p:nvPr/>
        </p:nvSpPr>
        <p:spPr>
          <a:xfrm>
            <a:off x="841248" y="5605272"/>
            <a:ext cx="2295144" cy="274320"/>
          </a:xfrm>
          <a:prstGeom prst="rect">
            <a:avLst/>
          </a:prstGeom>
          <a:noFill/>
        </p:spPr>
        <p:txBody>
          <a:bodyPr wrap="square" lIns="0" rIns="0" tIns="0" bIns="0" anchor="t">
            <a:noAutofit/>
          </a:bodyPr>
          <a:lstStyle/>
          <a:p>
            <a:pPr algn="ctr">
              <a:lnSpc>
                <a:spcPts val="1562"/>
              </a:lnSpc>
              <a:spcBef>
                <a:spcPts val="0"/>
              </a:spcBef>
              <a:spcAft>
                <a:spcPts val="0"/>
              </a:spcAft>
              <a:buNone/>
            </a:pPr>
            <a:r>
              <a:rPr sz="1250" b="0">
                <a:solidFill>
                  <a:srgbClr val="89AA91"/>
                </a:solidFill>
                <a:latin typeface="Plus Jakarta Sans"/>
              </a:rPr>
              <a:t>Draw · undo · no timer</a:t>
            </a:r>
          </a:p>
        </p:txBody>
      </p:sp>
      <p:sp>
        <p:nvSpPr>
          <p:cNvPr id="10" name="Rounded Rectangle 9"/>
          <p:cNvSpPr/>
          <p:nvPr/>
        </p:nvSpPr>
        <p:spPr>
          <a:xfrm>
            <a:off x="3474720" y="2011680"/>
            <a:ext cx="2514600" cy="4023360"/>
          </a:xfrm>
          <a:prstGeom prst="roundRect">
            <a:avLst>
              <a:gd name="adj" fmla="val 7272"/>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11879" y="2148840"/>
            <a:ext cx="2240280" cy="411480"/>
          </a:xfrm>
          <a:prstGeom prst="rect">
            <a:avLst/>
          </a:prstGeom>
          <a:noFill/>
        </p:spPr>
        <p:txBody>
          <a:bodyPr wrap="square" lIns="0" rIns="0" tIns="0" bIns="0" anchor="t">
            <a:noAutofit/>
          </a:bodyPr>
          <a:lstStyle/>
          <a:p>
            <a:pPr algn="ctr">
              <a:lnSpc>
                <a:spcPts val="2500"/>
              </a:lnSpc>
              <a:spcBef>
                <a:spcPts val="0"/>
              </a:spcBef>
              <a:spcAft>
                <a:spcPts val="0"/>
              </a:spcAft>
              <a:buNone/>
            </a:pPr>
            <a:r>
              <a:rPr sz="2000" b="1">
                <a:solidFill>
                  <a:srgbClr val="EDF1E8"/>
                </a:solidFill>
                <a:latin typeface="Plus Jakarta Sans"/>
              </a:rPr>
              <a:t>Word Search</a:t>
            </a:r>
          </a:p>
        </p:txBody>
      </p:sp>
      <p:pic>
        <p:nvPicPr>
          <p:cNvPr id="12" name="Picture 11" descr="word-search.png"/>
          <p:cNvPicPr>
            <a:picLocks noChangeAspect="1"/>
          </p:cNvPicPr>
          <p:nvPr/>
        </p:nvPicPr>
        <p:blipFill>
          <a:blip r:embed="rId4"/>
          <a:stretch>
            <a:fillRect/>
          </a:stretch>
        </p:blipFill>
        <p:spPr>
          <a:xfrm>
            <a:off x="3975696" y="2606040"/>
            <a:ext cx="1512646" cy="2971800"/>
          </a:xfrm>
          <a:prstGeom prst="rect">
            <a:avLst/>
          </a:prstGeom>
        </p:spPr>
      </p:pic>
      <p:sp>
        <p:nvSpPr>
          <p:cNvPr id="13" name="TextBox 12"/>
          <p:cNvSpPr txBox="1"/>
          <p:nvPr/>
        </p:nvSpPr>
        <p:spPr>
          <a:xfrm>
            <a:off x="3584448" y="5605272"/>
            <a:ext cx="2295144" cy="274320"/>
          </a:xfrm>
          <a:prstGeom prst="rect">
            <a:avLst/>
          </a:prstGeom>
          <a:noFill/>
        </p:spPr>
        <p:txBody>
          <a:bodyPr wrap="square" lIns="0" rIns="0" tIns="0" bIns="0" anchor="t">
            <a:noAutofit/>
          </a:bodyPr>
          <a:lstStyle/>
          <a:p>
            <a:pPr algn="ctr">
              <a:lnSpc>
                <a:spcPts val="1562"/>
              </a:lnSpc>
              <a:spcBef>
                <a:spcPts val="0"/>
              </a:spcBef>
              <a:spcAft>
                <a:spcPts val="0"/>
              </a:spcAft>
              <a:buNone/>
            </a:pPr>
            <a:r>
              <a:rPr sz="1250" b="0">
                <a:solidFill>
                  <a:srgbClr val="89AA91"/>
                </a:solidFill>
                <a:latin typeface="Plus Jakarta Sans"/>
              </a:rPr>
              <a:t>Themes · word selection</a:t>
            </a:r>
          </a:p>
        </p:txBody>
      </p:sp>
      <p:sp>
        <p:nvSpPr>
          <p:cNvPr id="14" name="Rounded Rectangle 13"/>
          <p:cNvSpPr/>
          <p:nvPr/>
        </p:nvSpPr>
        <p:spPr>
          <a:xfrm>
            <a:off x="6217920" y="2011680"/>
            <a:ext cx="2514600" cy="4023360"/>
          </a:xfrm>
          <a:prstGeom prst="roundRect">
            <a:avLst>
              <a:gd name="adj" fmla="val 7272"/>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55080" y="2148840"/>
            <a:ext cx="2240280" cy="411480"/>
          </a:xfrm>
          <a:prstGeom prst="rect">
            <a:avLst/>
          </a:prstGeom>
          <a:noFill/>
        </p:spPr>
        <p:txBody>
          <a:bodyPr wrap="square" lIns="0" rIns="0" tIns="0" bIns="0" anchor="t">
            <a:noAutofit/>
          </a:bodyPr>
          <a:lstStyle/>
          <a:p>
            <a:pPr algn="ctr">
              <a:lnSpc>
                <a:spcPts val="2500"/>
              </a:lnSpc>
              <a:spcBef>
                <a:spcPts val="0"/>
              </a:spcBef>
              <a:spcAft>
                <a:spcPts val="0"/>
              </a:spcAft>
              <a:buNone/>
            </a:pPr>
            <a:r>
              <a:rPr sz="2000" b="1">
                <a:solidFill>
                  <a:srgbClr val="EDF1E8"/>
                </a:solidFill>
                <a:latin typeface="Plus Jakarta Sans"/>
              </a:rPr>
              <a:t>Bingo</a:t>
            </a:r>
          </a:p>
        </p:txBody>
      </p:sp>
      <p:pic>
        <p:nvPicPr>
          <p:cNvPr id="16" name="Picture 15" descr="bingo.png"/>
          <p:cNvPicPr>
            <a:picLocks noChangeAspect="1"/>
          </p:cNvPicPr>
          <p:nvPr/>
        </p:nvPicPr>
        <p:blipFill>
          <a:blip r:embed="rId5"/>
          <a:stretch>
            <a:fillRect/>
          </a:stretch>
        </p:blipFill>
        <p:spPr>
          <a:xfrm>
            <a:off x="6718896" y="2606040"/>
            <a:ext cx="1512646" cy="2971800"/>
          </a:xfrm>
          <a:prstGeom prst="rect">
            <a:avLst/>
          </a:prstGeom>
        </p:spPr>
      </p:pic>
      <p:sp>
        <p:nvSpPr>
          <p:cNvPr id="17" name="TextBox 16"/>
          <p:cNvSpPr txBox="1"/>
          <p:nvPr/>
        </p:nvSpPr>
        <p:spPr>
          <a:xfrm>
            <a:off x="6327648" y="5605272"/>
            <a:ext cx="2295144" cy="274320"/>
          </a:xfrm>
          <a:prstGeom prst="rect">
            <a:avLst/>
          </a:prstGeom>
          <a:noFill/>
        </p:spPr>
        <p:txBody>
          <a:bodyPr wrap="square" lIns="0" rIns="0" tIns="0" bIns="0" anchor="t">
            <a:noAutofit/>
          </a:bodyPr>
          <a:lstStyle/>
          <a:p>
            <a:pPr algn="ctr">
              <a:lnSpc>
                <a:spcPts val="1562"/>
              </a:lnSpc>
              <a:spcBef>
                <a:spcPts val="0"/>
              </a:spcBef>
              <a:spcAft>
                <a:spcPts val="0"/>
              </a:spcAft>
              <a:buNone/>
            </a:pPr>
            <a:r>
              <a:rPr sz="1250" b="0">
                <a:solidFill>
                  <a:srgbClr val="89AA91"/>
                </a:solidFill>
                <a:latin typeface="Plus Jakarta Sans"/>
              </a:rPr>
              <a:t>Together on one device</a:t>
            </a:r>
          </a:p>
        </p:txBody>
      </p:sp>
      <p:sp>
        <p:nvSpPr>
          <p:cNvPr id="18" name="Rounded Rectangle 17"/>
          <p:cNvSpPr/>
          <p:nvPr/>
        </p:nvSpPr>
        <p:spPr>
          <a:xfrm>
            <a:off x="8961120" y="2011680"/>
            <a:ext cx="2514600" cy="4023360"/>
          </a:xfrm>
          <a:prstGeom prst="roundRect">
            <a:avLst>
              <a:gd name="adj" fmla="val 7272"/>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98280" y="2148840"/>
            <a:ext cx="2240280" cy="411480"/>
          </a:xfrm>
          <a:prstGeom prst="rect">
            <a:avLst/>
          </a:prstGeom>
          <a:noFill/>
        </p:spPr>
        <p:txBody>
          <a:bodyPr wrap="square" lIns="0" rIns="0" tIns="0" bIns="0" anchor="t">
            <a:noAutofit/>
          </a:bodyPr>
          <a:lstStyle/>
          <a:p>
            <a:pPr algn="ctr">
              <a:lnSpc>
                <a:spcPts val="2500"/>
              </a:lnSpc>
              <a:spcBef>
                <a:spcPts val="0"/>
              </a:spcBef>
              <a:spcAft>
                <a:spcPts val="0"/>
              </a:spcAft>
              <a:buNone/>
            </a:pPr>
            <a:r>
              <a:rPr sz="2000" b="1">
                <a:solidFill>
                  <a:srgbClr val="EDF1E8"/>
                </a:solidFill>
                <a:latin typeface="Plus Jakarta Sans"/>
              </a:rPr>
              <a:t>Picture Pairs</a:t>
            </a:r>
          </a:p>
        </p:txBody>
      </p:sp>
      <p:pic>
        <p:nvPicPr>
          <p:cNvPr id="20" name="Picture 19" descr="picture-pairs.png"/>
          <p:cNvPicPr>
            <a:picLocks noChangeAspect="1"/>
          </p:cNvPicPr>
          <p:nvPr/>
        </p:nvPicPr>
        <p:blipFill>
          <a:blip r:embed="rId6"/>
          <a:stretch>
            <a:fillRect/>
          </a:stretch>
        </p:blipFill>
        <p:spPr>
          <a:xfrm>
            <a:off x="9462096" y="2606040"/>
            <a:ext cx="1512646" cy="2971800"/>
          </a:xfrm>
          <a:prstGeom prst="rect">
            <a:avLst/>
          </a:prstGeom>
        </p:spPr>
      </p:pic>
      <p:sp>
        <p:nvSpPr>
          <p:cNvPr id="21" name="TextBox 20"/>
          <p:cNvSpPr txBox="1"/>
          <p:nvPr/>
        </p:nvSpPr>
        <p:spPr>
          <a:xfrm>
            <a:off x="9070848" y="5605272"/>
            <a:ext cx="2295144" cy="274320"/>
          </a:xfrm>
          <a:prstGeom prst="rect">
            <a:avLst/>
          </a:prstGeom>
          <a:noFill/>
        </p:spPr>
        <p:txBody>
          <a:bodyPr wrap="square" lIns="0" rIns="0" tIns="0" bIns="0" anchor="t">
            <a:noAutofit/>
          </a:bodyPr>
          <a:lstStyle/>
          <a:p>
            <a:pPr algn="ctr">
              <a:lnSpc>
                <a:spcPts val="1562"/>
              </a:lnSpc>
              <a:spcBef>
                <a:spcPts val="0"/>
              </a:spcBef>
              <a:spcAft>
                <a:spcPts val="0"/>
              </a:spcAft>
              <a:buNone/>
            </a:pPr>
            <a:r>
              <a:rPr sz="1250" b="0">
                <a:solidFill>
                  <a:srgbClr val="89AA91"/>
                </a:solidFill>
                <a:latin typeface="Plus Jakarta Sans"/>
              </a:rPr>
              <a:t>Reveal matching cards</a:t>
            </a:r>
          </a:p>
        </p:txBody>
      </p:sp>
      <p:sp>
        <p:nvSpPr>
          <p:cNvPr id="22" name="TextBox 21"/>
          <p:cNvSpPr txBox="1"/>
          <p:nvPr/>
        </p:nvSpPr>
        <p:spPr>
          <a:xfrm>
            <a:off x="731520" y="6126480"/>
            <a:ext cx="10728655" cy="228600"/>
          </a:xfrm>
          <a:prstGeom prst="rect">
            <a:avLst/>
          </a:prstGeom>
          <a:noFill/>
        </p:spPr>
        <p:txBody>
          <a:bodyPr wrap="square" lIns="0" rIns="0" tIns="0" bIns="0" anchor="t">
            <a:noAutofit/>
          </a:bodyPr>
          <a:lstStyle/>
          <a:p>
            <a:pPr algn="l">
              <a:lnSpc>
                <a:spcPts val="1750"/>
              </a:lnSpc>
              <a:spcBef>
                <a:spcPts val="0"/>
              </a:spcBef>
              <a:spcAft>
                <a:spcPts val="0"/>
              </a:spcAft>
              <a:buNone/>
            </a:pPr>
            <a:r>
              <a:rPr sz="1400" b="0">
                <a:solidFill>
                  <a:srgbClr val="89AA91"/>
                </a:solidFill>
                <a:latin typeface="Plus Jakarta Sans"/>
              </a:rPr>
              <a:t>Also: remembering patterns · picture stories · feelings · sorting · conversations · and more</a:t>
            </a:r>
          </a:p>
        </p:txBody>
      </p:sp>
      <p:sp>
        <p:nvSpPr>
          <p:cNvPr id="23" name="TextBox 22"/>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04</a:t>
            </a:r>
          </a:p>
        </p:txBody>
      </p:sp>
      <p:pic>
        <p:nvPicPr>
          <p:cNvPr id="24" name="Picture 23" descr="icon.png"/>
          <p:cNvPicPr>
            <a:picLocks noChangeAspect="1"/>
          </p:cNvPicPr>
          <p:nvPr/>
        </p:nvPicPr>
        <p:blipFill>
          <a:blip r:embed="rId7"/>
          <a:stretch>
            <a:fillRect/>
          </a:stretch>
        </p:blipFill>
        <p:spPr>
          <a:xfrm>
            <a:off x="731520" y="6382512"/>
            <a:ext cx="237744" cy="237744"/>
          </a:xfrm>
          <a:prstGeom prst="roundRect">
            <a:avLst>
              <a:gd name="adj" fmla="val 26923"/>
            </a:avLst>
          </a:prstGeom>
        </p:spPr>
      </p:pic>
      <p:sp>
        <p:nvSpPr>
          <p:cNvPr id="25" name="TextBox 24"/>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imag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RESEARCH AND DESIGN</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070"/>
              </a:lnSpc>
              <a:spcBef>
                <a:spcPts val="0"/>
              </a:spcBef>
              <a:spcAft>
                <a:spcPts val="0"/>
              </a:spcAft>
              <a:buNone/>
            </a:pPr>
            <a:r>
              <a:rPr sz="3700" b="0">
                <a:solidFill>
                  <a:srgbClr val="EDF1E8"/>
                </a:solidFill>
                <a:latin typeface="Plus Jakarta Sans ExtraBold"/>
              </a:rPr>
              <a:t>Research behind </a:t>
            </a:r>
            <a:r>
              <a:rPr sz="3700" b="0">
                <a:solidFill>
                  <a:srgbClr val="89AA91"/>
                </a:solidFill>
                <a:latin typeface="Plus Jakarta Sans ExtraBold"/>
              </a:rPr>
              <a:t>CareSphere.</a:t>
            </a:r>
          </a:p>
        </p:txBody>
      </p:sp>
      <p:sp>
        <p:nvSpPr>
          <p:cNvPr id="6" name="TextBox 5"/>
          <p:cNvSpPr txBox="1"/>
          <p:nvPr/>
        </p:nvSpPr>
        <p:spPr>
          <a:xfrm>
            <a:off x="731520" y="1847088"/>
            <a:ext cx="10728655" cy="274320"/>
          </a:xfrm>
          <a:prstGeom prst="rect">
            <a:avLst/>
          </a:prstGeom>
          <a:noFill/>
        </p:spPr>
        <p:txBody>
          <a:bodyPr wrap="square" lIns="0" rIns="0" tIns="0" bIns="0" anchor="t">
            <a:noAutofit/>
          </a:bodyPr>
          <a:lstStyle/>
          <a:p>
            <a:pPr algn="l">
              <a:lnSpc>
                <a:spcPts val="1875"/>
              </a:lnSpc>
              <a:spcBef>
                <a:spcPts val="0"/>
              </a:spcBef>
              <a:spcAft>
                <a:spcPts val="0"/>
              </a:spcAft>
              <a:buNone/>
            </a:pPr>
            <a:r>
              <a:rPr sz="1500" b="0">
                <a:solidFill>
                  <a:srgbClr val="D5DED3"/>
                </a:solidFill>
                <a:latin typeface="Plus Jakarta Sans"/>
              </a:rPr>
              <a:t>Research informs the design; CareSphere itself has not been clinically evaluated.</a:t>
            </a:r>
          </a:p>
        </p:txBody>
      </p:sp>
      <p:sp>
        <p:nvSpPr>
          <p:cNvPr id="7" name="TextBox 6"/>
          <p:cNvSpPr txBox="1"/>
          <p:nvPr/>
        </p:nvSpPr>
        <p:spPr>
          <a:xfrm>
            <a:off x="932688" y="2267712"/>
            <a:ext cx="1828800" cy="274320"/>
          </a:xfrm>
          <a:prstGeom prst="rect">
            <a:avLst/>
          </a:prstGeom>
          <a:noFill/>
        </p:spPr>
        <p:txBody>
          <a:bodyPr wrap="square" lIns="0" rIns="0" tIns="0" bIns="0" anchor="t">
            <a:noAutofit/>
          </a:bodyPr>
          <a:lstStyle/>
          <a:p>
            <a:pPr algn="l">
              <a:lnSpc>
                <a:spcPts val="1750"/>
              </a:lnSpc>
              <a:spcBef>
                <a:spcPts val="0"/>
              </a:spcBef>
              <a:spcAft>
                <a:spcPts val="0"/>
              </a:spcAft>
              <a:buNone/>
            </a:pPr>
            <a:r>
              <a:rPr sz="1400" b="1">
                <a:solidFill>
                  <a:srgbClr val="89AA91"/>
                </a:solidFill>
                <a:latin typeface="Plus Jakarta Sans"/>
              </a:rPr>
              <a:t>Population</a:t>
            </a:r>
          </a:p>
        </p:txBody>
      </p:sp>
      <p:sp>
        <p:nvSpPr>
          <p:cNvPr id="8" name="TextBox 7"/>
          <p:cNvSpPr txBox="1"/>
          <p:nvPr/>
        </p:nvSpPr>
        <p:spPr>
          <a:xfrm>
            <a:off x="3017520" y="2267712"/>
            <a:ext cx="4251960" cy="274320"/>
          </a:xfrm>
          <a:prstGeom prst="rect">
            <a:avLst/>
          </a:prstGeom>
          <a:noFill/>
        </p:spPr>
        <p:txBody>
          <a:bodyPr wrap="square" lIns="0" rIns="0" tIns="0" bIns="0" anchor="t">
            <a:noAutofit/>
          </a:bodyPr>
          <a:lstStyle/>
          <a:p>
            <a:pPr algn="l">
              <a:lnSpc>
                <a:spcPts val="1750"/>
              </a:lnSpc>
              <a:spcBef>
                <a:spcPts val="0"/>
              </a:spcBef>
              <a:spcAft>
                <a:spcPts val="0"/>
              </a:spcAft>
              <a:buNone/>
            </a:pPr>
            <a:r>
              <a:rPr sz="1400" b="1">
                <a:solidFill>
                  <a:srgbClr val="89AA91"/>
                </a:solidFill>
                <a:latin typeface="Plus Jakarta Sans"/>
              </a:rPr>
              <a:t>Research findings</a:t>
            </a:r>
          </a:p>
        </p:txBody>
      </p:sp>
      <p:sp>
        <p:nvSpPr>
          <p:cNvPr id="9" name="TextBox 8"/>
          <p:cNvSpPr txBox="1"/>
          <p:nvPr/>
        </p:nvSpPr>
        <p:spPr>
          <a:xfrm>
            <a:off x="7543800" y="2267712"/>
            <a:ext cx="3566160" cy="274320"/>
          </a:xfrm>
          <a:prstGeom prst="rect">
            <a:avLst/>
          </a:prstGeom>
          <a:noFill/>
        </p:spPr>
        <p:txBody>
          <a:bodyPr wrap="square" lIns="0" rIns="0" tIns="0" bIns="0" anchor="t">
            <a:noAutofit/>
          </a:bodyPr>
          <a:lstStyle/>
          <a:p>
            <a:pPr algn="l">
              <a:lnSpc>
                <a:spcPts val="1750"/>
              </a:lnSpc>
              <a:spcBef>
                <a:spcPts val="0"/>
              </a:spcBef>
              <a:spcAft>
                <a:spcPts val="0"/>
              </a:spcAft>
              <a:buNone/>
            </a:pPr>
            <a:r>
              <a:rPr sz="1400" b="1">
                <a:solidFill>
                  <a:srgbClr val="89AA91"/>
                </a:solidFill>
                <a:latin typeface="Plus Jakarta Sans"/>
              </a:rPr>
              <a:t>How CareSphere responds</a:t>
            </a:r>
          </a:p>
        </p:txBody>
      </p:sp>
      <p:sp>
        <p:nvSpPr>
          <p:cNvPr id="10" name="Rounded Rectangle 9"/>
          <p:cNvSpPr/>
          <p:nvPr/>
        </p:nvSpPr>
        <p:spPr>
          <a:xfrm>
            <a:off x="731520" y="2651760"/>
            <a:ext cx="10728655" cy="914400"/>
          </a:xfrm>
          <a:prstGeom prst="roundRect">
            <a:avLst>
              <a:gd name="adj" fmla="val 20000"/>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834640"/>
            <a:ext cx="1828800" cy="548640"/>
          </a:xfrm>
          <a:prstGeom prst="rect">
            <a:avLst/>
          </a:prstGeom>
          <a:noFill/>
        </p:spPr>
        <p:txBody>
          <a:bodyPr wrap="square" lIns="0" rIns="0" tIns="0" bIns="0" anchor="t">
            <a:noAutofit/>
          </a:bodyPr>
          <a:lstStyle/>
          <a:p>
            <a:pPr algn="l">
              <a:lnSpc>
                <a:spcPts val="1785"/>
              </a:lnSpc>
              <a:spcBef>
                <a:spcPts val="0"/>
              </a:spcBef>
              <a:spcAft>
                <a:spcPts val="0"/>
              </a:spcAft>
              <a:buNone/>
            </a:pPr>
            <a:r>
              <a:rPr sz="1700" b="1">
                <a:solidFill>
                  <a:srgbClr val="EDF1E8"/>
                </a:solidFill>
                <a:latin typeface="Plus Jakarta Sans"/>
              </a:rPr>
              <a:t>Dementia</a:t>
            </a:r>
          </a:p>
        </p:txBody>
      </p:sp>
      <p:sp>
        <p:nvSpPr>
          <p:cNvPr id="12" name="TextBox 11"/>
          <p:cNvSpPr txBox="1"/>
          <p:nvPr/>
        </p:nvSpPr>
        <p:spPr>
          <a:xfrm>
            <a:off x="3017520" y="2779776"/>
            <a:ext cx="4251960" cy="694944"/>
          </a:xfrm>
          <a:prstGeom prst="rect">
            <a:avLst/>
          </a:prstGeom>
          <a:noFill/>
        </p:spPr>
        <p:txBody>
          <a:bodyPr wrap="square" lIns="0" rIns="0" tIns="0" bIns="0" anchor="t">
            <a:noAutofit/>
          </a:bodyPr>
          <a:lstStyle/>
          <a:p>
            <a:pPr algn="l">
              <a:lnSpc>
                <a:spcPts val="1839"/>
              </a:lnSpc>
              <a:spcBef>
                <a:spcPts val="0"/>
              </a:spcBef>
              <a:spcAft>
                <a:spcPts val="0"/>
              </a:spcAft>
              <a:buNone/>
            </a:pPr>
            <a:r>
              <a:rPr sz="1600" b="0">
                <a:solidFill>
                  <a:srgbClr val="D5DED3"/>
                </a:solidFill>
                <a:latin typeface="Plus Jakarta Sans"/>
              </a:rPr>
              <a:t>Digital interventions may support cognition and well-being (Ditton et al., 2025).</a:t>
            </a:r>
          </a:p>
        </p:txBody>
      </p:sp>
      <p:sp>
        <p:nvSpPr>
          <p:cNvPr id="13" name="TextBox 12"/>
          <p:cNvSpPr txBox="1"/>
          <p:nvPr/>
        </p:nvSpPr>
        <p:spPr>
          <a:xfrm>
            <a:off x="7543800" y="2779776"/>
            <a:ext cx="3611880" cy="694944"/>
          </a:xfrm>
          <a:prstGeom prst="rect">
            <a:avLst/>
          </a:prstGeom>
          <a:noFill/>
        </p:spPr>
        <p:txBody>
          <a:bodyPr wrap="square" lIns="0" rIns="0" tIns="0" bIns="0" anchor="t">
            <a:noAutofit/>
          </a:bodyPr>
          <a:lstStyle/>
          <a:p>
            <a:pPr algn="l">
              <a:lnSpc>
                <a:spcPts val="1839"/>
              </a:lnSpc>
              <a:spcBef>
                <a:spcPts val="0"/>
              </a:spcBef>
              <a:spcAft>
                <a:spcPts val="0"/>
              </a:spcAft>
              <a:buNone/>
            </a:pPr>
            <a:r>
              <a:rPr sz="1600" b="0">
                <a:solidFill>
                  <a:srgbClr val="D5DED3"/>
                </a:solidFill>
                <a:latin typeface="Plus Jakarta Sans"/>
              </a:rPr>
              <a:t>Memory games, stories, routines and calming tools.</a:t>
            </a:r>
          </a:p>
        </p:txBody>
      </p:sp>
      <p:sp>
        <p:nvSpPr>
          <p:cNvPr id="14" name="Rounded Rectangle 13"/>
          <p:cNvSpPr/>
          <p:nvPr/>
        </p:nvSpPr>
        <p:spPr>
          <a:xfrm>
            <a:off x="731520" y="3675887"/>
            <a:ext cx="10728655" cy="914400"/>
          </a:xfrm>
          <a:prstGeom prst="roundRect">
            <a:avLst>
              <a:gd name="adj" fmla="val 20000"/>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58768"/>
            <a:ext cx="1828800" cy="548640"/>
          </a:xfrm>
          <a:prstGeom prst="rect">
            <a:avLst/>
          </a:prstGeom>
          <a:noFill/>
        </p:spPr>
        <p:txBody>
          <a:bodyPr wrap="square" lIns="0" rIns="0" tIns="0" bIns="0" anchor="t">
            <a:noAutofit/>
          </a:bodyPr>
          <a:lstStyle/>
          <a:p>
            <a:pPr algn="l">
              <a:lnSpc>
                <a:spcPts val="1785"/>
              </a:lnSpc>
              <a:spcBef>
                <a:spcPts val="0"/>
              </a:spcBef>
              <a:spcAft>
                <a:spcPts val="0"/>
              </a:spcAft>
              <a:buNone/>
            </a:pPr>
            <a:r>
              <a:rPr sz="1700" b="1">
                <a:solidFill>
                  <a:srgbClr val="EDF1E8"/>
                </a:solidFill>
                <a:latin typeface="Plus Jakarta Sans"/>
              </a:rPr>
              <a:t>Autism</a:t>
            </a:r>
          </a:p>
        </p:txBody>
      </p:sp>
      <p:sp>
        <p:nvSpPr>
          <p:cNvPr id="16" name="TextBox 15"/>
          <p:cNvSpPr txBox="1"/>
          <p:nvPr/>
        </p:nvSpPr>
        <p:spPr>
          <a:xfrm>
            <a:off x="3017520" y="3803903"/>
            <a:ext cx="4251960" cy="694944"/>
          </a:xfrm>
          <a:prstGeom prst="rect">
            <a:avLst/>
          </a:prstGeom>
          <a:noFill/>
        </p:spPr>
        <p:txBody>
          <a:bodyPr wrap="square" lIns="0" rIns="0" tIns="0" bIns="0" anchor="t">
            <a:noAutofit/>
          </a:bodyPr>
          <a:lstStyle/>
          <a:p>
            <a:pPr algn="l">
              <a:lnSpc>
                <a:spcPts val="1839"/>
              </a:lnSpc>
              <a:spcBef>
                <a:spcPts val="0"/>
              </a:spcBef>
              <a:spcAft>
                <a:spcPts val="0"/>
              </a:spcAft>
              <a:buNone/>
            </a:pPr>
            <a:r>
              <a:rPr sz="1600" b="0">
                <a:solidFill>
                  <a:srgbClr val="D5DED3"/>
                </a:solidFill>
                <a:latin typeface="Plus Jakarta Sans"/>
              </a:rPr>
              <a:t>Predictable structure and individual needs matter in technology design (Maun et al., 2024).</a:t>
            </a:r>
          </a:p>
        </p:txBody>
      </p:sp>
      <p:sp>
        <p:nvSpPr>
          <p:cNvPr id="17" name="TextBox 16"/>
          <p:cNvSpPr txBox="1"/>
          <p:nvPr/>
        </p:nvSpPr>
        <p:spPr>
          <a:xfrm>
            <a:off x="7543800" y="3803903"/>
            <a:ext cx="3611880" cy="694944"/>
          </a:xfrm>
          <a:prstGeom prst="rect">
            <a:avLst/>
          </a:prstGeom>
          <a:noFill/>
        </p:spPr>
        <p:txBody>
          <a:bodyPr wrap="square" lIns="0" rIns="0" tIns="0" bIns="0" anchor="t">
            <a:noAutofit/>
          </a:bodyPr>
          <a:lstStyle/>
          <a:p>
            <a:pPr algn="l">
              <a:lnSpc>
                <a:spcPts val="1839"/>
              </a:lnSpc>
              <a:spcBef>
                <a:spcPts val="0"/>
              </a:spcBef>
              <a:spcAft>
                <a:spcPts val="0"/>
              </a:spcAft>
              <a:buNone/>
            </a:pPr>
            <a:r>
              <a:rPr sz="1600" b="0">
                <a:solidFill>
                  <a:srgbClr val="D5DED3"/>
                </a:solidFill>
                <a:latin typeface="Plus Jakarta Sans"/>
              </a:rPr>
              <a:t>Consistent navigation, customizable settings and sensory tools.</a:t>
            </a:r>
          </a:p>
        </p:txBody>
      </p:sp>
      <p:sp>
        <p:nvSpPr>
          <p:cNvPr id="18" name="Rounded Rectangle 17"/>
          <p:cNvSpPr/>
          <p:nvPr/>
        </p:nvSpPr>
        <p:spPr>
          <a:xfrm>
            <a:off x="731520" y="4700016"/>
            <a:ext cx="10728655" cy="914400"/>
          </a:xfrm>
          <a:prstGeom prst="roundRect">
            <a:avLst>
              <a:gd name="adj" fmla="val 20000"/>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882896"/>
            <a:ext cx="1828800" cy="548640"/>
          </a:xfrm>
          <a:prstGeom prst="rect">
            <a:avLst/>
          </a:prstGeom>
          <a:noFill/>
        </p:spPr>
        <p:txBody>
          <a:bodyPr wrap="square" lIns="0" rIns="0" tIns="0" bIns="0" anchor="t">
            <a:noAutofit/>
          </a:bodyPr>
          <a:lstStyle/>
          <a:p>
            <a:pPr algn="l">
              <a:lnSpc>
                <a:spcPts val="1785"/>
              </a:lnSpc>
              <a:spcBef>
                <a:spcPts val="0"/>
              </a:spcBef>
              <a:spcAft>
                <a:spcPts val="0"/>
              </a:spcAft>
              <a:buNone/>
            </a:pPr>
            <a:r>
              <a:rPr sz="1700" b="1">
                <a:solidFill>
                  <a:srgbClr val="EDF1E8"/>
                </a:solidFill>
                <a:latin typeface="Plus Jakarta Sans"/>
              </a:rPr>
              <a:t>Older adults</a:t>
            </a:r>
          </a:p>
        </p:txBody>
      </p:sp>
      <p:sp>
        <p:nvSpPr>
          <p:cNvPr id="20" name="TextBox 19"/>
          <p:cNvSpPr txBox="1"/>
          <p:nvPr/>
        </p:nvSpPr>
        <p:spPr>
          <a:xfrm>
            <a:off x="3017520" y="4828032"/>
            <a:ext cx="4251960" cy="694944"/>
          </a:xfrm>
          <a:prstGeom prst="rect">
            <a:avLst/>
          </a:prstGeom>
          <a:noFill/>
        </p:spPr>
        <p:txBody>
          <a:bodyPr wrap="square" lIns="0" rIns="0" tIns="0" bIns="0" anchor="t">
            <a:noAutofit/>
          </a:bodyPr>
          <a:lstStyle/>
          <a:p>
            <a:pPr algn="l">
              <a:lnSpc>
                <a:spcPts val="1839"/>
              </a:lnSpc>
              <a:spcBef>
                <a:spcPts val="0"/>
              </a:spcBef>
              <a:spcAft>
                <a:spcPts val="0"/>
              </a:spcAft>
              <a:buNone/>
            </a:pPr>
            <a:r>
              <a:rPr sz="1600" b="0">
                <a:solidFill>
                  <a:srgbClr val="D5DED3"/>
                </a:solidFill>
                <a:latin typeface="Plus Jakarta Sans"/>
              </a:rPr>
              <a:t>Video calls may improve social support and reduce loneliness (Noh et al., 2025).</a:t>
            </a:r>
          </a:p>
        </p:txBody>
      </p:sp>
      <p:sp>
        <p:nvSpPr>
          <p:cNvPr id="21" name="TextBox 20"/>
          <p:cNvSpPr txBox="1"/>
          <p:nvPr/>
        </p:nvSpPr>
        <p:spPr>
          <a:xfrm>
            <a:off x="7543800" y="4828032"/>
            <a:ext cx="3611880" cy="694944"/>
          </a:xfrm>
          <a:prstGeom prst="rect">
            <a:avLst/>
          </a:prstGeom>
          <a:noFill/>
        </p:spPr>
        <p:txBody>
          <a:bodyPr wrap="square" lIns="0" rIns="0" tIns="0" bIns="0" anchor="t">
            <a:noAutofit/>
          </a:bodyPr>
          <a:lstStyle/>
          <a:p>
            <a:pPr algn="l">
              <a:lnSpc>
                <a:spcPts val="1839"/>
              </a:lnSpc>
              <a:spcBef>
                <a:spcPts val="0"/>
              </a:spcBef>
              <a:spcAft>
                <a:spcPts val="0"/>
              </a:spcAft>
              <a:buNone/>
            </a:pPr>
            <a:r>
              <a:rPr sz="1600" b="0">
                <a:solidFill>
                  <a:srgbClr val="D5DED3"/>
                </a:solidFill>
                <a:latin typeface="Plus Jakarta Sans"/>
              </a:rPr>
              <a:t>Opt-in Coffee Circles, video calls and daily reminders.</a:t>
            </a:r>
          </a:p>
        </p:txBody>
      </p:sp>
      <p:sp>
        <p:nvSpPr>
          <p:cNvPr id="22" name="TextBox 21"/>
          <p:cNvSpPr txBox="1"/>
          <p:nvPr/>
        </p:nvSpPr>
        <p:spPr>
          <a:xfrm>
            <a:off x="731520" y="5870448"/>
            <a:ext cx="10728655" cy="292608"/>
          </a:xfrm>
          <a:prstGeom prst="rect">
            <a:avLst/>
          </a:prstGeom>
          <a:noFill/>
        </p:spPr>
        <p:txBody>
          <a:bodyPr wrap="square" lIns="0" rIns="0" tIns="0" bIns="0" anchor="t">
            <a:noAutofit/>
          </a:bodyPr>
          <a:lstStyle/>
          <a:p>
            <a:pPr algn="l">
              <a:lnSpc>
                <a:spcPts val="2375"/>
              </a:lnSpc>
              <a:spcBef>
                <a:spcPts val="0"/>
              </a:spcBef>
              <a:spcAft>
                <a:spcPts val="0"/>
              </a:spcAft>
              <a:buNone/>
            </a:pPr>
            <a:r>
              <a:rPr sz="1900" b="0">
                <a:solidFill>
                  <a:srgbClr val="89AA91"/>
                </a:solidFill>
                <a:latin typeface="Plus Jakarta Sans Medium"/>
              </a:rPr>
              <a:t>Personalized support · Accessible experiences · Meaningful connection</a:t>
            </a:r>
          </a:p>
        </p:txBody>
      </p:sp>
      <p:sp>
        <p:nvSpPr>
          <p:cNvPr id="23" name="TextBox 22"/>
          <p:cNvSpPr txBox="1"/>
          <p:nvPr/>
        </p:nvSpPr>
        <p:spPr>
          <a:xfrm>
            <a:off x="731520" y="6190488"/>
            <a:ext cx="10728655" cy="164592"/>
          </a:xfrm>
          <a:prstGeom prst="rect">
            <a:avLst/>
          </a:prstGeom>
          <a:noFill/>
        </p:spPr>
        <p:txBody>
          <a:bodyPr wrap="square" lIns="0" rIns="0" tIns="0" bIns="0" anchor="t">
            <a:noAutofit/>
          </a:bodyPr>
          <a:lstStyle/>
          <a:p>
            <a:pPr algn="l">
              <a:lnSpc>
                <a:spcPts val="1187"/>
              </a:lnSpc>
              <a:spcBef>
                <a:spcPts val="0"/>
              </a:spcBef>
              <a:spcAft>
                <a:spcPts val="0"/>
              </a:spcAft>
              <a:buNone/>
            </a:pPr>
            <a:r>
              <a:rPr sz="950" b="0">
                <a:solidFill>
                  <a:srgbClr val="AEBEAF"/>
                </a:solidFill>
                <a:latin typeface="Plus Jakarta Sans"/>
              </a:rPr>
              <a:t>Sources: Ditton et al. (2025), Dementia; Maun et al. (2024), Journal of Autism and Developmental Disorders; Noh et al. (2025), Geriatric Nursing.</a:t>
            </a:r>
          </a:p>
        </p:txBody>
      </p:sp>
      <p:sp>
        <p:nvSpPr>
          <p:cNvPr id="24" name="TextBox 23"/>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05</a:t>
            </a:r>
          </a:p>
        </p:txBody>
      </p:sp>
      <p:pic>
        <p:nvPicPr>
          <p:cNvPr id="25" name="Picture 24" descr="image.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6" name="TextBox 25"/>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1266444"/>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1152144"/>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LIVE APP DEMONSTRATION</a:t>
            </a:r>
          </a:p>
        </p:txBody>
      </p:sp>
      <p:sp>
        <p:nvSpPr>
          <p:cNvPr id="5" name="TextBox 4"/>
          <p:cNvSpPr txBox="1"/>
          <p:nvPr/>
        </p:nvSpPr>
        <p:spPr>
          <a:xfrm>
            <a:off x="731520" y="1828800"/>
            <a:ext cx="9784080" cy="1463040"/>
          </a:xfrm>
          <a:prstGeom prst="rect">
            <a:avLst/>
          </a:prstGeom>
          <a:noFill/>
        </p:spPr>
        <p:txBody>
          <a:bodyPr wrap="square" lIns="0" rIns="0" tIns="0" bIns="0" anchor="t">
            <a:noAutofit/>
          </a:bodyPr>
          <a:lstStyle/>
          <a:p>
            <a:pPr algn="l">
              <a:lnSpc>
                <a:spcPts val="5500"/>
              </a:lnSpc>
              <a:spcBef>
                <a:spcPts val="0"/>
              </a:spcBef>
              <a:spcAft>
                <a:spcPts val="0"/>
              </a:spcAft>
              <a:buNone/>
            </a:pPr>
            <a:r>
              <a:rPr sz="5000" b="0">
                <a:solidFill>
                  <a:srgbClr val="EDF1E8"/>
                </a:solidFill>
                <a:latin typeface="Plus Jakarta Sans ExtraBold"/>
              </a:rPr>
              <a:t>Let me show you
</a:t>
            </a:r>
            <a:r>
              <a:rPr sz="5000" b="0">
                <a:solidFill>
                  <a:srgbClr val="89AA91"/>
                </a:solidFill>
                <a:latin typeface="Plus Jakarta Sans ExtraBold"/>
              </a:rPr>
              <a:t>CareSphere in action.</a:t>
            </a:r>
          </a:p>
        </p:txBody>
      </p:sp>
      <p:sp>
        <p:nvSpPr>
          <p:cNvPr id="6" name="TextBox 5"/>
          <p:cNvSpPr txBox="1"/>
          <p:nvPr/>
        </p:nvSpPr>
        <p:spPr>
          <a:xfrm>
            <a:off x="731520" y="3886200"/>
            <a:ext cx="10728655" cy="640080"/>
          </a:xfrm>
          <a:prstGeom prst="rect">
            <a:avLst/>
          </a:prstGeom>
          <a:noFill/>
        </p:spPr>
        <p:txBody>
          <a:bodyPr wrap="square" lIns="0" rIns="0" tIns="0" bIns="0" anchor="t">
            <a:noAutofit/>
          </a:bodyPr>
          <a:lstStyle/>
          <a:p>
            <a:pPr algn="l">
              <a:lnSpc>
                <a:spcPts val="3625"/>
              </a:lnSpc>
              <a:spcBef>
                <a:spcPts val="0"/>
              </a:spcBef>
              <a:spcAft>
                <a:spcPts val="0"/>
              </a:spcAft>
              <a:buNone/>
            </a:pPr>
            <a:r>
              <a:rPr sz="2900" b="0">
                <a:solidFill>
                  <a:srgbClr val="D5DED3"/>
                </a:solidFill>
                <a:latin typeface="Plus Jakarta Sans Medium"/>
              </a:rPr>
              <a:t>Choose what you need, in any order.</a:t>
            </a:r>
          </a:p>
        </p:txBody>
      </p:sp>
      <p:sp>
        <p:nvSpPr>
          <p:cNvPr id="7" name="Rounded Rectangle 6"/>
          <p:cNvSpPr/>
          <p:nvPr/>
        </p:nvSpPr>
        <p:spPr>
          <a:xfrm>
            <a:off x="731520" y="5166360"/>
            <a:ext cx="3157474" cy="329184"/>
          </a:xfrm>
          <a:prstGeom prst="roundRect">
            <a:avLst>
              <a:gd name="adj" fmla="val 50000"/>
            </a:avLst>
          </a:prstGeom>
          <a:solidFill>
            <a:srgbClr val="89AA91">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5166360"/>
            <a:ext cx="3157474" cy="329184"/>
          </a:xfrm>
          <a:prstGeom prst="rect">
            <a:avLst/>
          </a:prstGeom>
          <a:noFill/>
        </p:spPr>
        <p:txBody>
          <a:bodyPr wrap="square" lIns="0" rIns="0" tIns="0" bIns="0" anchor="ctr">
            <a:noAutofit/>
          </a:bodyPr>
          <a:lstStyle/>
          <a:p>
            <a:pPr algn="ctr">
              <a:lnSpc>
                <a:spcPts val="1625"/>
              </a:lnSpc>
              <a:spcBef>
                <a:spcPts val="0"/>
              </a:spcBef>
              <a:spcAft>
                <a:spcPts val="0"/>
              </a:spcAft>
              <a:buNone/>
            </a:pPr>
            <a:r>
              <a:rPr sz="1300" b="1" spc="100">
                <a:solidFill>
                  <a:srgbClr val="89AA91"/>
                </a:solidFill>
                <a:latin typeface="Plus Jakarta Sans"/>
              </a:rPr>
              <a:t>REAL APP · NO PRIVATE DATA</a:t>
            </a:r>
          </a:p>
        </p:txBody>
      </p:sp>
      <p:sp>
        <p:nvSpPr>
          <p:cNvPr id="9" name="TextBox 8"/>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06</a:t>
            </a:r>
          </a:p>
        </p:txBody>
      </p:sp>
      <p:pic>
        <p:nvPicPr>
          <p:cNvPr id="10" name="Picture 9"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11" name="TextBox 10"/>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50">
        <p:push dir="l"/>
      </p:transition>
    </mc:Choice>
    <mc:Fallback>
      <p:transition spd="med">
        <p:push dir="l"/>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TOOLS, LANGUAGES AND PRIVACY</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070"/>
              </a:lnSpc>
              <a:spcBef>
                <a:spcPts val="0"/>
              </a:spcBef>
              <a:spcAft>
                <a:spcPts val="0"/>
              </a:spcAft>
              <a:buNone/>
            </a:pPr>
            <a:r>
              <a:rPr sz="3700" b="0">
                <a:solidFill>
                  <a:srgbClr val="EDF1E8"/>
                </a:solidFill>
                <a:latin typeface="Plus Jakarta Sans ExtraBold"/>
              </a:rPr>
              <a:t>Three platforms. </a:t>
            </a:r>
            <a:r>
              <a:rPr sz="3700" b="0">
                <a:solidFill>
                  <a:srgbClr val="89AA91"/>
                </a:solidFill>
                <a:latin typeface="Plus Jakarta Sans ExtraBold"/>
              </a:rPr>
              <a:t>Local-first care.</a:t>
            </a:r>
          </a:p>
        </p:txBody>
      </p:sp>
      <p:sp>
        <p:nvSpPr>
          <p:cNvPr id="6" name="Rounded Rectangle 5"/>
          <p:cNvSpPr/>
          <p:nvPr/>
        </p:nvSpPr>
        <p:spPr>
          <a:xfrm>
            <a:off x="731520" y="2194560"/>
            <a:ext cx="3337560" cy="2423160"/>
          </a:xfrm>
          <a:prstGeom prst="roundRect">
            <a:avLst>
              <a:gd name="adj" fmla="val 7547"/>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0976" y="2468880"/>
            <a:ext cx="2898648" cy="411480"/>
          </a:xfrm>
          <a:prstGeom prst="rect">
            <a:avLst/>
          </a:prstGeom>
          <a:noFill/>
        </p:spPr>
        <p:txBody>
          <a:bodyPr wrap="square" lIns="0" rIns="0" tIns="0" bIns="0" anchor="t">
            <a:noAutofit/>
          </a:bodyPr>
          <a:lstStyle/>
          <a:p>
            <a:pPr algn="l">
              <a:lnSpc>
                <a:spcPts val="3000"/>
              </a:lnSpc>
              <a:spcBef>
                <a:spcPts val="0"/>
              </a:spcBef>
              <a:spcAft>
                <a:spcPts val="0"/>
              </a:spcAft>
              <a:buNone/>
            </a:pPr>
            <a:r>
              <a:rPr sz="2400" b="1">
                <a:solidFill>
                  <a:srgbClr val="EDF1E8"/>
                </a:solidFill>
                <a:latin typeface="Plus Jakarta Sans"/>
              </a:rPr>
              <a:t>Web</a:t>
            </a:r>
          </a:p>
        </p:txBody>
      </p:sp>
      <p:sp>
        <p:nvSpPr>
          <p:cNvPr id="8" name="TextBox 7"/>
          <p:cNvSpPr txBox="1"/>
          <p:nvPr/>
        </p:nvSpPr>
        <p:spPr>
          <a:xfrm>
            <a:off x="950976" y="3017520"/>
            <a:ext cx="2898648" cy="457200"/>
          </a:xfrm>
          <a:prstGeom prst="rect">
            <a:avLst/>
          </a:prstGeom>
          <a:noFill/>
        </p:spPr>
        <p:txBody>
          <a:bodyPr wrap="square" lIns="0" rIns="0" tIns="0" bIns="0" anchor="t">
            <a:noAutofit/>
          </a:bodyPr>
          <a:lstStyle/>
          <a:p>
            <a:pPr algn="l">
              <a:lnSpc>
                <a:spcPts val="3375"/>
              </a:lnSpc>
              <a:spcBef>
                <a:spcPts val="0"/>
              </a:spcBef>
              <a:spcAft>
                <a:spcPts val="0"/>
              </a:spcAft>
              <a:buNone/>
            </a:pPr>
            <a:r>
              <a:rPr sz="2700" b="1">
                <a:solidFill>
                  <a:srgbClr val="89AA91"/>
                </a:solidFill>
                <a:latin typeface="Plus Jakarta Sans"/>
              </a:rPr>
              <a:t>JavaScript</a:t>
            </a:r>
          </a:p>
        </p:txBody>
      </p:sp>
      <p:sp>
        <p:nvSpPr>
          <p:cNvPr id="9" name="TextBox 8"/>
          <p:cNvSpPr txBox="1"/>
          <p:nvPr/>
        </p:nvSpPr>
        <p:spPr>
          <a:xfrm>
            <a:off x="950976" y="3675887"/>
            <a:ext cx="2898648" cy="685800"/>
          </a:xfrm>
          <a:prstGeom prst="rect">
            <a:avLst/>
          </a:prstGeom>
          <a:noFill/>
        </p:spPr>
        <p:txBody>
          <a:bodyPr wrap="square" lIns="0" rIns="0" tIns="0" bIns="0" anchor="t">
            <a:noAutofit/>
          </a:bodyPr>
          <a:lstStyle/>
          <a:p>
            <a:pPr algn="l">
              <a:lnSpc>
                <a:spcPts val="2000"/>
              </a:lnSpc>
              <a:spcBef>
                <a:spcPts val="0"/>
              </a:spcBef>
              <a:spcAft>
                <a:spcPts val="0"/>
              </a:spcAft>
              <a:buNone/>
            </a:pPr>
            <a:r>
              <a:rPr sz="1600" b="0">
                <a:solidFill>
                  <a:srgbClr val="D5DED3"/>
                </a:solidFill>
                <a:latin typeface="Plus Jakarta Sans"/>
              </a:rPr>
              <a:t>React · Vite · Web Audio
Web Bluetooth · Web Crypto</a:t>
            </a:r>
          </a:p>
        </p:txBody>
      </p:sp>
      <p:sp>
        <p:nvSpPr>
          <p:cNvPr id="10" name="Rounded Rectangle 9"/>
          <p:cNvSpPr/>
          <p:nvPr/>
        </p:nvSpPr>
        <p:spPr>
          <a:xfrm>
            <a:off x="4389120" y="2194560"/>
            <a:ext cx="3337560" cy="2423160"/>
          </a:xfrm>
          <a:prstGeom prst="roundRect">
            <a:avLst>
              <a:gd name="adj" fmla="val 7547"/>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08576" y="2468880"/>
            <a:ext cx="2898648" cy="411480"/>
          </a:xfrm>
          <a:prstGeom prst="rect">
            <a:avLst/>
          </a:prstGeom>
          <a:noFill/>
        </p:spPr>
        <p:txBody>
          <a:bodyPr wrap="square" lIns="0" rIns="0" tIns="0" bIns="0" anchor="t">
            <a:noAutofit/>
          </a:bodyPr>
          <a:lstStyle/>
          <a:p>
            <a:pPr algn="l">
              <a:lnSpc>
                <a:spcPts val="3000"/>
              </a:lnSpc>
              <a:spcBef>
                <a:spcPts val="0"/>
              </a:spcBef>
              <a:spcAft>
                <a:spcPts val="0"/>
              </a:spcAft>
              <a:buNone/>
            </a:pPr>
            <a:r>
              <a:rPr sz="2400" b="1">
                <a:solidFill>
                  <a:srgbClr val="EDF1E8"/>
                </a:solidFill>
                <a:latin typeface="Plus Jakarta Sans"/>
              </a:rPr>
              <a:t>iPhone source</a:t>
            </a:r>
          </a:p>
        </p:txBody>
      </p:sp>
      <p:sp>
        <p:nvSpPr>
          <p:cNvPr id="12" name="TextBox 11"/>
          <p:cNvSpPr txBox="1"/>
          <p:nvPr/>
        </p:nvSpPr>
        <p:spPr>
          <a:xfrm>
            <a:off x="4608576" y="3017520"/>
            <a:ext cx="2898648" cy="457200"/>
          </a:xfrm>
          <a:prstGeom prst="rect">
            <a:avLst/>
          </a:prstGeom>
          <a:noFill/>
        </p:spPr>
        <p:txBody>
          <a:bodyPr wrap="square" lIns="0" rIns="0" tIns="0" bIns="0" anchor="t">
            <a:noAutofit/>
          </a:bodyPr>
          <a:lstStyle/>
          <a:p>
            <a:pPr algn="l">
              <a:lnSpc>
                <a:spcPts val="3375"/>
              </a:lnSpc>
              <a:spcBef>
                <a:spcPts val="0"/>
              </a:spcBef>
              <a:spcAft>
                <a:spcPts val="0"/>
              </a:spcAft>
              <a:buNone/>
            </a:pPr>
            <a:r>
              <a:rPr sz="2700" b="1">
                <a:solidFill>
                  <a:srgbClr val="89AA91"/>
                </a:solidFill>
                <a:latin typeface="Plus Jakarta Sans"/>
              </a:rPr>
              <a:t>Swift</a:t>
            </a:r>
          </a:p>
        </p:txBody>
      </p:sp>
      <p:sp>
        <p:nvSpPr>
          <p:cNvPr id="13" name="TextBox 12"/>
          <p:cNvSpPr txBox="1"/>
          <p:nvPr/>
        </p:nvSpPr>
        <p:spPr>
          <a:xfrm>
            <a:off x="4608576" y="3675887"/>
            <a:ext cx="2898648" cy="685800"/>
          </a:xfrm>
          <a:prstGeom prst="rect">
            <a:avLst/>
          </a:prstGeom>
          <a:noFill/>
        </p:spPr>
        <p:txBody>
          <a:bodyPr wrap="square" lIns="0" rIns="0" tIns="0" bIns="0" anchor="t">
            <a:noAutofit/>
          </a:bodyPr>
          <a:lstStyle/>
          <a:p>
            <a:pPr algn="l">
              <a:lnSpc>
                <a:spcPts val="2000"/>
              </a:lnSpc>
              <a:spcBef>
                <a:spcPts val="0"/>
              </a:spcBef>
              <a:spcAft>
                <a:spcPts val="0"/>
              </a:spcAft>
              <a:buNone/>
            </a:pPr>
            <a:r>
              <a:rPr sz="1600" b="0">
                <a:solidFill>
                  <a:srgbClr val="D5DED3"/>
                </a:solidFill>
                <a:latin typeface="Plus Jakarta Sans"/>
              </a:rPr>
              <a:t>SwiftUI · HealthKit
Optional Apple Foundation Models</a:t>
            </a:r>
          </a:p>
        </p:txBody>
      </p:sp>
      <p:sp>
        <p:nvSpPr>
          <p:cNvPr id="14" name="Rounded Rectangle 13"/>
          <p:cNvSpPr/>
          <p:nvPr/>
        </p:nvSpPr>
        <p:spPr>
          <a:xfrm>
            <a:off x="8046720" y="2194560"/>
            <a:ext cx="3337560" cy="2423160"/>
          </a:xfrm>
          <a:prstGeom prst="roundRect">
            <a:avLst>
              <a:gd name="adj" fmla="val 7547"/>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66176" y="2468880"/>
            <a:ext cx="2898648" cy="411480"/>
          </a:xfrm>
          <a:prstGeom prst="rect">
            <a:avLst/>
          </a:prstGeom>
          <a:noFill/>
        </p:spPr>
        <p:txBody>
          <a:bodyPr wrap="square" lIns="0" rIns="0" tIns="0" bIns="0" anchor="t">
            <a:noAutofit/>
          </a:bodyPr>
          <a:lstStyle/>
          <a:p>
            <a:pPr algn="l">
              <a:lnSpc>
                <a:spcPts val="3000"/>
              </a:lnSpc>
              <a:spcBef>
                <a:spcPts val="0"/>
              </a:spcBef>
              <a:spcAft>
                <a:spcPts val="0"/>
              </a:spcAft>
              <a:buNone/>
            </a:pPr>
            <a:r>
              <a:rPr sz="2400" b="1">
                <a:solidFill>
                  <a:srgbClr val="EDF1E8"/>
                </a:solidFill>
                <a:latin typeface="Plus Jakarta Sans"/>
              </a:rPr>
              <a:t>Android source</a:t>
            </a:r>
          </a:p>
        </p:txBody>
      </p:sp>
      <p:sp>
        <p:nvSpPr>
          <p:cNvPr id="16" name="TextBox 15"/>
          <p:cNvSpPr txBox="1"/>
          <p:nvPr/>
        </p:nvSpPr>
        <p:spPr>
          <a:xfrm>
            <a:off x="8266176" y="3017520"/>
            <a:ext cx="2898648" cy="457200"/>
          </a:xfrm>
          <a:prstGeom prst="rect">
            <a:avLst/>
          </a:prstGeom>
          <a:noFill/>
        </p:spPr>
        <p:txBody>
          <a:bodyPr wrap="square" lIns="0" rIns="0" tIns="0" bIns="0" anchor="t">
            <a:noAutofit/>
          </a:bodyPr>
          <a:lstStyle/>
          <a:p>
            <a:pPr algn="l">
              <a:lnSpc>
                <a:spcPts val="3375"/>
              </a:lnSpc>
              <a:spcBef>
                <a:spcPts val="0"/>
              </a:spcBef>
              <a:spcAft>
                <a:spcPts val="0"/>
              </a:spcAft>
              <a:buNone/>
            </a:pPr>
            <a:r>
              <a:rPr sz="2700" b="1">
                <a:solidFill>
                  <a:srgbClr val="89AA91"/>
                </a:solidFill>
                <a:latin typeface="Plus Jakarta Sans"/>
              </a:rPr>
              <a:t>Kotlin</a:t>
            </a:r>
          </a:p>
        </p:txBody>
      </p:sp>
      <p:sp>
        <p:nvSpPr>
          <p:cNvPr id="17" name="TextBox 16"/>
          <p:cNvSpPr txBox="1"/>
          <p:nvPr/>
        </p:nvSpPr>
        <p:spPr>
          <a:xfrm>
            <a:off x="8266176" y="3675887"/>
            <a:ext cx="2898648" cy="685800"/>
          </a:xfrm>
          <a:prstGeom prst="rect">
            <a:avLst/>
          </a:prstGeom>
          <a:noFill/>
        </p:spPr>
        <p:txBody>
          <a:bodyPr wrap="square" lIns="0" rIns="0" tIns="0" bIns="0" anchor="t">
            <a:noAutofit/>
          </a:bodyPr>
          <a:lstStyle/>
          <a:p>
            <a:pPr algn="l">
              <a:lnSpc>
                <a:spcPts val="2000"/>
              </a:lnSpc>
              <a:spcBef>
                <a:spcPts val="0"/>
              </a:spcBef>
              <a:spcAft>
                <a:spcPts val="0"/>
              </a:spcAft>
              <a:buNone/>
            </a:pPr>
            <a:r>
              <a:rPr sz="1600" b="0">
                <a:solidFill>
                  <a:srgbClr val="D5DED3"/>
                </a:solidFill>
                <a:latin typeface="Plus Jakarta Sans"/>
              </a:rPr>
              <a:t>Android UI · BLE
Read-only Health Connect</a:t>
            </a:r>
          </a:p>
        </p:txBody>
      </p:sp>
      <p:sp>
        <p:nvSpPr>
          <p:cNvPr id="18" name="TextBox 17"/>
          <p:cNvSpPr txBox="1"/>
          <p:nvPr/>
        </p:nvSpPr>
        <p:spPr>
          <a:xfrm>
            <a:off x="731520" y="5029200"/>
            <a:ext cx="10728655" cy="45720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EDF1E8"/>
                </a:solidFill>
                <a:latin typeface="Plus Jakarta Sans"/>
              </a:rPr>
              <a:t>Encrypted local care data. Reviewed, selected sharing.</a:t>
            </a:r>
          </a:p>
        </p:txBody>
      </p:sp>
      <p:sp>
        <p:nvSpPr>
          <p:cNvPr id="19" name="TextBox 18"/>
          <p:cNvSpPr txBox="1"/>
          <p:nvPr/>
        </p:nvSpPr>
        <p:spPr>
          <a:xfrm>
            <a:off x="731520" y="5623560"/>
            <a:ext cx="10728655" cy="502920"/>
          </a:xfrm>
          <a:prstGeom prst="rect">
            <a:avLst/>
          </a:prstGeom>
          <a:noFill/>
        </p:spPr>
        <p:txBody>
          <a:bodyPr wrap="square" lIns="0" rIns="0" tIns="0" bIns="0" anchor="t">
            <a:noAutofit/>
          </a:bodyPr>
          <a:lstStyle/>
          <a:p>
            <a:pPr algn="l">
              <a:lnSpc>
                <a:spcPts val="2125"/>
              </a:lnSpc>
              <a:spcBef>
                <a:spcPts val="0"/>
              </a:spcBef>
              <a:spcAft>
                <a:spcPts val="0"/>
              </a:spcAft>
              <a:buNone/>
            </a:pPr>
            <a:r>
              <a:rPr sz="1700" b="0">
                <a:solidFill>
                  <a:srgbClr val="AEBEAF"/>
                </a:solidFill>
                <a:latin typeface="Plus Jakarta Sans"/>
              </a:rPr>
              <a:t>Jitsi uses external services. New native activity builds and physical-device validation remain pending.</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07</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WHO THIS COULD SUPPORT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070"/>
              </a:lnSpc>
              <a:spcBef>
                <a:spcPts val="0"/>
              </a:spcBef>
              <a:spcAft>
                <a:spcPts val="0"/>
              </a:spcAft>
              <a:buNone/>
            </a:pPr>
            <a:r>
              <a:rPr sz="3700" b="0">
                <a:solidFill>
                  <a:srgbClr val="EDF1E8"/>
                </a:solidFill>
                <a:latin typeface="Plus Jakarta Sans ExtraBold"/>
              </a:rPr>
              <a:t>Different needs. </a:t>
            </a:r>
            <a:r>
              <a:rPr sz="3700" b="0">
                <a:solidFill>
                  <a:srgbClr val="89AA91"/>
                </a:solidFill>
                <a:latin typeface="Plus Jakarta Sans ExtraBold"/>
              </a:rPr>
              <a:t>Shared daily support.</a:t>
            </a:r>
          </a:p>
        </p:txBody>
      </p:sp>
      <p:sp>
        <p:nvSpPr>
          <p:cNvPr id="6" name="Rounded Rectangle 5"/>
          <p:cNvSpPr/>
          <p:nvPr/>
        </p:nvSpPr>
        <p:spPr>
          <a:xfrm>
            <a:off x="731520" y="2011680"/>
            <a:ext cx="5166360" cy="1828800"/>
          </a:xfrm>
          <a:prstGeom prst="roundRect">
            <a:avLst>
              <a:gd name="adj" fmla="val 10000"/>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50976" y="2121408"/>
            <a:ext cx="4727448" cy="640080"/>
          </a:xfrm>
          <a:prstGeom prst="rect">
            <a:avLst/>
          </a:prstGeom>
          <a:noFill/>
        </p:spPr>
        <p:txBody>
          <a:bodyPr wrap="square" lIns="0" rIns="0" tIns="0" bIns="0" anchor="t">
            <a:noAutofit/>
          </a:bodyPr>
          <a:lstStyle/>
          <a:p>
            <a:pPr algn="l">
              <a:lnSpc>
                <a:spcPts val="4620"/>
              </a:lnSpc>
              <a:spcBef>
                <a:spcPts val="0"/>
              </a:spcBef>
              <a:spcAft>
                <a:spcPts val="0"/>
              </a:spcAft>
              <a:buNone/>
            </a:pPr>
            <a:r>
              <a:rPr sz="4400" b="0">
                <a:solidFill>
                  <a:srgbClr val="89AA91"/>
                </a:solidFill>
                <a:latin typeface="Plus Jakarta Sans ExtraBold"/>
              </a:rPr>
              <a:t>61.2 million</a:t>
            </a:r>
          </a:p>
        </p:txBody>
      </p:sp>
      <p:sp>
        <p:nvSpPr>
          <p:cNvPr id="8" name="TextBox 7"/>
          <p:cNvSpPr txBox="1"/>
          <p:nvPr/>
        </p:nvSpPr>
        <p:spPr>
          <a:xfrm>
            <a:off x="950976" y="2834640"/>
            <a:ext cx="4727448" cy="320040"/>
          </a:xfrm>
          <a:prstGeom prst="rect">
            <a:avLst/>
          </a:prstGeom>
          <a:noFill/>
        </p:spPr>
        <p:txBody>
          <a:bodyPr wrap="square" lIns="0" rIns="0" tIns="0" bIns="0" anchor="t">
            <a:noAutofit/>
          </a:bodyPr>
          <a:lstStyle/>
          <a:p>
            <a:pPr algn="l">
              <a:lnSpc>
                <a:spcPts val="2520"/>
              </a:lnSpc>
              <a:spcBef>
                <a:spcPts val="0"/>
              </a:spcBef>
              <a:spcAft>
                <a:spcPts val="0"/>
              </a:spcAft>
              <a:buNone/>
            </a:pPr>
            <a:r>
              <a:rPr sz="2000" b="1">
                <a:solidFill>
                  <a:srgbClr val="EDF1E8"/>
                </a:solidFill>
                <a:latin typeface="Plus Jakarta Sans"/>
              </a:rPr>
              <a:t>Older adults</a:t>
            </a:r>
          </a:p>
        </p:txBody>
      </p:sp>
      <p:sp>
        <p:nvSpPr>
          <p:cNvPr id="9" name="TextBox 8"/>
          <p:cNvSpPr txBox="1"/>
          <p:nvPr/>
        </p:nvSpPr>
        <p:spPr>
          <a:xfrm>
            <a:off x="950976" y="3218688"/>
            <a:ext cx="4727448" cy="365760"/>
          </a:xfrm>
          <a:prstGeom prst="rect">
            <a:avLst/>
          </a:prstGeom>
          <a:noFill/>
        </p:spPr>
        <p:txBody>
          <a:bodyPr wrap="square" lIns="0" rIns="0" tIns="0" bIns="0" anchor="t">
            <a:noAutofit/>
          </a:bodyPr>
          <a:lstStyle/>
          <a:p>
            <a:pPr algn="l">
              <a:lnSpc>
                <a:spcPts val="1470"/>
              </a:lnSpc>
              <a:spcBef>
                <a:spcPts val="0"/>
              </a:spcBef>
              <a:spcAft>
                <a:spcPts val="0"/>
              </a:spcAft>
              <a:buNone/>
            </a:pPr>
            <a:r>
              <a:rPr sz="1400" b="0">
                <a:solidFill>
                  <a:srgbClr val="D5DED3"/>
                </a:solidFill>
                <a:latin typeface="Plus Jakarta Sans"/>
              </a:rPr>
              <a:t>Americans age 65+ · 2024</a:t>
            </a:r>
          </a:p>
        </p:txBody>
      </p:sp>
      <p:sp>
        <p:nvSpPr>
          <p:cNvPr id="10" name="TextBox 9"/>
          <p:cNvSpPr txBox="1"/>
          <p:nvPr/>
        </p:nvSpPr>
        <p:spPr>
          <a:xfrm>
            <a:off x="950976" y="3639312"/>
            <a:ext cx="4727448" cy="164592"/>
          </a:xfrm>
          <a:prstGeom prst="rect">
            <a:avLst/>
          </a:prstGeom>
          <a:noFill/>
        </p:spPr>
        <p:txBody>
          <a:bodyPr wrap="square" lIns="0" rIns="0" tIns="0" bIns="0" anchor="t">
            <a:noAutofit/>
          </a:bodyPr>
          <a:lstStyle/>
          <a:p>
            <a:pPr algn="l">
              <a:lnSpc>
                <a:spcPts val="1187"/>
              </a:lnSpc>
              <a:spcBef>
                <a:spcPts val="0"/>
              </a:spcBef>
              <a:spcAft>
                <a:spcPts val="0"/>
              </a:spcAft>
              <a:buNone/>
            </a:pPr>
            <a:r>
              <a:rPr sz="950" b="0">
                <a:solidFill>
                  <a:srgbClr val="AEBEAF"/>
                </a:solidFill>
                <a:latin typeface="Plus Jakarta Sans"/>
              </a:rPr>
              <a:t>[S1] U.S. Census Bureau · 2024 data</a:t>
            </a:r>
          </a:p>
        </p:txBody>
      </p:sp>
      <p:sp>
        <p:nvSpPr>
          <p:cNvPr id="11" name="Rounded Rectangle 10"/>
          <p:cNvSpPr/>
          <p:nvPr/>
        </p:nvSpPr>
        <p:spPr>
          <a:xfrm>
            <a:off x="6217920" y="2011680"/>
            <a:ext cx="5166360" cy="1828800"/>
          </a:xfrm>
          <a:prstGeom prst="roundRect">
            <a:avLst>
              <a:gd name="adj" fmla="val 10000"/>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37376" y="2121408"/>
            <a:ext cx="4727448" cy="640080"/>
          </a:xfrm>
          <a:prstGeom prst="rect">
            <a:avLst/>
          </a:prstGeom>
          <a:noFill/>
        </p:spPr>
        <p:txBody>
          <a:bodyPr wrap="square" lIns="0" rIns="0" tIns="0" bIns="0" anchor="t">
            <a:noAutofit/>
          </a:bodyPr>
          <a:lstStyle/>
          <a:p>
            <a:pPr algn="l">
              <a:lnSpc>
                <a:spcPts val="4620"/>
              </a:lnSpc>
              <a:spcBef>
                <a:spcPts val="0"/>
              </a:spcBef>
              <a:spcAft>
                <a:spcPts val="0"/>
              </a:spcAft>
              <a:buNone/>
            </a:pPr>
            <a:r>
              <a:rPr sz="4400" b="0">
                <a:solidFill>
                  <a:srgbClr val="89AA91"/>
                </a:solidFill>
                <a:latin typeface="Plus Jakarta Sans ExtraBold"/>
              </a:rPr>
              <a:t>7.4 million</a:t>
            </a:r>
          </a:p>
        </p:txBody>
      </p:sp>
      <p:sp>
        <p:nvSpPr>
          <p:cNvPr id="13" name="TextBox 12"/>
          <p:cNvSpPr txBox="1"/>
          <p:nvPr/>
        </p:nvSpPr>
        <p:spPr>
          <a:xfrm>
            <a:off x="6437376" y="2834640"/>
            <a:ext cx="4727448" cy="320040"/>
          </a:xfrm>
          <a:prstGeom prst="rect">
            <a:avLst/>
          </a:prstGeom>
          <a:noFill/>
        </p:spPr>
        <p:txBody>
          <a:bodyPr wrap="square" lIns="0" rIns="0" tIns="0" bIns="0" anchor="t">
            <a:noAutofit/>
          </a:bodyPr>
          <a:lstStyle/>
          <a:p>
            <a:pPr algn="l">
              <a:lnSpc>
                <a:spcPts val="2520"/>
              </a:lnSpc>
              <a:spcBef>
                <a:spcPts val="0"/>
              </a:spcBef>
              <a:spcAft>
                <a:spcPts val="0"/>
              </a:spcAft>
              <a:buNone/>
            </a:pPr>
            <a:r>
              <a:rPr sz="2000" b="1">
                <a:solidFill>
                  <a:srgbClr val="EDF1E8"/>
                </a:solidFill>
                <a:latin typeface="Plus Jakarta Sans"/>
              </a:rPr>
              <a:t>Alzheimer’s dementia</a:t>
            </a:r>
          </a:p>
        </p:txBody>
      </p:sp>
      <p:sp>
        <p:nvSpPr>
          <p:cNvPr id="14" name="TextBox 13"/>
          <p:cNvSpPr txBox="1"/>
          <p:nvPr/>
        </p:nvSpPr>
        <p:spPr>
          <a:xfrm>
            <a:off x="6437376" y="3218688"/>
            <a:ext cx="4727448" cy="365760"/>
          </a:xfrm>
          <a:prstGeom prst="rect">
            <a:avLst/>
          </a:prstGeom>
          <a:noFill/>
        </p:spPr>
        <p:txBody>
          <a:bodyPr wrap="square" lIns="0" rIns="0" tIns="0" bIns="0" anchor="t">
            <a:noAutofit/>
          </a:bodyPr>
          <a:lstStyle/>
          <a:p>
            <a:pPr algn="l">
              <a:lnSpc>
                <a:spcPts val="1470"/>
              </a:lnSpc>
              <a:spcBef>
                <a:spcPts val="0"/>
              </a:spcBef>
              <a:spcAft>
                <a:spcPts val="0"/>
              </a:spcAft>
              <a:buNone/>
            </a:pPr>
            <a:r>
              <a:rPr sz="1400" b="0">
                <a:solidFill>
                  <a:srgbClr val="D5DED3"/>
                </a:solidFill>
                <a:latin typeface="Plus Jakarta Sans"/>
              </a:rPr>
              <a:t>Americans age 65+ · 2026 estimate</a:t>
            </a:r>
          </a:p>
        </p:txBody>
      </p:sp>
      <p:sp>
        <p:nvSpPr>
          <p:cNvPr id="15" name="TextBox 14"/>
          <p:cNvSpPr txBox="1"/>
          <p:nvPr/>
        </p:nvSpPr>
        <p:spPr>
          <a:xfrm>
            <a:off x="6437376" y="3639312"/>
            <a:ext cx="4727448" cy="164592"/>
          </a:xfrm>
          <a:prstGeom prst="rect">
            <a:avLst/>
          </a:prstGeom>
          <a:noFill/>
        </p:spPr>
        <p:txBody>
          <a:bodyPr wrap="square" lIns="0" rIns="0" tIns="0" bIns="0" anchor="t">
            <a:noAutofit/>
          </a:bodyPr>
          <a:lstStyle/>
          <a:p>
            <a:pPr algn="l">
              <a:lnSpc>
                <a:spcPts val="1187"/>
              </a:lnSpc>
              <a:spcBef>
                <a:spcPts val="0"/>
              </a:spcBef>
              <a:spcAft>
                <a:spcPts val="0"/>
              </a:spcAft>
              <a:buNone/>
            </a:pPr>
            <a:r>
              <a:rPr sz="950" b="0">
                <a:solidFill>
                  <a:srgbClr val="AEBEAF"/>
                </a:solidFill>
                <a:latin typeface="Plus Jakarta Sans"/>
              </a:rPr>
              <a:t>[S2] Alzheimer’s Association · 2026</a:t>
            </a:r>
          </a:p>
        </p:txBody>
      </p:sp>
      <p:sp>
        <p:nvSpPr>
          <p:cNvPr id="16" name="Rounded Rectangle 15"/>
          <p:cNvSpPr/>
          <p:nvPr/>
        </p:nvSpPr>
        <p:spPr>
          <a:xfrm>
            <a:off x="731520" y="4041648"/>
            <a:ext cx="5166360" cy="1828800"/>
          </a:xfrm>
          <a:prstGeom prst="roundRect">
            <a:avLst>
              <a:gd name="adj" fmla="val 10000"/>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151376"/>
            <a:ext cx="4727448" cy="640080"/>
          </a:xfrm>
          <a:prstGeom prst="rect">
            <a:avLst/>
          </a:prstGeom>
          <a:noFill/>
        </p:spPr>
        <p:txBody>
          <a:bodyPr wrap="square" lIns="0" rIns="0" tIns="0" bIns="0" anchor="t">
            <a:noAutofit/>
          </a:bodyPr>
          <a:lstStyle/>
          <a:p>
            <a:pPr algn="l">
              <a:lnSpc>
                <a:spcPts val="4620"/>
              </a:lnSpc>
              <a:spcBef>
                <a:spcPts val="0"/>
              </a:spcBef>
              <a:spcAft>
                <a:spcPts val="0"/>
              </a:spcAft>
              <a:buNone/>
            </a:pPr>
            <a:r>
              <a:rPr sz="4400" b="0">
                <a:solidFill>
                  <a:srgbClr val="89AA91"/>
                </a:solidFill>
                <a:latin typeface="Plus Jakarta Sans ExtraBold"/>
              </a:rPr>
              <a:t>63 million</a:t>
            </a:r>
          </a:p>
        </p:txBody>
      </p:sp>
      <p:sp>
        <p:nvSpPr>
          <p:cNvPr id="18" name="TextBox 17"/>
          <p:cNvSpPr txBox="1"/>
          <p:nvPr/>
        </p:nvSpPr>
        <p:spPr>
          <a:xfrm>
            <a:off x="950976" y="4864608"/>
            <a:ext cx="4727448" cy="320040"/>
          </a:xfrm>
          <a:prstGeom prst="rect">
            <a:avLst/>
          </a:prstGeom>
          <a:noFill/>
        </p:spPr>
        <p:txBody>
          <a:bodyPr wrap="square" lIns="0" rIns="0" tIns="0" bIns="0" anchor="t">
            <a:noAutofit/>
          </a:bodyPr>
          <a:lstStyle/>
          <a:p>
            <a:pPr algn="l">
              <a:lnSpc>
                <a:spcPts val="2520"/>
              </a:lnSpc>
              <a:spcBef>
                <a:spcPts val="0"/>
              </a:spcBef>
              <a:spcAft>
                <a:spcPts val="0"/>
              </a:spcAft>
              <a:buNone/>
            </a:pPr>
            <a:r>
              <a:rPr sz="2000" b="1">
                <a:solidFill>
                  <a:srgbClr val="EDF1E8"/>
                </a:solidFill>
                <a:latin typeface="Plus Jakarta Sans"/>
              </a:rPr>
              <a:t>Family caregivers</a:t>
            </a:r>
          </a:p>
        </p:txBody>
      </p:sp>
      <p:sp>
        <p:nvSpPr>
          <p:cNvPr id="19" name="TextBox 18"/>
          <p:cNvSpPr txBox="1"/>
          <p:nvPr/>
        </p:nvSpPr>
        <p:spPr>
          <a:xfrm>
            <a:off x="950976" y="5248656"/>
            <a:ext cx="4727448" cy="365760"/>
          </a:xfrm>
          <a:prstGeom prst="rect">
            <a:avLst/>
          </a:prstGeom>
          <a:noFill/>
        </p:spPr>
        <p:txBody>
          <a:bodyPr wrap="square" lIns="0" rIns="0" tIns="0" bIns="0" anchor="t">
            <a:noAutofit/>
          </a:bodyPr>
          <a:lstStyle/>
          <a:p>
            <a:pPr algn="l">
              <a:lnSpc>
                <a:spcPts val="1470"/>
              </a:lnSpc>
              <a:spcBef>
                <a:spcPts val="0"/>
              </a:spcBef>
              <a:spcAft>
                <a:spcPts val="0"/>
              </a:spcAft>
              <a:buNone/>
            </a:pPr>
            <a:r>
              <a:rPr sz="1400" b="0">
                <a:solidFill>
                  <a:srgbClr val="D5DED3"/>
                </a:solidFill>
                <a:latin typeface="Plus Jakarta Sans"/>
              </a:rPr>
              <a:t>U.S. family caregivers · 2025</a:t>
            </a:r>
          </a:p>
        </p:txBody>
      </p:sp>
      <p:sp>
        <p:nvSpPr>
          <p:cNvPr id="20" name="TextBox 19"/>
          <p:cNvSpPr txBox="1"/>
          <p:nvPr/>
        </p:nvSpPr>
        <p:spPr>
          <a:xfrm>
            <a:off x="950976" y="5669280"/>
            <a:ext cx="4727448" cy="164592"/>
          </a:xfrm>
          <a:prstGeom prst="rect">
            <a:avLst/>
          </a:prstGeom>
          <a:noFill/>
        </p:spPr>
        <p:txBody>
          <a:bodyPr wrap="square" lIns="0" rIns="0" tIns="0" bIns="0" anchor="t">
            <a:noAutofit/>
          </a:bodyPr>
          <a:lstStyle/>
          <a:p>
            <a:pPr algn="l">
              <a:lnSpc>
                <a:spcPts val="1187"/>
              </a:lnSpc>
              <a:spcBef>
                <a:spcPts val="0"/>
              </a:spcBef>
              <a:spcAft>
                <a:spcPts val="0"/>
              </a:spcAft>
              <a:buNone/>
            </a:pPr>
            <a:r>
              <a:rPr sz="950" b="0">
                <a:solidFill>
                  <a:srgbClr val="AEBEAF"/>
                </a:solidFill>
                <a:latin typeface="Plus Jakarta Sans"/>
              </a:rPr>
              <a:t>[S3] AARP / National Alliance for Caregiving · 2025</a:t>
            </a:r>
          </a:p>
        </p:txBody>
      </p:sp>
      <p:sp>
        <p:nvSpPr>
          <p:cNvPr id="21" name="Rounded Rectangle 20"/>
          <p:cNvSpPr/>
          <p:nvPr/>
        </p:nvSpPr>
        <p:spPr>
          <a:xfrm>
            <a:off x="6217920" y="4041648"/>
            <a:ext cx="5166360" cy="1828800"/>
          </a:xfrm>
          <a:prstGeom prst="roundRect">
            <a:avLst>
              <a:gd name="adj" fmla="val 10000"/>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7376" y="4151376"/>
            <a:ext cx="4727448" cy="640080"/>
          </a:xfrm>
          <a:prstGeom prst="rect">
            <a:avLst/>
          </a:prstGeom>
          <a:noFill/>
        </p:spPr>
        <p:txBody>
          <a:bodyPr wrap="square" lIns="0" rIns="0" tIns="0" bIns="0" anchor="t">
            <a:noAutofit/>
          </a:bodyPr>
          <a:lstStyle/>
          <a:p>
            <a:pPr algn="l">
              <a:lnSpc>
                <a:spcPts val="4620"/>
              </a:lnSpc>
              <a:spcBef>
                <a:spcPts val="0"/>
              </a:spcBef>
              <a:spcAft>
                <a:spcPts val="0"/>
              </a:spcAft>
              <a:buNone/>
            </a:pPr>
            <a:r>
              <a:rPr sz="4400" b="0">
                <a:solidFill>
                  <a:srgbClr val="89AA91"/>
                </a:solidFill>
                <a:latin typeface="Plus Jakarta Sans ExtraBold"/>
              </a:rPr>
              <a:t>1 in 31</a:t>
            </a:r>
          </a:p>
        </p:txBody>
      </p:sp>
      <p:sp>
        <p:nvSpPr>
          <p:cNvPr id="23" name="TextBox 22"/>
          <p:cNvSpPr txBox="1"/>
          <p:nvPr/>
        </p:nvSpPr>
        <p:spPr>
          <a:xfrm>
            <a:off x="6437376" y="4864608"/>
            <a:ext cx="4727448" cy="320040"/>
          </a:xfrm>
          <a:prstGeom prst="rect">
            <a:avLst/>
          </a:prstGeom>
          <a:noFill/>
        </p:spPr>
        <p:txBody>
          <a:bodyPr wrap="square" lIns="0" rIns="0" tIns="0" bIns="0" anchor="t">
            <a:noAutofit/>
          </a:bodyPr>
          <a:lstStyle/>
          <a:p>
            <a:pPr algn="l">
              <a:lnSpc>
                <a:spcPts val="2520"/>
              </a:lnSpc>
              <a:spcBef>
                <a:spcPts val="0"/>
              </a:spcBef>
              <a:spcAft>
                <a:spcPts val="0"/>
              </a:spcAft>
              <a:buNone/>
            </a:pPr>
            <a:r>
              <a:rPr sz="2000" b="1">
                <a:solidFill>
                  <a:srgbClr val="EDF1E8"/>
                </a:solidFill>
                <a:latin typeface="Plus Jakarta Sans"/>
              </a:rPr>
              <a:t>Autism identification</a:t>
            </a:r>
          </a:p>
        </p:txBody>
      </p:sp>
      <p:sp>
        <p:nvSpPr>
          <p:cNvPr id="24" name="TextBox 23"/>
          <p:cNvSpPr txBox="1"/>
          <p:nvPr/>
        </p:nvSpPr>
        <p:spPr>
          <a:xfrm>
            <a:off x="6437376" y="5248656"/>
            <a:ext cx="4727448" cy="365760"/>
          </a:xfrm>
          <a:prstGeom prst="rect">
            <a:avLst/>
          </a:prstGeom>
          <a:noFill/>
        </p:spPr>
        <p:txBody>
          <a:bodyPr wrap="square" lIns="0" rIns="0" tIns="0" bIns="0" anchor="t">
            <a:noAutofit/>
          </a:bodyPr>
          <a:lstStyle/>
          <a:p>
            <a:pPr algn="l">
              <a:lnSpc>
                <a:spcPts val="1470"/>
              </a:lnSpc>
              <a:spcBef>
                <a:spcPts val="0"/>
              </a:spcBef>
              <a:spcAft>
                <a:spcPts val="0"/>
              </a:spcAft>
              <a:buNone/>
            </a:pPr>
            <a:r>
              <a:rPr sz="1400" b="0">
                <a:solidFill>
                  <a:srgbClr val="D5DED3"/>
                </a:solidFill>
                <a:latin typeface="Plus Jakarta Sans"/>
              </a:rPr>
              <a:t>8-year-olds in CDC monitoring communities · 2022</a:t>
            </a:r>
          </a:p>
        </p:txBody>
      </p:sp>
      <p:sp>
        <p:nvSpPr>
          <p:cNvPr id="25" name="TextBox 24"/>
          <p:cNvSpPr txBox="1"/>
          <p:nvPr/>
        </p:nvSpPr>
        <p:spPr>
          <a:xfrm>
            <a:off x="6437376" y="5669280"/>
            <a:ext cx="4727448" cy="164592"/>
          </a:xfrm>
          <a:prstGeom prst="rect">
            <a:avLst/>
          </a:prstGeom>
          <a:noFill/>
        </p:spPr>
        <p:txBody>
          <a:bodyPr wrap="square" lIns="0" rIns="0" tIns="0" bIns="0" anchor="t">
            <a:noAutofit/>
          </a:bodyPr>
          <a:lstStyle/>
          <a:p>
            <a:pPr algn="l">
              <a:lnSpc>
                <a:spcPts val="1187"/>
              </a:lnSpc>
              <a:spcBef>
                <a:spcPts val="0"/>
              </a:spcBef>
              <a:spcAft>
                <a:spcPts val="0"/>
              </a:spcAft>
              <a:buNone/>
            </a:pPr>
            <a:r>
              <a:rPr sz="950" b="0">
                <a:solidFill>
                  <a:srgbClr val="AEBEAF"/>
                </a:solidFill>
                <a:latin typeface="Plus Jakarta Sans"/>
              </a:rPr>
              <a:t>[S4] Centers for Disease Control and Prevention · 2022 data</a:t>
            </a:r>
          </a:p>
        </p:txBody>
      </p:sp>
      <p:sp>
        <p:nvSpPr>
          <p:cNvPr id="26" name="TextBox 25"/>
          <p:cNvSpPr txBox="1"/>
          <p:nvPr/>
        </p:nvSpPr>
        <p:spPr>
          <a:xfrm>
            <a:off x="731520" y="6108192"/>
            <a:ext cx="10728655" cy="210312"/>
          </a:xfrm>
          <a:prstGeom prst="rect">
            <a:avLst/>
          </a:prstGeom>
          <a:noFill/>
        </p:spPr>
        <p:txBody>
          <a:bodyPr wrap="square" lIns="0" rIns="0" tIns="0" bIns="0" anchor="t">
            <a:noAutofit/>
          </a:bodyPr>
          <a:lstStyle/>
          <a:p>
            <a:pPr algn="l">
              <a:lnSpc>
                <a:spcPts val="1500"/>
              </a:lnSpc>
              <a:spcBef>
                <a:spcPts val="0"/>
              </a:spcBef>
              <a:spcAft>
                <a:spcPts val="0"/>
              </a:spcAft>
              <a:buNone/>
            </a:pPr>
            <a:r>
              <a:rPr sz="1200" b="0">
                <a:solidFill>
                  <a:srgbClr val="D5DED3"/>
                </a:solidFill>
                <a:latin typeface="Plus Jakarta Sans"/>
              </a:rPr>
              <a:t>Different years and populations. These figures overlap; they are not app-user counts.</a:t>
            </a:r>
          </a:p>
        </p:txBody>
      </p:sp>
      <p:sp>
        <p:nvSpPr>
          <p:cNvPr id="27" name="TextBox 26"/>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08</a:t>
            </a:r>
          </a:p>
        </p:txBody>
      </p:sp>
      <p:pic>
        <p:nvPicPr>
          <p:cNvPr id="28" name="Picture 27"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9" name="TextBox 28"/>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HUMAN CONNECTION</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EDF1E8"/>
                </a:solidFill>
                <a:latin typeface="Plus Jakarta Sans ExtraBold"/>
              </a:rPr>
              <a:t>Reach someone. </a:t>
            </a:r>
            <a:r>
              <a:rPr sz="3800" b="0">
                <a:solidFill>
                  <a:srgbClr val="89AA91"/>
                </a:solidFill>
                <a:latin typeface="Plus Jakarta Sans ExtraBold"/>
              </a:rPr>
              <a:t>Keep control.</a:t>
            </a:r>
          </a:p>
        </p:txBody>
      </p:sp>
      <p:sp>
        <p:nvSpPr>
          <p:cNvPr id="6" name="TextBox 5"/>
          <p:cNvSpPr txBox="1"/>
          <p:nvPr/>
        </p:nvSpPr>
        <p:spPr>
          <a:xfrm>
            <a:off x="731520" y="2286000"/>
            <a:ext cx="585216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89AA91"/>
                </a:solidFill>
                <a:latin typeface="Plus Jakarta Sans"/>
              </a:rPr>
              <a:t>Coffee Circles</a:t>
            </a:r>
          </a:p>
        </p:txBody>
      </p:sp>
      <p:sp>
        <p:nvSpPr>
          <p:cNvPr id="7" name="TextBox 6"/>
          <p:cNvSpPr txBox="1"/>
          <p:nvPr/>
        </p:nvSpPr>
        <p:spPr>
          <a:xfrm>
            <a:off x="731520" y="2770632"/>
            <a:ext cx="5715000" cy="548640"/>
          </a:xfrm>
          <a:prstGeom prst="rect">
            <a:avLst/>
          </a:prstGeom>
          <a:noFill/>
        </p:spPr>
        <p:txBody>
          <a:bodyPr wrap="square" lIns="0" rIns="0" tIns="0" bIns="0" anchor="t">
            <a:noAutofit/>
          </a:bodyPr>
          <a:lstStyle/>
          <a:p>
            <a:pPr algn="l">
              <a:lnSpc>
                <a:spcPts val="2279"/>
              </a:lnSpc>
              <a:spcBef>
                <a:spcPts val="0"/>
              </a:spcBef>
              <a:spcAft>
                <a:spcPts val="0"/>
              </a:spcAft>
              <a:buNone/>
            </a:pPr>
            <a:r>
              <a:rPr sz="1800" b="0">
                <a:solidFill>
                  <a:srgbClr val="D5DED3"/>
                </a:solidFill>
                <a:latin typeface="Plus Jakarta Sans"/>
              </a:rPr>
              <a:t>Choose a video room and join when you are ready.</a:t>
            </a:r>
          </a:p>
        </p:txBody>
      </p:sp>
      <p:sp>
        <p:nvSpPr>
          <p:cNvPr id="8" name="TextBox 7"/>
          <p:cNvSpPr txBox="1"/>
          <p:nvPr/>
        </p:nvSpPr>
        <p:spPr>
          <a:xfrm>
            <a:off x="731520" y="3429000"/>
            <a:ext cx="585216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89AA91"/>
                </a:solidFill>
                <a:latin typeface="Plus Jakarta Sans"/>
              </a:rPr>
              <a:t>Care Circle</a:t>
            </a:r>
          </a:p>
        </p:txBody>
      </p:sp>
      <p:sp>
        <p:nvSpPr>
          <p:cNvPr id="9" name="TextBox 8"/>
          <p:cNvSpPr txBox="1"/>
          <p:nvPr/>
        </p:nvSpPr>
        <p:spPr>
          <a:xfrm>
            <a:off x="731520" y="3913632"/>
            <a:ext cx="5715000" cy="548640"/>
          </a:xfrm>
          <a:prstGeom prst="rect">
            <a:avLst/>
          </a:prstGeom>
          <a:noFill/>
        </p:spPr>
        <p:txBody>
          <a:bodyPr wrap="square" lIns="0" rIns="0" tIns="0" bIns="0" anchor="t">
            <a:noAutofit/>
          </a:bodyPr>
          <a:lstStyle/>
          <a:p>
            <a:pPr algn="l">
              <a:lnSpc>
                <a:spcPts val="2184"/>
              </a:lnSpc>
              <a:spcBef>
                <a:spcPts val="0"/>
              </a:spcBef>
              <a:spcAft>
                <a:spcPts val="0"/>
              </a:spcAft>
              <a:buNone/>
            </a:pPr>
            <a:r>
              <a:rPr sz="1750" b="0">
                <a:solidFill>
                  <a:srgbClr val="D5DED3"/>
                </a:solidFill>
                <a:latin typeface="Plus Jakarta Sans"/>
              </a:rPr>
              <a:t>Keep notes on your device and prepare for conversations.</a:t>
            </a:r>
          </a:p>
        </p:txBody>
      </p:sp>
      <p:sp>
        <p:nvSpPr>
          <p:cNvPr id="10" name="TextBox 9"/>
          <p:cNvSpPr txBox="1"/>
          <p:nvPr/>
        </p:nvSpPr>
        <p:spPr>
          <a:xfrm>
            <a:off x="731520" y="4572000"/>
            <a:ext cx="585216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89AA91"/>
                </a:solidFill>
                <a:latin typeface="Plus Jakarta Sans"/>
              </a:rPr>
              <a:t>No invisible sharing</a:t>
            </a:r>
          </a:p>
        </p:txBody>
      </p:sp>
      <p:sp>
        <p:nvSpPr>
          <p:cNvPr id="11" name="TextBox 10"/>
          <p:cNvSpPr txBox="1"/>
          <p:nvPr/>
        </p:nvSpPr>
        <p:spPr>
          <a:xfrm>
            <a:off x="731520" y="5056632"/>
            <a:ext cx="5715000" cy="548640"/>
          </a:xfrm>
          <a:prstGeom prst="rect">
            <a:avLst/>
          </a:prstGeom>
          <a:noFill/>
        </p:spPr>
        <p:txBody>
          <a:bodyPr wrap="square" lIns="0" rIns="0" tIns="0" bIns="0" anchor="t">
            <a:noAutofit/>
          </a:bodyPr>
          <a:lstStyle/>
          <a:p>
            <a:pPr algn="l">
              <a:lnSpc>
                <a:spcPts val="2375"/>
              </a:lnSpc>
              <a:spcBef>
                <a:spcPts val="0"/>
              </a:spcBef>
              <a:spcAft>
                <a:spcPts val="0"/>
              </a:spcAft>
              <a:buNone/>
            </a:pPr>
            <a:r>
              <a:rPr sz="1900" b="0">
                <a:solidFill>
                  <a:srgbClr val="D5DED3"/>
                </a:solidFill>
                <a:latin typeface="Plus Jakarta Sans"/>
              </a:rPr>
              <a:t>Nothing is sent to family or a clinician on its own.</a:t>
            </a:r>
          </a:p>
        </p:txBody>
      </p:sp>
      <p:pic>
        <p:nvPicPr>
          <p:cNvPr id="12" name="Picture 11" descr="coffee-circles.png"/>
          <p:cNvPicPr>
            <a:picLocks noChangeAspect="1"/>
          </p:cNvPicPr>
          <p:nvPr/>
        </p:nvPicPr>
        <p:blipFill>
          <a:blip r:embed="rId3"/>
          <a:stretch>
            <a:fillRect/>
          </a:stretch>
        </p:blipFill>
        <p:spPr>
          <a:xfrm rot="21300000">
            <a:off x="6812280" y="2057400"/>
            <a:ext cx="2047890" cy="4023360"/>
          </a:xfrm>
          <a:prstGeom prst="rect">
            <a:avLst/>
          </a:prstGeom>
        </p:spPr>
      </p:pic>
      <p:pic>
        <p:nvPicPr>
          <p:cNvPr id="13" name="Picture 12" descr="care-circle.png"/>
          <p:cNvPicPr>
            <a:picLocks noChangeAspect="1"/>
          </p:cNvPicPr>
          <p:nvPr/>
        </p:nvPicPr>
        <p:blipFill>
          <a:blip r:embed="rId4"/>
          <a:stretch>
            <a:fillRect/>
          </a:stretch>
        </p:blipFill>
        <p:spPr>
          <a:xfrm rot="240000">
            <a:off x="8641080" y="2057400"/>
            <a:ext cx="2047890" cy="4023360"/>
          </a:xfrm>
          <a:prstGeom prst="rect">
            <a:avLst/>
          </a:prstGeom>
        </p:spPr>
      </p:pic>
      <p:sp>
        <p:nvSpPr>
          <p:cNvPr id="14" name="TextBox 13"/>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09</a:t>
            </a:r>
          </a:p>
        </p:txBody>
      </p:sp>
      <p:pic>
        <p:nvPicPr>
          <p:cNvPr id="15" name="Picture 14" descr="icon.png"/>
          <p:cNvPicPr>
            <a:picLocks noChangeAspect="1"/>
          </p:cNvPicPr>
          <p:nvPr/>
        </p:nvPicPr>
        <p:blipFill>
          <a:blip r:embed="rId5"/>
          <a:stretch>
            <a:fillRect/>
          </a:stretch>
        </p:blipFill>
        <p:spPr>
          <a:xfrm>
            <a:off x="731520" y="6382512"/>
            <a:ext cx="237744" cy="237744"/>
          </a:xfrm>
          <a:prstGeom prst="roundRect">
            <a:avLst>
              <a:gd name="adj" fmla="val 26923"/>
            </a:avLst>
          </a:prstGeom>
        </p:spPr>
      </p:pic>
      <p:sp>
        <p:nvSpPr>
          <p:cNvPr id="16" name="TextBox 15"/>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YOU DECIDE WHAT TO SHARE</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960"/>
              </a:lnSpc>
              <a:spcBef>
                <a:spcPts val="0"/>
              </a:spcBef>
              <a:spcAft>
                <a:spcPts val="0"/>
              </a:spcAft>
              <a:buNone/>
            </a:pPr>
            <a:r>
              <a:rPr sz="3600" b="0">
                <a:solidFill>
                  <a:srgbClr val="EDF1E8"/>
                </a:solidFill>
                <a:latin typeface="Plus Jakarta Sans ExtraBold"/>
              </a:rPr>
              <a:t>Choose. </a:t>
            </a:r>
            <a:r>
              <a:rPr sz="3600" b="0">
                <a:solidFill>
                  <a:srgbClr val="89AA91"/>
                </a:solidFill>
                <a:latin typeface="Plus Jakarta Sans ExtraBold"/>
              </a:rPr>
              <a:t>Review. Then share.</a:t>
            </a:r>
          </a:p>
        </p:txBody>
      </p:sp>
      <p:pic>
        <p:nvPicPr>
          <p:cNvPr id="6" name="Picture 5" descr="sharing.png"/>
          <p:cNvPicPr>
            <a:picLocks noChangeAspect="1"/>
          </p:cNvPicPr>
          <p:nvPr/>
        </p:nvPicPr>
        <p:blipFill>
          <a:blip r:embed="rId3"/>
          <a:stretch>
            <a:fillRect/>
          </a:stretch>
        </p:blipFill>
        <p:spPr>
          <a:xfrm rot="21300000">
            <a:off x="1005840" y="2057400"/>
            <a:ext cx="2047890" cy="4023360"/>
          </a:xfrm>
          <a:prstGeom prst="rect">
            <a:avLst/>
          </a:prstGeom>
        </p:spPr>
      </p:pic>
      <p:pic>
        <p:nvPicPr>
          <p:cNvPr id="7" name="Picture 6" descr="visit-brief.png"/>
          <p:cNvPicPr>
            <a:picLocks noChangeAspect="1"/>
          </p:cNvPicPr>
          <p:nvPr/>
        </p:nvPicPr>
        <p:blipFill>
          <a:blip r:embed="rId4"/>
          <a:stretch>
            <a:fillRect/>
          </a:stretch>
        </p:blipFill>
        <p:spPr>
          <a:xfrm rot="240000">
            <a:off x="2880360" y="2057400"/>
            <a:ext cx="2047890" cy="4023360"/>
          </a:xfrm>
          <a:prstGeom prst="rect">
            <a:avLst/>
          </a:prstGeom>
        </p:spPr>
      </p:pic>
      <p:sp>
        <p:nvSpPr>
          <p:cNvPr id="8" name="TextBox 7"/>
          <p:cNvSpPr txBox="1"/>
          <p:nvPr/>
        </p:nvSpPr>
        <p:spPr>
          <a:xfrm>
            <a:off x="6400800" y="2286000"/>
            <a:ext cx="489204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89AA91"/>
                </a:solidFill>
                <a:latin typeface="Plus Jakarta Sans"/>
              </a:rPr>
              <a:t>01 · Select</a:t>
            </a:r>
          </a:p>
        </p:txBody>
      </p:sp>
      <p:sp>
        <p:nvSpPr>
          <p:cNvPr id="9" name="TextBox 8"/>
          <p:cNvSpPr txBox="1"/>
          <p:nvPr/>
        </p:nvSpPr>
        <p:spPr>
          <a:xfrm>
            <a:off x="6400800" y="2788920"/>
            <a:ext cx="4663440" cy="621792"/>
          </a:xfrm>
          <a:prstGeom prst="rect">
            <a:avLst/>
          </a:prstGeom>
          <a:noFill/>
        </p:spPr>
        <p:txBody>
          <a:bodyPr wrap="square" lIns="0" rIns="0" tIns="0" bIns="0" anchor="t">
            <a:noAutofit/>
          </a:bodyPr>
          <a:lstStyle/>
          <a:p>
            <a:pPr algn="l">
              <a:lnSpc>
                <a:spcPts val="2375"/>
              </a:lnSpc>
              <a:spcBef>
                <a:spcPts val="0"/>
              </a:spcBef>
              <a:spcAft>
                <a:spcPts val="0"/>
              </a:spcAft>
              <a:buNone/>
            </a:pPr>
            <a:r>
              <a:rPr sz="1900" b="0">
                <a:solidFill>
                  <a:srgbClr val="D5DED3"/>
                </a:solidFill>
                <a:latin typeface="Plus Jakarta Sans"/>
              </a:rPr>
              <a:t>Include only the records you choose.</a:t>
            </a:r>
          </a:p>
        </p:txBody>
      </p:sp>
      <p:sp>
        <p:nvSpPr>
          <p:cNvPr id="10" name="TextBox 9"/>
          <p:cNvSpPr txBox="1"/>
          <p:nvPr/>
        </p:nvSpPr>
        <p:spPr>
          <a:xfrm>
            <a:off x="6400800" y="3493008"/>
            <a:ext cx="489204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89AA91"/>
                </a:solidFill>
                <a:latin typeface="Plus Jakarta Sans"/>
              </a:rPr>
              <a:t>02 · Review</a:t>
            </a:r>
          </a:p>
        </p:txBody>
      </p:sp>
      <p:sp>
        <p:nvSpPr>
          <p:cNvPr id="11" name="TextBox 10"/>
          <p:cNvSpPr txBox="1"/>
          <p:nvPr/>
        </p:nvSpPr>
        <p:spPr>
          <a:xfrm>
            <a:off x="6400800" y="3995928"/>
            <a:ext cx="4663440" cy="621792"/>
          </a:xfrm>
          <a:prstGeom prst="rect">
            <a:avLst/>
          </a:prstGeom>
          <a:noFill/>
        </p:spPr>
        <p:txBody>
          <a:bodyPr wrap="square" lIns="0" rIns="0" tIns="0" bIns="0" anchor="t">
            <a:noAutofit/>
          </a:bodyPr>
          <a:lstStyle/>
          <a:p>
            <a:pPr algn="l">
              <a:lnSpc>
                <a:spcPts val="2375"/>
              </a:lnSpc>
              <a:spcBef>
                <a:spcPts val="0"/>
              </a:spcBef>
              <a:spcAft>
                <a:spcPts val="0"/>
              </a:spcAft>
              <a:buNone/>
            </a:pPr>
            <a:r>
              <a:rPr sz="1900" b="0">
                <a:solidFill>
                  <a:srgbClr val="D5DED3"/>
                </a:solidFill>
                <a:latin typeface="Plus Jakarta Sans"/>
              </a:rPr>
              <a:t>Read your visit summary before saving it.</a:t>
            </a:r>
          </a:p>
        </p:txBody>
      </p:sp>
      <p:sp>
        <p:nvSpPr>
          <p:cNvPr id="12" name="TextBox 11"/>
          <p:cNvSpPr txBox="1"/>
          <p:nvPr/>
        </p:nvSpPr>
        <p:spPr>
          <a:xfrm>
            <a:off x="6400800" y="4700016"/>
            <a:ext cx="489204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89AA91"/>
                </a:solidFill>
                <a:latin typeface="Plus Jakarta Sans"/>
              </a:rPr>
              <a:t>03 · Share intentionally</a:t>
            </a:r>
          </a:p>
        </p:txBody>
      </p:sp>
      <p:sp>
        <p:nvSpPr>
          <p:cNvPr id="13" name="TextBox 12"/>
          <p:cNvSpPr txBox="1"/>
          <p:nvPr/>
        </p:nvSpPr>
        <p:spPr>
          <a:xfrm>
            <a:off x="6400800" y="5202936"/>
            <a:ext cx="4663440" cy="621792"/>
          </a:xfrm>
          <a:prstGeom prst="rect">
            <a:avLst/>
          </a:prstGeom>
          <a:noFill/>
        </p:spPr>
        <p:txBody>
          <a:bodyPr wrap="square" lIns="0" rIns="0" tIns="0" bIns="0" anchor="t">
            <a:noAutofit/>
          </a:bodyPr>
          <a:lstStyle/>
          <a:p>
            <a:pPr algn="l">
              <a:lnSpc>
                <a:spcPts val="2375"/>
              </a:lnSpc>
              <a:spcBef>
                <a:spcPts val="0"/>
              </a:spcBef>
              <a:spcAft>
                <a:spcPts val="0"/>
              </a:spcAft>
              <a:buNone/>
            </a:pPr>
            <a:r>
              <a:rPr sz="1900" b="0">
                <a:solidFill>
                  <a:srgbClr val="D5DED3"/>
                </a:solidFill>
                <a:latin typeface="Plus Jakarta Sans"/>
              </a:rPr>
              <a:t>Review what you send. Nothing is shared on its own.</a:t>
            </a:r>
          </a:p>
        </p:txBody>
      </p:sp>
      <p:sp>
        <p:nvSpPr>
          <p:cNvPr id="14" name="TextBox 13"/>
          <p:cNvSpPr txBox="1"/>
          <p:nvPr/>
        </p:nvSpPr>
        <p:spPr>
          <a:xfrm>
            <a:off x="731520" y="6153912"/>
            <a:ext cx="10728655" cy="182880"/>
          </a:xfrm>
          <a:prstGeom prst="rect">
            <a:avLst/>
          </a:prstGeom>
          <a:noFill/>
        </p:spPr>
        <p:txBody>
          <a:bodyPr wrap="square" lIns="0" rIns="0" tIns="0" bIns="0" anchor="t">
            <a:noAutofit/>
          </a:bodyPr>
          <a:lstStyle/>
          <a:p>
            <a:pPr algn="l">
              <a:lnSpc>
                <a:spcPts val="1375"/>
              </a:lnSpc>
              <a:spcBef>
                <a:spcPts val="0"/>
              </a:spcBef>
              <a:spcAft>
                <a:spcPts val="0"/>
              </a:spcAft>
              <a:buNone/>
            </a:pPr>
            <a:r>
              <a:rPr sz="1100" b="0">
                <a:solidFill>
                  <a:srgbClr val="AEBEAF"/>
                </a:solidFill>
                <a:latin typeface="Plus Jakarta Sans"/>
              </a:rPr>
              <a:t>Keep saved reports safe. A visit summary is not a medical record.</a:t>
            </a:r>
          </a:p>
        </p:txBody>
      </p:sp>
      <p:sp>
        <p:nvSpPr>
          <p:cNvPr id="15" name="TextBox 14"/>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10</a:t>
            </a:r>
          </a:p>
        </p:txBody>
      </p:sp>
      <p:pic>
        <p:nvPicPr>
          <p:cNvPr id="16" name="Picture 15" descr="icon.png"/>
          <p:cNvPicPr>
            <a:picLocks noChangeAspect="1"/>
          </p:cNvPicPr>
          <p:nvPr/>
        </p:nvPicPr>
        <p:blipFill>
          <a:blip r:embed="rId5"/>
          <a:stretch>
            <a:fillRect/>
          </a:stretch>
        </p:blipFill>
        <p:spPr>
          <a:xfrm>
            <a:off x="731520" y="6382512"/>
            <a:ext cx="237744" cy="237744"/>
          </a:xfrm>
          <a:prstGeom prst="roundRect">
            <a:avLst>
              <a:gd name="adj" fmla="val 26923"/>
            </a:avLst>
          </a:prstGeom>
        </p:spPr>
      </p:pic>
      <p:sp>
        <p:nvSpPr>
          <p:cNvPr id="17" name="TextBox 16"/>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WHAT COMES NEXT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EDF1E8"/>
                </a:solidFill>
                <a:latin typeface="Plus Jakarta Sans ExtraBold"/>
              </a:rPr>
              <a:t>Build with people. </a:t>
            </a:r>
            <a:r>
              <a:rPr sz="3800" b="0">
                <a:solidFill>
                  <a:srgbClr val="89AA91"/>
                </a:solidFill>
                <a:latin typeface="Plus Jakarta Sans ExtraBold"/>
              </a:rPr>
              <a:t>Keep improving.</a:t>
            </a:r>
          </a:p>
        </p:txBody>
      </p:sp>
      <p:sp>
        <p:nvSpPr>
          <p:cNvPr id="6" name="Rounded Rectangle 5"/>
          <p:cNvSpPr/>
          <p:nvPr/>
        </p:nvSpPr>
        <p:spPr>
          <a:xfrm>
            <a:off x="731520" y="2194560"/>
            <a:ext cx="10728655" cy="960120"/>
          </a:xfrm>
          <a:prstGeom prst="roundRect">
            <a:avLst>
              <a:gd name="adj" fmla="val 19047"/>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395728"/>
            <a:ext cx="3108960" cy="457200"/>
          </a:xfrm>
          <a:prstGeom prst="rect">
            <a:avLst/>
          </a:prstGeom>
          <a:noFill/>
        </p:spPr>
        <p:txBody>
          <a:bodyPr wrap="square" lIns="0" rIns="0" tIns="0" bIns="0" anchor="t">
            <a:noAutofit/>
          </a:bodyPr>
          <a:lstStyle/>
          <a:p>
            <a:pPr algn="l">
              <a:lnSpc>
                <a:spcPts val="3250"/>
              </a:lnSpc>
              <a:spcBef>
                <a:spcPts val="0"/>
              </a:spcBef>
              <a:spcAft>
                <a:spcPts val="0"/>
              </a:spcAft>
              <a:buNone/>
            </a:pPr>
            <a:r>
              <a:rPr sz="2600" b="1">
                <a:solidFill>
                  <a:srgbClr val="EDF1E8"/>
                </a:solidFill>
                <a:latin typeface="Plus Jakarta Sans"/>
              </a:rPr>
              <a:t>Listen to people</a:t>
            </a:r>
          </a:p>
        </p:txBody>
      </p:sp>
      <p:sp>
        <p:nvSpPr>
          <p:cNvPr id="8" name="TextBox 7"/>
          <p:cNvSpPr txBox="1"/>
          <p:nvPr/>
        </p:nvSpPr>
        <p:spPr>
          <a:xfrm>
            <a:off x="4389120" y="2395728"/>
            <a:ext cx="6675120" cy="548640"/>
          </a:xfrm>
          <a:prstGeom prst="rect">
            <a:avLst/>
          </a:prstGeom>
          <a:noFill/>
        </p:spPr>
        <p:txBody>
          <a:bodyPr wrap="square" lIns="0" rIns="0" tIns="0" bIns="0" anchor="t">
            <a:noAutofit/>
          </a:bodyPr>
          <a:lstStyle/>
          <a:p>
            <a:pPr algn="l">
              <a:lnSpc>
                <a:spcPts val="2500"/>
              </a:lnSpc>
              <a:spcBef>
                <a:spcPts val="0"/>
              </a:spcBef>
              <a:spcAft>
                <a:spcPts val="0"/>
              </a:spcAft>
              <a:buNone/>
            </a:pPr>
            <a:r>
              <a:rPr sz="2000" b="0">
                <a:solidFill>
                  <a:srgbClr val="D5DED3"/>
                </a:solidFill>
                <a:latin typeface="Plus Jakarta Sans"/>
              </a:rPr>
              <a:t>Ask people who may use the app what works for them.</a:t>
            </a:r>
          </a:p>
        </p:txBody>
      </p:sp>
      <p:sp>
        <p:nvSpPr>
          <p:cNvPr id="9" name="Rounded Rectangle 8"/>
          <p:cNvSpPr/>
          <p:nvPr/>
        </p:nvSpPr>
        <p:spPr>
          <a:xfrm>
            <a:off x="731520" y="3337560"/>
            <a:ext cx="10728655" cy="960120"/>
          </a:xfrm>
          <a:prstGeom prst="roundRect">
            <a:avLst>
              <a:gd name="adj" fmla="val 19047"/>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3538728"/>
            <a:ext cx="3108960" cy="457200"/>
          </a:xfrm>
          <a:prstGeom prst="rect">
            <a:avLst/>
          </a:prstGeom>
          <a:noFill/>
        </p:spPr>
        <p:txBody>
          <a:bodyPr wrap="square" lIns="0" rIns="0" tIns="0" bIns="0" anchor="t">
            <a:noAutofit/>
          </a:bodyPr>
          <a:lstStyle/>
          <a:p>
            <a:pPr algn="l">
              <a:lnSpc>
                <a:spcPts val="3250"/>
              </a:lnSpc>
              <a:spcBef>
                <a:spcPts val="0"/>
              </a:spcBef>
              <a:spcAft>
                <a:spcPts val="0"/>
              </a:spcAft>
              <a:buNone/>
            </a:pPr>
            <a:r>
              <a:rPr sz="2600" b="1">
                <a:solidFill>
                  <a:srgbClr val="EDF1E8"/>
                </a:solidFill>
                <a:latin typeface="Plus Jakarta Sans"/>
              </a:rPr>
              <a:t>Check ease of use</a:t>
            </a:r>
          </a:p>
        </p:txBody>
      </p:sp>
      <p:sp>
        <p:nvSpPr>
          <p:cNvPr id="11" name="TextBox 10"/>
          <p:cNvSpPr txBox="1"/>
          <p:nvPr/>
        </p:nvSpPr>
        <p:spPr>
          <a:xfrm>
            <a:off x="4389120" y="3538728"/>
            <a:ext cx="6675120" cy="548640"/>
          </a:xfrm>
          <a:prstGeom prst="rect">
            <a:avLst/>
          </a:prstGeom>
          <a:noFill/>
        </p:spPr>
        <p:txBody>
          <a:bodyPr wrap="square" lIns="0" rIns="0" tIns="0" bIns="0" anchor="t">
            <a:noAutofit/>
          </a:bodyPr>
          <a:lstStyle/>
          <a:p>
            <a:pPr algn="l">
              <a:lnSpc>
                <a:spcPts val="2500"/>
              </a:lnSpc>
              <a:spcBef>
                <a:spcPts val="0"/>
              </a:spcBef>
              <a:spcAft>
                <a:spcPts val="0"/>
              </a:spcAft>
              <a:buNone/>
            </a:pPr>
            <a:r>
              <a:rPr sz="2000" b="0">
                <a:solidFill>
                  <a:srgbClr val="D5DED3"/>
                </a:solidFill>
                <a:latin typeface="Plus Jakarta Sans"/>
              </a:rPr>
              <a:t>Find out which tasks feel clear and comfortable.</a:t>
            </a:r>
          </a:p>
        </p:txBody>
      </p:sp>
      <p:sp>
        <p:nvSpPr>
          <p:cNvPr id="12" name="Rounded Rectangle 11"/>
          <p:cNvSpPr/>
          <p:nvPr/>
        </p:nvSpPr>
        <p:spPr>
          <a:xfrm>
            <a:off x="731520" y="4480560"/>
            <a:ext cx="10728655" cy="960120"/>
          </a:xfrm>
          <a:prstGeom prst="roundRect">
            <a:avLst>
              <a:gd name="adj" fmla="val 19047"/>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4681728"/>
            <a:ext cx="3108960" cy="457200"/>
          </a:xfrm>
          <a:prstGeom prst="rect">
            <a:avLst/>
          </a:prstGeom>
          <a:noFill/>
        </p:spPr>
        <p:txBody>
          <a:bodyPr wrap="square" lIns="0" rIns="0" tIns="0" bIns="0" anchor="t">
            <a:noAutofit/>
          </a:bodyPr>
          <a:lstStyle/>
          <a:p>
            <a:pPr algn="l">
              <a:lnSpc>
                <a:spcPts val="3250"/>
              </a:lnSpc>
              <a:spcBef>
                <a:spcPts val="0"/>
              </a:spcBef>
              <a:spcAft>
                <a:spcPts val="0"/>
              </a:spcAft>
              <a:buNone/>
            </a:pPr>
            <a:r>
              <a:rPr sz="2600" b="1">
                <a:solidFill>
                  <a:srgbClr val="EDF1E8"/>
                </a:solidFill>
                <a:latin typeface="Plus Jakarta Sans"/>
              </a:rPr>
              <a:t>Check on devices</a:t>
            </a:r>
          </a:p>
        </p:txBody>
      </p:sp>
      <p:sp>
        <p:nvSpPr>
          <p:cNvPr id="14" name="TextBox 13"/>
          <p:cNvSpPr txBox="1"/>
          <p:nvPr/>
        </p:nvSpPr>
        <p:spPr>
          <a:xfrm>
            <a:off x="4389120" y="4681728"/>
            <a:ext cx="6675120" cy="548640"/>
          </a:xfrm>
          <a:prstGeom prst="rect">
            <a:avLst/>
          </a:prstGeom>
          <a:noFill/>
        </p:spPr>
        <p:txBody>
          <a:bodyPr wrap="square" lIns="0" rIns="0" tIns="0" bIns="0" anchor="t">
            <a:noAutofit/>
          </a:bodyPr>
          <a:lstStyle/>
          <a:p>
            <a:pPr algn="l">
              <a:lnSpc>
                <a:spcPts val="2500"/>
              </a:lnSpc>
              <a:spcBef>
                <a:spcPts val="0"/>
              </a:spcBef>
              <a:spcAft>
                <a:spcPts val="0"/>
              </a:spcAft>
              <a:buNone/>
            </a:pPr>
            <a:r>
              <a:rPr sz="2000" b="0">
                <a:solidFill>
                  <a:srgbClr val="D5DED3"/>
                </a:solidFill>
                <a:latin typeface="Plus Jakarta Sans"/>
              </a:rPr>
              <a:t>Test the latest activities on phones before release.</a:t>
            </a:r>
          </a:p>
        </p:txBody>
      </p:sp>
      <p:sp>
        <p:nvSpPr>
          <p:cNvPr id="15" name="TextBox 14"/>
          <p:cNvSpPr txBox="1"/>
          <p:nvPr/>
        </p:nvSpPr>
        <p:spPr>
          <a:xfrm>
            <a:off x="731520" y="5852160"/>
            <a:ext cx="10728655" cy="45720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89AA91"/>
                </a:solidFill>
                <a:latin typeface="Plus Jakarta Sans"/>
              </a:rPr>
              <a:t>Next: listen, test and improve with the people who use it.</a:t>
            </a:r>
          </a:p>
        </p:txBody>
      </p:sp>
      <p:sp>
        <p:nvSpPr>
          <p:cNvPr id="16" name="TextBox 15"/>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11</a:t>
            </a:r>
          </a:p>
        </p:txBody>
      </p:sp>
      <p:pic>
        <p:nvPicPr>
          <p:cNvPr id="17" name="Picture 16"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18" name="TextBox 17"/>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Picture 1" descr="app-background.png"/>
          <p:cNvPicPr>
            <a:picLocks noChangeAspect="1"/>
          </p:cNvPicPr>
          <p:nvPr/>
        </p:nvPicPr>
        <p:blipFill>
          <a:blip r:embed="rId2"/>
          <a:stretch>
            <a:fillRect/>
          </a:stretch>
        </p:blipFill>
        <p:spPr>
          <a:xfrm>
            <a:off x="0" y="85"/>
            <a:ext cx="12191695" cy="6857828"/>
          </a:xfrm>
          <a:prstGeom prst="rect">
            <a:avLst/>
          </a:prstGeom>
        </p:spPr>
      </p:pic>
      <p:pic>
        <p:nvPicPr>
          <p:cNvPr id="3" name="Picture 2" descr="icon.png"/>
          <p:cNvPicPr>
            <a:picLocks noChangeAspect="1"/>
          </p:cNvPicPr>
          <p:nvPr/>
        </p:nvPicPr>
        <p:blipFill>
          <a:blip r:embed="rId3"/>
          <a:stretch>
            <a:fillRect/>
          </a:stretch>
        </p:blipFill>
        <p:spPr>
          <a:xfrm>
            <a:off x="5684367" y="1188720"/>
            <a:ext cx="822960" cy="822960"/>
          </a:xfrm>
          <a:prstGeom prst="rect">
            <a:avLst/>
          </a:prstGeom>
        </p:spPr>
      </p:pic>
      <p:sp>
        <p:nvSpPr>
          <p:cNvPr id="4" name="TextBox 3"/>
          <p:cNvSpPr txBox="1"/>
          <p:nvPr/>
        </p:nvSpPr>
        <p:spPr>
          <a:xfrm>
            <a:off x="731520" y="2560320"/>
            <a:ext cx="10728655" cy="914400"/>
          </a:xfrm>
          <a:prstGeom prst="rect">
            <a:avLst/>
          </a:prstGeom>
          <a:noFill/>
        </p:spPr>
        <p:txBody>
          <a:bodyPr wrap="square" lIns="0" rIns="0" tIns="0" bIns="0" anchor="t">
            <a:noAutofit/>
          </a:bodyPr>
          <a:lstStyle/>
          <a:p>
            <a:pPr algn="ctr">
              <a:lnSpc>
                <a:spcPts val="7000"/>
              </a:lnSpc>
              <a:spcBef>
                <a:spcPts val="0"/>
              </a:spcBef>
              <a:spcAft>
                <a:spcPts val="0"/>
              </a:spcAft>
              <a:buNone/>
            </a:pPr>
            <a:r>
              <a:rPr sz="5600" b="0">
                <a:solidFill>
                  <a:srgbClr val="EDF1E8"/>
                </a:solidFill>
                <a:latin typeface="Plus Jakarta Sans ExtraBold"/>
              </a:rPr>
              <a:t>Care that stays yours.</a:t>
            </a:r>
          </a:p>
        </p:txBody>
      </p:sp>
      <p:sp>
        <p:nvSpPr>
          <p:cNvPr id="5" name="TextBox 4"/>
          <p:cNvSpPr txBox="1"/>
          <p:nvPr/>
        </p:nvSpPr>
        <p:spPr>
          <a:xfrm>
            <a:off x="1645920" y="3840480"/>
            <a:ext cx="8899855" cy="914400"/>
          </a:xfrm>
          <a:prstGeom prst="rect">
            <a:avLst/>
          </a:prstGeom>
          <a:noFill/>
        </p:spPr>
        <p:txBody>
          <a:bodyPr wrap="square" lIns="0" rIns="0" tIns="0" bIns="0" anchor="t">
            <a:noAutofit/>
          </a:bodyPr>
          <a:lstStyle/>
          <a:p>
            <a:pPr algn="ctr">
              <a:lnSpc>
                <a:spcPts val="3625"/>
              </a:lnSpc>
              <a:spcBef>
                <a:spcPts val="0"/>
              </a:spcBef>
              <a:spcAft>
                <a:spcPts val="0"/>
              </a:spcAft>
              <a:buNone/>
            </a:pPr>
            <a:r>
              <a:rPr sz="2900" b="0">
                <a:solidFill>
                  <a:srgbClr val="89AA91"/>
                </a:solidFill>
                <a:latin typeface="Plus Jakarta Sans"/>
              </a:rPr>
              <a:t>Everyday support, on your terms.</a:t>
            </a:r>
          </a:p>
        </p:txBody>
      </p:sp>
      <p:pic>
        <p:nvPicPr>
          <p:cNvPr id="6" name="Picture 5" descr="qr.png">
            <a:hlinkClick r:id="rId6"/>
          </p:cNvPr>
          <p:cNvPicPr>
            <a:picLocks noChangeAspect="1"/>
          </p:cNvPicPr>
          <p:nvPr/>
        </p:nvPicPr>
        <p:blipFill>
          <a:blip r:embed="rId4"/>
          <a:stretch>
            <a:fillRect/>
          </a:stretch>
        </p:blipFill>
        <p:spPr>
          <a:xfrm>
            <a:off x="10332720" y="731520"/>
            <a:ext cx="1024128" cy="1024128"/>
          </a:xfrm>
          <a:prstGeom prst="rect">
            <a:avLst/>
          </a:prstGeom>
        </p:spPr>
      </p:pic>
      <p:sp>
        <p:nvSpPr>
          <p:cNvPr id="7" name="TextBox 6"/>
          <p:cNvSpPr txBox="1"/>
          <p:nvPr/>
        </p:nvSpPr>
        <p:spPr>
          <a:xfrm>
            <a:off x="10012680" y="1828800"/>
            <a:ext cx="1645920" cy="228600"/>
          </a:xfrm>
          <a:prstGeom prst="rect">
            <a:avLst/>
          </a:prstGeom>
          <a:noFill/>
        </p:spPr>
        <p:txBody>
          <a:bodyPr wrap="square" lIns="0" rIns="0" tIns="0" bIns="0" anchor="t">
            <a:noAutofit/>
          </a:bodyPr>
          <a:lstStyle/>
          <a:p>
            <a:pPr algn="ctr">
              <a:lnSpc>
                <a:spcPts val="1250"/>
              </a:lnSpc>
              <a:spcBef>
                <a:spcPts val="0"/>
              </a:spcBef>
              <a:spcAft>
                <a:spcPts val="0"/>
              </a:spcAft>
              <a:buNone/>
            </a:pPr>
            <a:r>
              <a:rPr sz="1000" b="0">
                <a:solidFill>
                  <a:srgbClr val="AEBEAF"/>
                </a:solidFill>
                <a:latin typeface="Plus Jakarta Sans"/>
              </a:rPr>
              <a:t>Explore the project</a:t>
            </a:r>
          </a:p>
        </p:txBody>
      </p:sp>
      <p:sp>
        <p:nvSpPr>
          <p:cNvPr id="8" name="Rounded Rectangle 7"/>
          <p:cNvSpPr/>
          <p:nvPr/>
        </p:nvSpPr>
        <p:spPr>
          <a:xfrm>
            <a:off x="2743200" y="5074920"/>
            <a:ext cx="2306574" cy="329184"/>
          </a:xfrm>
          <a:prstGeom prst="roundRect">
            <a:avLst>
              <a:gd name="adj" fmla="val 50000"/>
            </a:avLst>
          </a:prstGeom>
          <a:solidFill>
            <a:srgbClr val="89AA91">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743200" y="5074920"/>
            <a:ext cx="2306574" cy="329184"/>
          </a:xfrm>
          <a:prstGeom prst="rect">
            <a:avLst/>
          </a:prstGeom>
          <a:noFill/>
        </p:spPr>
        <p:txBody>
          <a:bodyPr wrap="square" lIns="0" rIns="0" tIns="0" bIns="0" anchor="ctr">
            <a:noAutofit/>
          </a:bodyPr>
          <a:lstStyle/>
          <a:p>
            <a:pPr algn="ctr">
              <a:lnSpc>
                <a:spcPts val="1375"/>
              </a:lnSpc>
              <a:spcBef>
                <a:spcPts val="0"/>
              </a:spcBef>
              <a:spcAft>
                <a:spcPts val="0"/>
              </a:spcAft>
              <a:buNone/>
            </a:pPr>
            <a:r>
              <a:rPr sz="1100" b="1" spc="100">
                <a:solidFill>
                  <a:srgbClr val="89AA91"/>
                </a:solidFill>
                <a:latin typeface="Plus Jakarta Sans"/>
              </a:rPr>
              <a:t>EXPLORE THE PROJECT</a:t>
            </a:r>
          </a:p>
        </p:txBody>
      </p:sp>
      <p:sp>
        <p:nvSpPr>
          <p:cNvPr id="10" name="Rounded Rectangle 9"/>
          <p:cNvSpPr/>
          <p:nvPr/>
        </p:nvSpPr>
        <p:spPr>
          <a:xfrm>
            <a:off x="5232654" y="5074920"/>
            <a:ext cx="1735074" cy="329184"/>
          </a:xfrm>
          <a:prstGeom prst="roundRect">
            <a:avLst>
              <a:gd name="adj" fmla="val 50000"/>
            </a:avLst>
          </a:prstGeom>
          <a:solidFill>
            <a:srgbClr val="89AA91">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32654" y="5074920"/>
            <a:ext cx="1735074" cy="329184"/>
          </a:xfrm>
          <a:prstGeom prst="rect">
            <a:avLst/>
          </a:prstGeom>
          <a:noFill/>
        </p:spPr>
        <p:txBody>
          <a:bodyPr wrap="square" lIns="0" rIns="0" tIns="0" bIns="0" anchor="ctr">
            <a:noAutofit/>
          </a:bodyPr>
          <a:lstStyle/>
          <a:p>
            <a:pPr algn="ctr">
              <a:lnSpc>
                <a:spcPts val="1375"/>
              </a:lnSpc>
              <a:spcBef>
                <a:spcPts val="0"/>
              </a:spcBef>
              <a:spcAft>
                <a:spcPts val="0"/>
              </a:spcAft>
              <a:buNone/>
            </a:pPr>
            <a:r>
              <a:rPr sz="1100" b="1" spc="100">
                <a:solidFill>
                  <a:srgbClr val="89AA91"/>
                </a:solidFill>
                <a:latin typeface="Plus Jakarta Sans"/>
              </a:rPr>
              <a:t>READ THE CODE</a:t>
            </a:r>
          </a:p>
        </p:txBody>
      </p:sp>
      <p:sp>
        <p:nvSpPr>
          <p:cNvPr id="12" name="Rounded Rectangle 11"/>
          <p:cNvSpPr/>
          <p:nvPr/>
        </p:nvSpPr>
        <p:spPr>
          <a:xfrm>
            <a:off x="7150608" y="5074920"/>
            <a:ext cx="1900174" cy="329184"/>
          </a:xfrm>
          <a:prstGeom prst="roundRect">
            <a:avLst>
              <a:gd name="adj" fmla="val 50000"/>
            </a:avLst>
          </a:prstGeom>
          <a:solidFill>
            <a:srgbClr val="89AA91">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50608" y="5074920"/>
            <a:ext cx="1900174" cy="329184"/>
          </a:xfrm>
          <a:prstGeom prst="rect">
            <a:avLst/>
          </a:prstGeom>
          <a:noFill/>
        </p:spPr>
        <p:txBody>
          <a:bodyPr wrap="square" lIns="0" rIns="0" tIns="0" bIns="0" anchor="ctr">
            <a:noAutofit/>
          </a:bodyPr>
          <a:lstStyle/>
          <a:p>
            <a:pPr algn="ctr">
              <a:lnSpc>
                <a:spcPts val="1375"/>
              </a:lnSpc>
              <a:spcBef>
                <a:spcPts val="0"/>
              </a:spcBef>
              <a:spcAft>
                <a:spcPts val="0"/>
              </a:spcAft>
              <a:buNone/>
            </a:pPr>
            <a:r>
              <a:rPr sz="1100" b="1" spc="100">
                <a:solidFill>
                  <a:srgbClr val="89AA91"/>
                </a:solidFill>
                <a:latin typeface="Plus Jakarta Sans"/>
              </a:rPr>
              <a:t>EXPLORE THE APP</a:t>
            </a:r>
          </a:p>
        </p:txBody>
      </p:sp>
      <p:sp>
        <p:nvSpPr>
          <p:cNvPr id="14" name="TextBox 13"/>
          <p:cNvSpPr txBox="1"/>
          <p:nvPr/>
        </p:nvSpPr>
        <p:spPr>
          <a:xfrm>
            <a:off x="731520" y="5715000"/>
            <a:ext cx="10728655" cy="411480"/>
          </a:xfrm>
          <a:prstGeom prst="rect">
            <a:avLst/>
          </a:prstGeom>
          <a:noFill/>
        </p:spPr>
        <p:txBody>
          <a:bodyPr wrap="square" lIns="0" rIns="0" tIns="0" bIns="0" anchor="t">
            <a:noAutofit/>
          </a:bodyPr>
          <a:lstStyle/>
          <a:p>
            <a:pPr algn="ctr">
              <a:lnSpc>
                <a:spcPts val="2750"/>
              </a:lnSpc>
              <a:spcBef>
                <a:spcPts val="0"/>
              </a:spcBef>
              <a:spcAft>
                <a:spcPts val="0"/>
              </a:spcAft>
              <a:buNone/>
            </a:pPr>
            <a:r>
              <a:rPr sz="2200" b="1">
                <a:solidFill>
                  <a:srgbClr val="EDF1E8"/>
                </a:solidFill>
                <a:latin typeface="Plus Jakarta Sans"/>
              </a:rPr>
              <a:t>github.com/engineer2025-sudo/CareSphere</a:t>
            </a:r>
          </a:p>
        </p:txBody>
      </p:sp>
    </p:spTree>
  </p:cSld>
  <p:clrMapOvr>
    <a:masterClrMapping/>
  </p:clrMapOvr>
  <mc:AlternateContent xmlns:mc="http://schemas.openxmlformats.org/markup-compatibility/2006">
    <mc:Choice xmlns:p14="http://schemas.microsoft.com/office/powerpoint/2010/main" Requires="p14">
      <p:transition spd="slow" p14:dur="900">
        <p:fade thruBlk="1"/>
      </p:transition>
    </mc:Choice>
    <mc:Fallback>
      <p:transition spd="slow">
        <p:fade thruBlk="1"/>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