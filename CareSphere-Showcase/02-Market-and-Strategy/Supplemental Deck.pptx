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fntdata" ContentType="application/x-fontdata"/>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embeddedFontLst>
    <p:embeddedFont>
      <p:font typeface="Plus Jakarta Sans" panose="00000000000000000000" pitchFamily="34" charset="0"/>
      <p:regular r:id="rId28"/>
      <p:bold r:id="rId29"/>
    </p:embeddedFont>
    <p:embeddedFont>
      <p:font typeface="Plus Jakarta Sans Medium" panose="00000000000000000000" pitchFamily="34" charset="0"/>
      <p:regular r:id="rId30"/>
    </p:embeddedFont>
    <p:embeddedFont>
      <p:font typeface="Plus Jakarta Sans ExtraBold" panose="00000000000000000000" pitchFamily="34" charset="0"/>
      <p:regular r:id="rId31"/>
    </p:embeddedFont>
    <p:embeddedFont>
      <p:font typeface="JetBrains Mono" panose="02000009000000000000" pitchFamily="49" charset="0"/>
      <p:regular r:id="rId3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supplemental appendix, not part of the 3-minute video. Real mobile-web capture in the approved navy phone frame. All financial and adoption figures are hypotheses unless explicitly sourced.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Need and positioning statements are design hypotheses, not quantified survey results. No evidence of adoption is supplied.</a:t>
            </a:r>
          </a:p>
          <a:p/>
          <a:p>
            <a:r>
              <a:t>P1 — CareSphere app source inspected at 0af7c225; build/device checks pending</a:t>
            </a:r>
          </a:p>
          <a:p>
            <a:r>
              <a:t>https://github.com/engineer2025-sudo/Care/tree/0af7c22518a7fa7d8caa3f795c9d0b022f7373a8</a:t>
            </a:r>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43.5 million (2015), 53.0 million (2020), 63.0 million (2025): AARP/NAC reported national estimates. Changes in survey methods and population context should be considered; these are not CareSphere growth figures.</a:t>
            </a:r>
          </a:p>
          <a:p/>
          <a:p>
            <a:r>
              <a:t>M1 — AARP / NAC, Caregiving in the US 2025</a:t>
            </a:r>
          </a:p>
          <a:p>
            <a:r>
              <a:t>https://www.aarp.org/pri/topics/ltss/family-caregiving/caregiving-in-the-us-2025/</a:t>
            </a:r>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initial commercial sizing uses adult caregivers as a proxy, not a diagnosis-defined population. It excludes independent users from the numerical model rather than inventing a combined, double-counted audience.</a:t>
            </a:r>
          </a:p>
          <a:p/>
          <a:p>
            <a:r>
              <a:t>SCENARIO / NOT OBSERVED: Segments and buyer roles are hypotheses</a:t>
            </a:r>
          </a:p>
          <a:p>
            <a:r>
              <a:t>P1 — CareSphere app source inspected at 0af7c225; build/device checks pending</a:t>
            </a:r>
          </a:p>
          <a:p>
            <a:r>
              <a:t>https://github.com/engineer2025-sudo/Care/tree/0af7c22518a7fa7d8caa3f795c9d0b022f7373a8</a:t>
            </a:r>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TAM/SAM/SOM framework. The requested TOM is interpreted as total opportunity (TAM), not a separate additive tier. All units are caregiver participants, not patients, households, organizations or paid seats. A participant can be counted only once. TAM=59,000,000. SAM=2,950,000. SOM=120 90-day retained participants generated across proposed cohorts in 24 months; not necessarily concurrent active users. The wide mission is not added to this initial beachhead proxy. No revenue TAM is asserted because willingness to pay is unknown.</a:t>
            </a:r>
          </a:p>
          <a:p/>
          <a:p>
            <a:r>
              <a:t>SCENARIO / NOT OBSERVED: SAM/SOM hypothetical; cards not to scale</a:t>
            </a:r>
          </a:p>
          <a:p>
            <a:r>
              <a:t>M2 — AARP, July 24, 2025: 59M caring for adults; 63M total</a:t>
            </a:r>
          </a:p>
          <a:p>
            <a:r>
              <a:t>https://www.aarp.org/press/releases/2025-07-24-new-report-reveals-crisis-point-for-americas-63-million-family-caregivers.html</a:t>
            </a:r>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 sensitivity: 59,000,000 × 1%=590,000; ×5%=2,950,000; ×10%=5,900,000. Each fit factor bundles unmeasured digital access, language, need and willingness; it is not a known joint probability or market share. Validate factors before presenting SAM as an estimate.</a:t>
            </a:r>
          </a:p>
          <a:p/>
          <a:p>
            <a:r>
              <a:t>SCENARIO / NOT OBSERVED: No measured eligibility or adoption rate</a:t>
            </a:r>
          </a:p>
          <a:p>
            <a:r>
              <a:t>M2 — AARP, July 24, 2025: 59M caring for adults; 63M total</a:t>
            </a:r>
          </a:p>
          <a:p>
            <a:r>
              <a:t>https://www.aarp.org/press/releases/2025-07-24-new-report-reveals-crisis-point-for-americas-63-million-family-caregivers.html</a:t>
            </a:r>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Activation: completes a chosen routine/check-in, activity or visit-preparation action within seven days of first use. Retention: returns for a chosen useful action during days 61–90. 1,200 invites ×25%=300 activations; 300×40%=120 retained. Partners, rates and period are planning assumptions. Dedupe voluntary pilot participants; do not introduce mandatory accounts or hidden tracking. Retention measurement needs explicit consent and a defined method.</a:t>
            </a:r>
          </a:p>
          <a:p/>
          <a:p>
            <a:r>
              <a:t>SCENARIO / NOT OBSERVED: 25% activation; 40% retention of activated</a:t>
            </a:r>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Official product-page review, October 26, 2026. Examples are non-exhaustive. Absence from this matrix does not mean a competitor lacks a feature. No pricing comparison, security certification ranking or clinical superiority is asserted. CareSphere does not provide a synced care-team workspace. Medisafe documents reminders and caregiver Medfriend alerts; CaringBridge documents health updates with privacy settings; Lotsa documents a care calendar and volunteer sign-ups. Positioning labels are editorial summaries, not company-endorsed ratings.</a:t>
            </a:r>
          </a:p>
          <a:p/>
          <a:p>
            <a:r>
              <a:t>P1 — CareSphere app source inspected at 0af7c225; build/device checks pending</a:t>
            </a:r>
          </a:p>
          <a:p>
            <a:r>
              <a:t>https://github.com/engineer2025-sudo/Care/tree/0af7c22518a7fa7d8caa3f795c9d0b022f7373a8</a:t>
            </a:r>
          </a:p>
          <a:p>
            <a:r>
              <a:t>C1 — Medisafe, official app features</a:t>
            </a:r>
          </a:p>
          <a:p>
            <a:r>
              <a:t>https://medisafe.com/download-the-app</a:t>
            </a:r>
          </a:p>
          <a:p>
            <a:r>
              <a:t>C2 — CaringBridge, official platform overview</a:t>
            </a:r>
          </a:p>
          <a:p>
            <a:r>
              <a:t>https://www.caringbridge.org/</a:t>
            </a:r>
          </a:p>
          <a:p>
            <a:r>
              <a:t>C3 — Lotsa Helping Hands, official overview and care calendar</a:t>
            </a:r>
          </a:p>
          <a:p>
            <a:r>
              <a:t>https://lotsahelpinghands.com/</a:t>
            </a:r>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SCENARIO / NOT OBSERVED: Positioning is a hypothesis, not a benchmark</a:t>
            </a:r>
          </a:p>
          <a:p>
            <a:r>
              <a:t>P1 — CareSphere app source inspected at 0af7c225; build/device checks pending</a:t>
            </a:r>
          </a:p>
          <a:p>
            <a:r>
              <a:t>https://github.com/engineer2025-sudo/Care/tree/0af7c22518a7fa7d8caa3f795c9d0b022f7373a8</a:t>
            </a:r>
          </a:p>
          <a:p>
            <a:r>
              <a:t>C1 — Medisafe, official app features</a:t>
            </a:r>
          </a:p>
          <a:p>
            <a:r>
              <a:t>https://medisafe.com/download-the-app</a:t>
            </a:r>
          </a:p>
          <a:p>
            <a:r>
              <a:t>C2 — CaringBridge, official platform overview</a:t>
            </a:r>
          </a:p>
          <a:p>
            <a:r>
              <a:t>https://www.caringbridge.org/</a:t>
            </a:r>
          </a:p>
          <a:p>
            <a:r>
              <a:t>C3 — Lotsa Helping Hands, official overview and care calendar</a:t>
            </a:r>
          </a:p>
          <a:p>
            <a:r>
              <a:t>https://lotsahelpinghands.com/</a:t>
            </a:r>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Potential channels include senior centers, caregiver groups and disability community organizations. These are categories, not partnerships. Any research involving people with impaired decision-making requires appropriate consent/assent, safeguards and applicable approvals. Obtain permission before using an organization’s name or logo.</a:t>
            </a:r>
          </a:p>
          <a:p/>
          <a:p>
            <a:r>
              <a:t>SCENARIO / NOT OBSERVED: Prospective channels; no acquired users or CAC data</a:t>
            </a:r>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Free-first and sponsorship are proposed operating choices, not binding pricing policy. No subscriptions, grants, contracts or revenue are established. Sponsorship must not grant a sponsor care-record access. A commercial launch would require legal, tax, security, consent and service-level review.</a:t>
            </a:r>
          </a:p>
          <a:p/>
          <a:p>
            <a:r>
              <a:t>SCENARIO / NOT OBSERVED: Funding and pricing unvalidated</a:t>
            </a:r>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arithmetic only. 100×$36=$3,600 gross sponsorship; 100×$6=$600 variable; contribution=$3,000 before fixed; fixed=$2,400; remainder=$600 before excluded costs. Fixed budget is an unquoted planning placeholder for hosting/tools/testing, not a provider quote. Break-even on included costs only: $2,400/($36−$6)=80 sponsored seats. This is not full economic break-even: student labor, payment fees, taxes, devices, legal/security review and contingency are not fully costed. These seats are not the 120 retained participants in the SOM scenario; they are a separate budget example. Current revenue is not verified.</a:t>
            </a:r>
          </a:p>
          <a:p/>
          <a:p>
            <a:r>
              <a:t>SCENARIO / NOT OBSERVED: $6 variable/seat/year; $2,400 fixed/year</a:t>
            </a:r>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Source-reviewed architecture, not a completed security audit or HIPAA certification. Web React/JavaScript; iPhone Swift/SwiftUI; Android Kotlin. Apple Foundation Models, not Qwen, in current iPhone assistant. Encrypted local storage does not imply end-to-end encryption of Jitsi calls or that exports are automatically safe to send. BLE readings can fail; stale-generation rejection is an implementation detail, not clinical validation.</a:t>
            </a:r>
          </a:p>
          <a:p/>
          <a:p>
            <a:r>
              <a:t>P1 — CareSphere app source inspected at 0af7c225; build/device checks pending</a:t>
            </a:r>
          </a:p>
          <a:p>
            <a:r>
              <a:t>https://github.com/engineer2025-sudo/Care/tree/0af7c22518a7fa7d8caa3f795c9d0b022f7373a8</a:t>
            </a:r>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fabricated users, testimonials, clinical improvement or revenues. Web screenshots are not native captures. Native source availability does not prove a successful device build, HealthKit/Health Connect permission flow or app-store release. Review details and evidence limits are in STATISTICS_AND_RESEARCH.md.</a:t>
            </a:r>
          </a:p>
          <a:p/>
          <a:p>
            <a:r>
              <a:t>P1 — CareSphere app source inspected at 0af7c225; build/device checks pending</a:t>
            </a:r>
          </a:p>
          <a:p>
            <a:r>
              <a:t>https://github.com/engineer2025-sudo/Care/tree/0af7c22518a7fa7d8caa3f795c9d0b022f7373a8</a:t>
            </a:r>
          </a:p>
          <a:p>
            <a:r>
              <a:t>R1 — Ditton et al. (2025), Dementia</a:t>
            </a:r>
          </a:p>
          <a:p>
            <a:r>
              <a:t>https://doi.org/10.1177/14713012241302371</a:t>
            </a:r>
          </a:p>
          <a:p>
            <a:r>
              <a:t>R2 — Maun et al. (2024), Journal of Autism and Developmental Disorders</a:t>
            </a:r>
          </a:p>
          <a:p>
            <a:r>
              <a:t>https://doi.org/10.1007/s10803-023-06015-5</a:t>
            </a:r>
          </a:p>
          <a:p>
            <a:r>
              <a:t>R3 — Noh et al. (2025), Geriatric Nursing</a:t>
            </a:r>
          </a:p>
          <a:p>
            <a:r>
              <a:t>https://doi.org/10.1016/j.gerinurse.2025.03.042</a:t>
            </a:r>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sequence for development and validation, not a required order for app features. Shipping and platform review dates are not committed. Critical bugs and consent/security requirements take priority over calendar targets.</a:t>
            </a:r>
          </a:p>
          <a:p/>
          <a:p>
            <a:r>
              <a:t>SCENARIO / NOT OBSERVED: Timing subject to resources and testing</a:t>
            </a:r>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Additional risks include consent/capacity, data loss, unsupported devices, AI misinformation, third-party service changes and the needs of minors. Local-first design is not a substitute for a security assessment or legal advice. Do not imply clinical or regulatory clearance.</a:t>
            </a:r>
          </a:p>
          <a:p/>
          <a:p>
            <a:r>
              <a:t>SCENARIO / NOT OBSERVED: Mitigations proposed or require validation</a:t>
            </a:r>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 invited, started, activated, consented to follow-up, and retained counts separately. Missing follow-up is not evidence of benefit. Define the recruitment method and window before the pilot. Task success and usability are not clinical efficacy. With an account-free app, consented participant follow-up can be used rather than covert tracking.</a:t>
            </a:r>
          </a:p>
          <a:p/>
          <a:p>
            <a:r>
              <a:t>SCENARIO / NOT OBSERVED: Targets unvalidated; denominators must be reported</a:t>
            </a:r>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QR opens the CareSphere GitHub repository selected by the presenter, not a deployed website. No school, email or direct contact details. Feedback invitations are not formal participant enrollment or a funding offer.</a:t>
            </a:r>
          </a:p>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checked October 26, 2026. M3 is context only: 61.2M adults age 65+ is not added to caregiver totals. Maun’s journal issue is 2024, online publication 2023. Ditton’s journal issue is 2025, online 2024. Noh is 2025. Review results are not evidence that CareSphere itself improves outcomes.</a:t>
            </a:r>
          </a:p>
          <a:p/>
          <a:p>
            <a:r>
              <a:t>M1 — AARP / NAC, Caregiving in the US 2025</a:t>
            </a:r>
          </a:p>
          <a:p>
            <a:r>
              <a:t>https://www.aarp.org/pri/topics/ltss/family-caregiving/caregiving-in-the-us-2025/</a:t>
            </a:r>
          </a:p>
          <a:p>
            <a:r>
              <a:t>M2 — AARP, July 24, 2025: 59M caring for adults; 63M total</a:t>
            </a:r>
          </a:p>
          <a:p>
            <a:r>
              <a:t>https://www.aarp.org/press/releases/2025-07-24-new-report-reveals-crisis-point-for-americas-63-million-family-caregivers.html</a:t>
            </a:r>
          </a:p>
          <a:p>
            <a:r>
              <a:t>M3 — U.S. Census, Vintage 2024: 61.2M Americans age 65+</a:t>
            </a:r>
          </a:p>
          <a:p>
            <a:r>
              <a:t>https://www.census.gov/newsroom/press-releases/2025/older-adults-outnumber-children.html</a:t>
            </a:r>
          </a:p>
          <a:p>
            <a:r>
              <a:t>R1 — Ditton et al. (2025), Dementia</a:t>
            </a:r>
          </a:p>
          <a:p>
            <a:r>
              <a:t>https://doi.org/10.1177/14713012241302371</a:t>
            </a:r>
          </a:p>
          <a:p>
            <a:r>
              <a:t>R2 — Maun et al. (2024), Journal of Autism and Developmental Disorders</a:t>
            </a:r>
          </a:p>
          <a:p>
            <a:r>
              <a:t>https://doi.org/10.1007/s10803-023-06015-5</a:t>
            </a:r>
          </a:p>
          <a:p>
            <a:r>
              <a:t>R3 — Noh et al. (2025), Geriatric Nursing</a:t>
            </a:r>
          </a:p>
          <a:p>
            <a:r>
              <a:t>https://doi.org/10.1016/j.gerinurse.2025.03.042</a:t>
            </a:r>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SUPPLEMENTAL_DECK_NOTES.md for every slide’s explanation and source URLs. Competitor features are non-exhaustive and can change. Scenario inputs are recorded in SCENARIO; update chart labels and checks together when changing inputs; this is an educational planning model, not an investment solicitation.</a:t>
            </a:r>
          </a:p>
          <a:p/>
          <a:p>
            <a:r>
              <a:t>C1 — Medisafe, official app features</a:t>
            </a:r>
          </a:p>
          <a:p>
            <a:r>
              <a:t>https://medisafe.com/download-the-app</a:t>
            </a:r>
          </a:p>
          <a:p>
            <a:r>
              <a:t>C2 — CaringBridge, official platform overview</a:t>
            </a:r>
          </a:p>
          <a:p>
            <a:r>
              <a:t>https://www.caringbridge.org/</a:t>
            </a:r>
          </a:p>
          <a:p>
            <a:r>
              <a:t>C3 — Lotsa Helping Hands, official overview and care calendar</a:t>
            </a:r>
          </a:p>
          <a:p>
            <a:r>
              <a:t>https://lotsahelpinghands.com/</a:t>
            </a:r>
          </a:p>
          <a:p>
            <a:r>
              <a:t>P1 — CareSphere app source inspected at 0af7c225; build/device checks pending</a:t>
            </a:r>
          </a:p>
          <a:p>
            <a:r>
              <a:t>https://github.com/engineer2025-sudo/Care/tree/0af7c22518a7fa7d8caa3f795c9d0b022f7373a8</a:t>
            </a:r>
          </a:p>
          <a:p/>
          <a:p>
            <a:r>
              <a:t>Competitor descriptions reflect public product pages checked October 26, 2026, not hands-on benchmarking. No clinical validation, paid customers, partner contracts, or revenue is established by this deck.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18.xml"/><Relationship Id="rId6" Type="http://schemas.openxmlformats.org/officeDocument/2006/relationships/hyperlink" Target="https://github.com/engineer2025-sudo/CareSpher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Picture 1" descr="app-background.png"/>
          <p:cNvPicPr>
            <a:picLocks noChangeAspect="1"/>
          </p:cNvPicPr>
          <p:nvPr/>
        </p:nvPicPr>
        <p:blipFill>
          <a:blip r:embed="rId2"/>
          <a:stretch>
            <a:fillRect/>
          </a:stretch>
        </p:blipFill>
        <p:spPr>
          <a:xfrm>
            <a:off x="0" y="85"/>
            <a:ext cx="12191695" cy="6857828"/>
          </a:xfrm>
          <a:prstGeom prst="rect">
            <a:avLst/>
          </a:prstGeom>
        </p:spPr>
      </p:pic>
      <p:sp>
        <p:nvSpPr>
          <p:cNvPr id="3" name="TextBox 2"/>
          <p:cNvSpPr txBox="1"/>
          <p:nvPr/>
        </p:nvSpPr>
        <p:spPr>
          <a:xfrm>
            <a:off x="731520" y="932688"/>
            <a:ext cx="7315200" cy="365760"/>
          </a:xfrm>
          <a:prstGeom prst="rect">
            <a:avLst/>
          </a:prstGeom>
          <a:noFill/>
        </p:spPr>
        <p:txBody>
          <a:bodyPr wrap="square" lIns="0" rIns="0" tIns="0" bIns="0" anchor="t">
            <a:noAutofit/>
          </a:bodyPr>
          <a:lstStyle/>
          <a:p>
            <a:pPr algn="l">
              <a:lnSpc>
                <a:spcPts val="1416"/>
              </a:lnSpc>
              <a:spcBef>
                <a:spcPts val="0"/>
              </a:spcBef>
              <a:spcAft>
                <a:spcPts val="0"/>
              </a:spcAft>
              <a:buNone/>
            </a:pPr>
            <a:r>
              <a:rPr sz="1200" b="1">
                <a:solidFill>
                  <a:srgbClr val="89AA91"/>
                </a:solidFill>
                <a:latin typeface="Plus Jakarta Sans"/>
              </a:rPr>
              <a:t>CARESPHERE · BUSINESS &amp; VALIDATION APPENDIX</a:t>
            </a:r>
          </a:p>
        </p:txBody>
      </p:sp>
      <p:sp>
        <p:nvSpPr>
          <p:cNvPr id="4" name="TextBox 3"/>
          <p:cNvSpPr txBox="1"/>
          <p:nvPr/>
        </p:nvSpPr>
        <p:spPr>
          <a:xfrm>
            <a:off x="731520" y="1783080"/>
            <a:ext cx="7315200" cy="1554480"/>
          </a:xfrm>
          <a:prstGeom prst="rect">
            <a:avLst/>
          </a:prstGeom>
          <a:noFill/>
        </p:spPr>
        <p:txBody>
          <a:bodyPr wrap="square" lIns="0" rIns="0" tIns="0" bIns="0" anchor="t">
            <a:noAutofit/>
          </a:bodyPr>
          <a:lstStyle/>
          <a:p>
            <a:pPr algn="l">
              <a:lnSpc>
                <a:spcPts val="6372"/>
              </a:lnSpc>
              <a:spcBef>
                <a:spcPts val="0"/>
              </a:spcBef>
              <a:spcAft>
                <a:spcPts val="0"/>
              </a:spcAft>
              <a:buNone/>
            </a:pPr>
            <a:r>
              <a:rPr sz="5400" b="0">
                <a:solidFill>
                  <a:srgbClr val="EDF1E8"/>
                </a:solidFill>
                <a:latin typeface="Plus Jakarta Sans ExtraBold"/>
              </a:rPr>
              <a:t>Supplemental
Deck</a:t>
            </a:r>
          </a:p>
        </p:txBody>
      </p:sp>
      <p:sp>
        <p:nvSpPr>
          <p:cNvPr id="5" name="TextBox 4"/>
          <p:cNvSpPr txBox="1"/>
          <p:nvPr/>
        </p:nvSpPr>
        <p:spPr>
          <a:xfrm>
            <a:off x="731520" y="3675887"/>
            <a:ext cx="6858000" cy="548640"/>
          </a:xfrm>
          <a:prstGeom prst="rect">
            <a:avLst/>
          </a:prstGeom>
          <a:noFill/>
        </p:spPr>
        <p:txBody>
          <a:bodyPr wrap="square" lIns="0" rIns="0" tIns="0" bIns="0" anchor="t">
            <a:noAutofit/>
          </a:bodyPr>
          <a:lstStyle/>
          <a:p>
            <a:pPr algn="l">
              <a:lnSpc>
                <a:spcPts val="2713"/>
              </a:lnSpc>
              <a:spcBef>
                <a:spcPts val="0"/>
              </a:spcBef>
              <a:spcAft>
                <a:spcPts val="0"/>
              </a:spcAft>
              <a:buNone/>
            </a:pPr>
            <a:r>
              <a:rPr sz="2300" b="0">
                <a:solidFill>
                  <a:srgbClr val="89AA91"/>
                </a:solidFill>
                <a:latin typeface="Plus Jakarta Sans Medium"/>
              </a:rPr>
              <a:t>A clear opportunity. An honest starting point.</a:t>
            </a:r>
          </a:p>
        </p:txBody>
      </p:sp>
      <p:sp>
        <p:nvSpPr>
          <p:cNvPr id="6" name="TextBox 5"/>
          <p:cNvSpPr txBox="1"/>
          <p:nvPr/>
        </p:nvSpPr>
        <p:spPr>
          <a:xfrm>
            <a:off x="731520" y="4526280"/>
            <a:ext cx="6858000" cy="914400"/>
          </a:xfrm>
          <a:prstGeom prst="rect">
            <a:avLst/>
          </a:prstGeom>
          <a:noFill/>
        </p:spPr>
        <p:txBody>
          <a:bodyPr wrap="square" lIns="0" rIns="0" tIns="0" bIns="0" anchor="t">
            <a:noAutofit/>
          </a:bodyPr>
          <a:lstStyle/>
          <a:p>
            <a:pPr algn="l">
              <a:lnSpc>
                <a:spcPts val="2242"/>
              </a:lnSpc>
              <a:spcBef>
                <a:spcPts val="0"/>
              </a:spcBef>
              <a:spcAft>
                <a:spcPts val="0"/>
              </a:spcAft>
              <a:buNone/>
            </a:pPr>
            <a:r>
              <a:rPr sz="1900" b="0">
                <a:solidFill>
                  <a:srgbClr val="D5DED3"/>
                </a:solidFill>
                <a:latin typeface="Plus Jakarta Sans"/>
              </a:rPr>
              <a:t>Market sizing · Competitors · Go-to-market
Business model · Risks · Validation roadmap</a:t>
            </a:r>
          </a:p>
        </p:txBody>
      </p:sp>
      <p:sp>
        <p:nvSpPr>
          <p:cNvPr id="7" name="TextBox 6"/>
          <p:cNvSpPr txBox="1"/>
          <p:nvPr/>
        </p:nvSpPr>
        <p:spPr>
          <a:xfrm>
            <a:off x="731520" y="5989320"/>
            <a:ext cx="7315200" cy="365760"/>
          </a:xfrm>
          <a:prstGeom prst="rect">
            <a:avLst/>
          </a:prstGeom>
          <a:noFill/>
        </p:spPr>
        <p:txBody>
          <a:bodyPr wrap="square" lIns="0" rIns="0" tIns="0" bIns="0" anchor="t">
            <a:noAutofit/>
          </a:bodyPr>
          <a:lstStyle/>
          <a:p>
            <a:pPr algn="l">
              <a:lnSpc>
                <a:spcPts val="1888"/>
              </a:lnSpc>
              <a:spcBef>
                <a:spcPts val="0"/>
              </a:spcBef>
              <a:spcAft>
                <a:spcPts val="0"/>
              </a:spcAft>
              <a:buNone/>
            </a:pPr>
            <a:r>
              <a:rPr sz="1600" b="0">
                <a:solidFill>
                  <a:srgbClr val="AEBEAF"/>
                </a:solidFill>
                <a:latin typeface="Plus Jakarta Sans Medium"/>
              </a:rPr>
              <a:t>Arnav Kochar · October 26, 2026</a:t>
            </a:r>
          </a:p>
        </p:txBody>
      </p:sp>
      <p:pic>
        <p:nvPicPr>
          <p:cNvPr id="8" name="Picture 7" descr="overview.png"/>
          <p:cNvPicPr>
            <a:picLocks noChangeAspect="1"/>
          </p:cNvPicPr>
          <p:nvPr/>
        </p:nvPicPr>
        <p:blipFill>
          <a:blip r:embed="rId3"/>
          <a:stretch>
            <a:fillRect/>
          </a:stretch>
        </p:blipFill>
        <p:spPr>
          <a:xfrm rot="240000">
            <a:off x="8595360" y="987552"/>
            <a:ext cx="2746034" cy="53949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EXECUTIVE SNAPSHOT</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Daily support, without a care-data feed.</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A local-first companion—not a replacement for clinicians or care teams.</a:t>
            </a:r>
          </a:p>
        </p:txBody>
      </p:sp>
      <p:sp>
        <p:nvSpPr>
          <p:cNvPr id="7" name="Rounded Rectangle 6"/>
          <p:cNvSpPr/>
          <p:nvPr/>
        </p:nvSpPr>
        <p:spPr>
          <a:xfrm>
            <a:off x="731520"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41832"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THE NEED</a:t>
            </a:r>
          </a:p>
        </p:txBody>
      </p:sp>
      <p:sp>
        <p:nvSpPr>
          <p:cNvPr id="9" name="TextBox 8"/>
          <p:cNvSpPr txBox="1"/>
          <p:nvPr/>
        </p:nvSpPr>
        <p:spPr>
          <a:xfrm>
            <a:off x="941832"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Less fragmentation</a:t>
            </a:r>
          </a:p>
        </p:txBody>
      </p:sp>
      <p:sp>
        <p:nvSpPr>
          <p:cNvPr id="10" name="TextBox 9"/>
          <p:cNvSpPr txBox="1"/>
          <p:nvPr/>
        </p:nvSpPr>
        <p:spPr>
          <a:xfrm>
            <a:off x="941832"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Routines, calming activities, notes and visit preparation can be scattered across different tools.</a:t>
            </a:r>
          </a:p>
        </p:txBody>
      </p:sp>
      <p:sp>
        <p:nvSpPr>
          <p:cNvPr id="11" name="Rounded Rectangle 10"/>
          <p:cNvSpPr/>
          <p:nvPr/>
        </p:nvSpPr>
        <p:spPr>
          <a:xfrm>
            <a:off x="4383938"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94250"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THE PRODUCT</a:t>
            </a:r>
          </a:p>
        </p:txBody>
      </p:sp>
      <p:sp>
        <p:nvSpPr>
          <p:cNvPr id="13" name="TextBox 12"/>
          <p:cNvSpPr txBox="1"/>
          <p:nvPr/>
        </p:nvSpPr>
        <p:spPr>
          <a:xfrm>
            <a:off x="4594250"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Choice and control</a:t>
            </a:r>
          </a:p>
        </p:txBody>
      </p:sp>
      <p:sp>
        <p:nvSpPr>
          <p:cNvPr id="14" name="TextBox 13"/>
          <p:cNvSpPr txBox="1"/>
          <p:nvPr/>
        </p:nvSpPr>
        <p:spPr>
          <a:xfrm>
            <a:off x="4594250"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Bring useful daily tools into one adjustable experience. Core features do not require an account.</a:t>
            </a:r>
          </a:p>
        </p:txBody>
      </p:sp>
      <p:sp>
        <p:nvSpPr>
          <p:cNvPr id="15" name="Rounded Rectangle 14"/>
          <p:cNvSpPr/>
          <p:nvPr/>
        </p:nvSpPr>
        <p:spPr>
          <a:xfrm>
            <a:off x="8036356"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46668"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THE NEXT TEST</a:t>
            </a:r>
          </a:p>
        </p:txBody>
      </p:sp>
      <p:sp>
        <p:nvSpPr>
          <p:cNvPr id="17" name="TextBox 16"/>
          <p:cNvSpPr txBox="1"/>
          <p:nvPr/>
        </p:nvSpPr>
        <p:spPr>
          <a:xfrm>
            <a:off x="8246668"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Prove usability</a:t>
            </a:r>
          </a:p>
        </p:txBody>
      </p:sp>
      <p:sp>
        <p:nvSpPr>
          <p:cNvPr id="18" name="TextBox 17"/>
          <p:cNvSpPr txBox="1"/>
          <p:nvPr/>
        </p:nvSpPr>
        <p:spPr>
          <a:xfrm>
            <a:off x="8246668"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Start with voluntary caregiver-led pilots. Validate accessibility, repeat use and willingness to support the service.</a:t>
            </a:r>
          </a:p>
        </p:txBody>
      </p:sp>
      <p:sp>
        <p:nvSpPr>
          <p:cNvPr id="19" name="TextBox 18"/>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Sources: P1</a:t>
            </a:r>
          </a:p>
        </p:txBody>
      </p:sp>
      <p:sp>
        <p:nvSpPr>
          <p:cNvPr id="20" name="TextBox 19"/>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02</a:t>
            </a:r>
          </a:p>
        </p:txBody>
      </p:sp>
      <p:pic>
        <p:nvPicPr>
          <p:cNvPr id="21" name="Picture 20"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2" name="TextBox 21"/>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MARKET CONTEXT</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Family caregiving is already widespread.</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U.S. family caregivers of adults or children with medical conditions or disabilities.</a:t>
            </a:r>
          </a:p>
        </p:txBody>
      </p:sp>
      <p:sp>
        <p:nvSpPr>
          <p:cNvPr id="7" name="TextBox 6"/>
          <p:cNvSpPr txBox="1"/>
          <p:nvPr/>
        </p:nvSpPr>
        <p:spPr>
          <a:xfrm>
            <a:off x="731520" y="2514600"/>
            <a:ext cx="1901952" cy="365760"/>
          </a:xfrm>
          <a:prstGeom prst="rect">
            <a:avLst/>
          </a:prstGeom>
          <a:noFill/>
        </p:spPr>
        <p:txBody>
          <a:bodyPr wrap="square" lIns="0" rIns="0" tIns="0" bIns="0" anchor="t">
            <a:noAutofit/>
          </a:bodyPr>
          <a:lstStyle/>
          <a:p>
            <a:pPr algn="l">
              <a:lnSpc>
                <a:spcPts val="2242"/>
              </a:lnSpc>
              <a:spcBef>
                <a:spcPts val="0"/>
              </a:spcBef>
              <a:spcAft>
                <a:spcPts val="0"/>
              </a:spcAft>
              <a:buNone/>
            </a:pPr>
            <a:r>
              <a:rPr sz="1900" b="0">
                <a:solidFill>
                  <a:srgbClr val="EDF1E8"/>
                </a:solidFill>
                <a:latin typeface="Plus Jakarta Sans Medium"/>
              </a:rPr>
              <a:t>2015</a:t>
            </a:r>
          </a:p>
        </p:txBody>
      </p:sp>
      <p:sp>
        <p:nvSpPr>
          <p:cNvPr id="8" name="Rounded Rectangle 7"/>
          <p:cNvSpPr/>
          <p:nvPr/>
        </p:nvSpPr>
        <p:spPr>
          <a:xfrm>
            <a:off x="2788920" y="2487168"/>
            <a:ext cx="6995160" cy="420624"/>
          </a:xfrm>
          <a:prstGeom prst="roundRect">
            <a:avLst>
              <a:gd name="adj" fmla="val 17391"/>
            </a:avLst>
          </a:prstGeom>
          <a:solidFill>
            <a:srgbClr val="3D514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2788920" y="2487168"/>
            <a:ext cx="4829991" cy="420624"/>
          </a:xfrm>
          <a:prstGeom prst="roundRect">
            <a:avLst>
              <a:gd name="adj" fmla="val 17391"/>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40112" y="2478024"/>
            <a:ext cx="1371600" cy="457200"/>
          </a:xfrm>
          <a:prstGeom prst="rect">
            <a:avLst/>
          </a:prstGeom>
          <a:noFill/>
        </p:spPr>
        <p:txBody>
          <a:bodyPr wrap="square" lIns="0" rIns="0" tIns="0" bIns="0" anchor="t">
            <a:noAutofit/>
          </a:bodyPr>
          <a:lstStyle/>
          <a:p>
            <a:pPr algn="l">
              <a:lnSpc>
                <a:spcPts val="2713"/>
              </a:lnSpc>
              <a:spcBef>
                <a:spcPts val="0"/>
              </a:spcBef>
              <a:spcAft>
                <a:spcPts val="0"/>
              </a:spcAft>
              <a:buNone/>
            </a:pPr>
            <a:r>
              <a:rPr sz="2300" b="1">
                <a:solidFill>
                  <a:srgbClr val="EDF1E8"/>
                </a:solidFill>
                <a:latin typeface="Plus Jakarta Sans"/>
              </a:rPr>
              <a:t>43.5M</a:t>
            </a:r>
          </a:p>
        </p:txBody>
      </p:sp>
      <p:sp>
        <p:nvSpPr>
          <p:cNvPr id="11" name="TextBox 10"/>
          <p:cNvSpPr txBox="1"/>
          <p:nvPr/>
        </p:nvSpPr>
        <p:spPr>
          <a:xfrm>
            <a:off x="731520" y="3474720"/>
            <a:ext cx="1901952" cy="365760"/>
          </a:xfrm>
          <a:prstGeom prst="rect">
            <a:avLst/>
          </a:prstGeom>
          <a:noFill/>
        </p:spPr>
        <p:txBody>
          <a:bodyPr wrap="square" lIns="0" rIns="0" tIns="0" bIns="0" anchor="t">
            <a:noAutofit/>
          </a:bodyPr>
          <a:lstStyle/>
          <a:p>
            <a:pPr algn="l">
              <a:lnSpc>
                <a:spcPts val="2242"/>
              </a:lnSpc>
              <a:spcBef>
                <a:spcPts val="0"/>
              </a:spcBef>
              <a:spcAft>
                <a:spcPts val="0"/>
              </a:spcAft>
              <a:buNone/>
            </a:pPr>
            <a:r>
              <a:rPr sz="1900" b="0">
                <a:solidFill>
                  <a:srgbClr val="EDF1E8"/>
                </a:solidFill>
                <a:latin typeface="Plus Jakarta Sans Medium"/>
              </a:rPr>
              <a:t>2020</a:t>
            </a:r>
          </a:p>
        </p:txBody>
      </p:sp>
      <p:sp>
        <p:nvSpPr>
          <p:cNvPr id="12" name="Rounded Rectangle 11"/>
          <p:cNvSpPr/>
          <p:nvPr/>
        </p:nvSpPr>
        <p:spPr>
          <a:xfrm>
            <a:off x="2788920" y="3447288"/>
            <a:ext cx="6995160" cy="420624"/>
          </a:xfrm>
          <a:prstGeom prst="roundRect">
            <a:avLst>
              <a:gd name="adj" fmla="val 17391"/>
            </a:avLst>
          </a:prstGeom>
          <a:solidFill>
            <a:srgbClr val="3D514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2788920" y="3447288"/>
            <a:ext cx="5884817" cy="420624"/>
          </a:xfrm>
          <a:prstGeom prst="roundRect">
            <a:avLst>
              <a:gd name="adj" fmla="val 17391"/>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040112" y="3438144"/>
            <a:ext cx="1371600" cy="457200"/>
          </a:xfrm>
          <a:prstGeom prst="rect">
            <a:avLst/>
          </a:prstGeom>
          <a:noFill/>
        </p:spPr>
        <p:txBody>
          <a:bodyPr wrap="square" lIns="0" rIns="0" tIns="0" bIns="0" anchor="t">
            <a:noAutofit/>
          </a:bodyPr>
          <a:lstStyle/>
          <a:p>
            <a:pPr algn="l">
              <a:lnSpc>
                <a:spcPts val="2713"/>
              </a:lnSpc>
              <a:spcBef>
                <a:spcPts val="0"/>
              </a:spcBef>
              <a:spcAft>
                <a:spcPts val="0"/>
              </a:spcAft>
              <a:buNone/>
            </a:pPr>
            <a:r>
              <a:rPr sz="2300" b="1">
                <a:solidFill>
                  <a:srgbClr val="EDF1E8"/>
                </a:solidFill>
                <a:latin typeface="Plus Jakarta Sans"/>
              </a:rPr>
              <a:t>53M</a:t>
            </a:r>
          </a:p>
        </p:txBody>
      </p:sp>
      <p:sp>
        <p:nvSpPr>
          <p:cNvPr id="15" name="TextBox 14"/>
          <p:cNvSpPr txBox="1"/>
          <p:nvPr/>
        </p:nvSpPr>
        <p:spPr>
          <a:xfrm>
            <a:off x="731520" y="4434840"/>
            <a:ext cx="1901952" cy="365760"/>
          </a:xfrm>
          <a:prstGeom prst="rect">
            <a:avLst/>
          </a:prstGeom>
          <a:noFill/>
        </p:spPr>
        <p:txBody>
          <a:bodyPr wrap="square" lIns="0" rIns="0" tIns="0" bIns="0" anchor="t">
            <a:noAutofit/>
          </a:bodyPr>
          <a:lstStyle/>
          <a:p>
            <a:pPr algn="l">
              <a:lnSpc>
                <a:spcPts val="2242"/>
              </a:lnSpc>
              <a:spcBef>
                <a:spcPts val="0"/>
              </a:spcBef>
              <a:spcAft>
                <a:spcPts val="0"/>
              </a:spcAft>
              <a:buNone/>
            </a:pPr>
            <a:r>
              <a:rPr sz="1900" b="0">
                <a:solidFill>
                  <a:srgbClr val="EDF1E8"/>
                </a:solidFill>
                <a:latin typeface="Plus Jakarta Sans Medium"/>
              </a:rPr>
              <a:t>2025</a:t>
            </a:r>
          </a:p>
        </p:txBody>
      </p:sp>
      <p:sp>
        <p:nvSpPr>
          <p:cNvPr id="16" name="Rounded Rectangle 15"/>
          <p:cNvSpPr/>
          <p:nvPr/>
        </p:nvSpPr>
        <p:spPr>
          <a:xfrm>
            <a:off x="2788920" y="4407408"/>
            <a:ext cx="6995160" cy="420624"/>
          </a:xfrm>
          <a:prstGeom prst="roundRect">
            <a:avLst>
              <a:gd name="adj" fmla="val 17391"/>
            </a:avLst>
          </a:prstGeom>
          <a:solidFill>
            <a:srgbClr val="3D514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2788920" y="4407408"/>
            <a:ext cx="6995160" cy="420624"/>
          </a:xfrm>
          <a:prstGeom prst="roundRect">
            <a:avLst>
              <a:gd name="adj" fmla="val 17391"/>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040112" y="4398264"/>
            <a:ext cx="1371600" cy="457200"/>
          </a:xfrm>
          <a:prstGeom prst="rect">
            <a:avLst/>
          </a:prstGeom>
          <a:noFill/>
        </p:spPr>
        <p:txBody>
          <a:bodyPr wrap="square" lIns="0" rIns="0" tIns="0" bIns="0" anchor="t">
            <a:noAutofit/>
          </a:bodyPr>
          <a:lstStyle/>
          <a:p>
            <a:pPr algn="l">
              <a:lnSpc>
                <a:spcPts val="2713"/>
              </a:lnSpc>
              <a:spcBef>
                <a:spcPts val="0"/>
              </a:spcBef>
              <a:spcAft>
                <a:spcPts val="0"/>
              </a:spcAft>
              <a:buNone/>
            </a:pPr>
            <a:r>
              <a:rPr sz="2300" b="1">
                <a:solidFill>
                  <a:srgbClr val="EDF1E8"/>
                </a:solidFill>
                <a:latin typeface="Plus Jakarta Sans"/>
              </a:rPr>
              <a:t>63M</a:t>
            </a:r>
          </a:p>
        </p:txBody>
      </p:sp>
      <p:sp>
        <p:nvSpPr>
          <p:cNvPr id="19" name="TextBox 18"/>
          <p:cNvSpPr txBox="1"/>
          <p:nvPr/>
        </p:nvSpPr>
        <p:spPr>
          <a:xfrm>
            <a:off x="731520" y="5559552"/>
            <a:ext cx="10728655" cy="411480"/>
          </a:xfrm>
          <a:prstGeom prst="rect">
            <a:avLst/>
          </a:prstGeom>
          <a:noFill/>
        </p:spPr>
        <p:txBody>
          <a:bodyPr wrap="square" lIns="0" rIns="0" tIns="0" bIns="0" anchor="t">
            <a:noAutofit/>
          </a:bodyPr>
          <a:lstStyle/>
          <a:p>
            <a:pPr algn="l">
              <a:lnSpc>
                <a:spcPts val="1770"/>
              </a:lnSpc>
              <a:spcBef>
                <a:spcPts val="0"/>
              </a:spcBef>
              <a:spcAft>
                <a:spcPts val="0"/>
              </a:spcAft>
              <a:buNone/>
            </a:pPr>
            <a:r>
              <a:rPr sz="1500" b="0">
                <a:solidFill>
                  <a:srgbClr val="AEBEAF"/>
                </a:solidFill>
                <a:latin typeface="Plus Jakarta Sans"/>
              </a:rPr>
              <a:t>Published survey estimates—not app users, purchasers, or a forecast. Do not add overlapping audiences.</a:t>
            </a:r>
          </a:p>
        </p:txBody>
      </p:sp>
      <p:sp>
        <p:nvSpPr>
          <p:cNvPr id="20" name="TextBox 19"/>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Sources: M1</a:t>
            </a:r>
          </a:p>
        </p:txBody>
      </p:sp>
      <p:sp>
        <p:nvSpPr>
          <p:cNvPr id="21" name="TextBox 20"/>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03</a:t>
            </a:r>
          </a:p>
        </p:txBody>
      </p:sp>
      <p:pic>
        <p:nvPicPr>
          <p:cNvPr id="22" name="Picture 21"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3" name="TextBox 22"/>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CUSTOMERS AND USERS</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Start narrow. Keep the broader mission.</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The beneficiary, the person choosing the app, and a possible sponsor may differ.</a:t>
            </a:r>
          </a:p>
        </p:txBody>
      </p:sp>
      <p:sp>
        <p:nvSpPr>
          <p:cNvPr id="7" name="Rounded Rectangle 6"/>
          <p:cNvSpPr/>
          <p:nvPr/>
        </p:nvSpPr>
        <p:spPr>
          <a:xfrm>
            <a:off x="731520"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41832"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INITIAL USER HYPOTHESIS</a:t>
            </a:r>
          </a:p>
        </p:txBody>
      </p:sp>
      <p:sp>
        <p:nvSpPr>
          <p:cNvPr id="9" name="TextBox 8"/>
          <p:cNvSpPr txBox="1"/>
          <p:nvPr/>
        </p:nvSpPr>
        <p:spPr>
          <a:xfrm>
            <a:off x="941832"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Caregiver-led use</a:t>
            </a:r>
          </a:p>
        </p:txBody>
      </p:sp>
      <p:sp>
        <p:nvSpPr>
          <p:cNvPr id="10" name="TextBox 9"/>
          <p:cNvSpPr txBox="1"/>
          <p:nvPr/>
        </p:nvSpPr>
        <p:spPr>
          <a:xfrm>
            <a:off x="941832"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Adults supporting an older family member who wants simple routines, notes and visit preparation.</a:t>
            </a:r>
          </a:p>
        </p:txBody>
      </p:sp>
      <p:sp>
        <p:nvSpPr>
          <p:cNvPr id="11" name="Rounded Rectangle 10"/>
          <p:cNvSpPr/>
          <p:nvPr/>
        </p:nvSpPr>
        <p:spPr>
          <a:xfrm>
            <a:off x="4383938"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94250"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PEOPLE WE DESIGN FOR</a:t>
            </a:r>
          </a:p>
        </p:txBody>
      </p:sp>
      <p:sp>
        <p:nvSpPr>
          <p:cNvPr id="13" name="TextBox 12"/>
          <p:cNvSpPr txBox="1"/>
          <p:nvPr/>
        </p:nvSpPr>
        <p:spPr>
          <a:xfrm>
            <a:off x="4594250"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Different needs</a:t>
            </a:r>
          </a:p>
        </p:txBody>
      </p:sp>
      <p:sp>
        <p:nvSpPr>
          <p:cNvPr id="14" name="TextBox 13"/>
          <p:cNvSpPr txBox="1"/>
          <p:nvPr/>
        </p:nvSpPr>
        <p:spPr>
          <a:xfrm>
            <a:off x="4594250"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Older adults, people living with dementia and autistic people. Do not assume every person needs a caregiver.</a:t>
            </a:r>
          </a:p>
        </p:txBody>
      </p:sp>
      <p:sp>
        <p:nvSpPr>
          <p:cNvPr id="15" name="Rounded Rectangle 14"/>
          <p:cNvSpPr/>
          <p:nvPr/>
        </p:nvSpPr>
        <p:spPr>
          <a:xfrm>
            <a:off x="8036356"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46668"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POTENTIAL SUPPORTER</a:t>
            </a:r>
          </a:p>
        </p:txBody>
      </p:sp>
      <p:sp>
        <p:nvSpPr>
          <p:cNvPr id="17" name="TextBox 16"/>
          <p:cNvSpPr txBox="1"/>
          <p:nvPr/>
        </p:nvSpPr>
        <p:spPr>
          <a:xfrm>
            <a:off x="8246668"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Community sponsors</a:t>
            </a:r>
          </a:p>
        </p:txBody>
      </p:sp>
      <p:sp>
        <p:nvSpPr>
          <p:cNvPr id="18" name="TextBox 17"/>
          <p:cNvSpPr txBox="1"/>
          <p:nvPr/>
        </p:nvSpPr>
        <p:spPr>
          <a:xfrm>
            <a:off x="8246668"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Aging services and community organizations could support onboarding or access. No partnerships or sales are claimed.</a:t>
            </a:r>
          </a:p>
        </p:txBody>
      </p:sp>
      <p:sp>
        <p:nvSpPr>
          <p:cNvPr id="19" name="TextBox 18"/>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Sources: P1  |  Segments and buyer roles are hypotheses</a:t>
            </a:r>
          </a:p>
        </p:txBody>
      </p:sp>
      <p:sp>
        <p:nvSpPr>
          <p:cNvPr id="20" name="TextBox 19"/>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04</a:t>
            </a:r>
          </a:p>
        </p:txBody>
      </p:sp>
      <p:pic>
        <p:nvPicPr>
          <p:cNvPr id="21" name="Picture 20"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2" name="TextBox 21"/>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TAM · SAM · SOM</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A practical starting point for market sizing.</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U.S. caregiver participants; TAM is an audience ceiling, not demonstrated demand.</a:t>
            </a:r>
          </a:p>
        </p:txBody>
      </p:sp>
      <p:sp>
        <p:nvSpPr>
          <p:cNvPr id="7" name="Rounded Rectangle 6"/>
          <p:cNvSpPr/>
          <p:nvPr/>
        </p:nvSpPr>
        <p:spPr>
          <a:xfrm>
            <a:off x="731520"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41832"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TAM · TOTAL ADDRESSABLE MARKET</a:t>
            </a:r>
          </a:p>
        </p:txBody>
      </p:sp>
      <p:sp>
        <p:nvSpPr>
          <p:cNvPr id="9" name="TextBox 8"/>
          <p:cNvSpPr txBox="1"/>
          <p:nvPr/>
        </p:nvSpPr>
        <p:spPr>
          <a:xfrm>
            <a:off x="941832" y="3035808"/>
            <a:ext cx="3003194" cy="731520"/>
          </a:xfrm>
          <a:prstGeom prst="rect">
            <a:avLst/>
          </a:prstGeom>
          <a:noFill/>
        </p:spPr>
        <p:txBody>
          <a:bodyPr wrap="square" lIns="0" rIns="0" tIns="0" bIns="0" anchor="t">
            <a:noAutofit/>
          </a:bodyPr>
          <a:lstStyle/>
          <a:p>
            <a:pPr algn="l">
              <a:lnSpc>
                <a:spcPts val="5427"/>
              </a:lnSpc>
              <a:spcBef>
                <a:spcPts val="0"/>
              </a:spcBef>
              <a:spcAft>
                <a:spcPts val="0"/>
              </a:spcAft>
              <a:buNone/>
            </a:pPr>
            <a:r>
              <a:rPr sz="4600" b="1">
                <a:solidFill>
                  <a:srgbClr val="EDF1E8"/>
                </a:solidFill>
                <a:latin typeface="Plus Jakarta Sans"/>
              </a:rPr>
              <a:t>59M</a:t>
            </a:r>
          </a:p>
        </p:txBody>
      </p:sp>
      <p:sp>
        <p:nvSpPr>
          <p:cNvPr id="10" name="TextBox 9"/>
          <p:cNvSpPr txBox="1"/>
          <p:nvPr/>
        </p:nvSpPr>
        <p:spPr>
          <a:xfrm>
            <a:off x="941832"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U.S. caregivers supporting adults, 2025. A broad starting population—not all addressable or likely to adopt.</a:t>
            </a:r>
          </a:p>
        </p:txBody>
      </p:sp>
      <p:sp>
        <p:nvSpPr>
          <p:cNvPr id="11" name="Rounded Rectangle 10"/>
          <p:cNvSpPr/>
          <p:nvPr/>
        </p:nvSpPr>
        <p:spPr>
          <a:xfrm>
            <a:off x="4383938"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94250"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SAM · SERVICEABLE AVAILABLE MARKET</a:t>
            </a:r>
          </a:p>
        </p:txBody>
      </p:sp>
      <p:sp>
        <p:nvSpPr>
          <p:cNvPr id="13" name="TextBox 12"/>
          <p:cNvSpPr txBox="1"/>
          <p:nvPr/>
        </p:nvSpPr>
        <p:spPr>
          <a:xfrm>
            <a:off x="4594250" y="3035808"/>
            <a:ext cx="3003194" cy="731520"/>
          </a:xfrm>
          <a:prstGeom prst="rect">
            <a:avLst/>
          </a:prstGeom>
          <a:noFill/>
        </p:spPr>
        <p:txBody>
          <a:bodyPr wrap="square" lIns="0" rIns="0" tIns="0" bIns="0" anchor="t">
            <a:noAutofit/>
          </a:bodyPr>
          <a:lstStyle/>
          <a:p>
            <a:pPr algn="l">
              <a:lnSpc>
                <a:spcPts val="5427"/>
              </a:lnSpc>
              <a:spcBef>
                <a:spcPts val="0"/>
              </a:spcBef>
              <a:spcAft>
                <a:spcPts val="0"/>
              </a:spcAft>
              <a:buNone/>
            </a:pPr>
            <a:r>
              <a:rPr sz="4600" b="1">
                <a:solidFill>
                  <a:srgbClr val="EDF1E8"/>
                </a:solidFill>
                <a:latin typeface="Plus Jakarta Sans"/>
              </a:rPr>
              <a:t>2.95M</a:t>
            </a:r>
          </a:p>
        </p:txBody>
      </p:sp>
      <p:sp>
        <p:nvSpPr>
          <p:cNvPr id="14" name="TextBox 13"/>
          <p:cNvSpPr txBox="1"/>
          <p:nvPr/>
        </p:nvSpPr>
        <p:spPr>
          <a:xfrm>
            <a:off x="4594250"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59M × an assumed 5% fit for language, access, needs and willingness. This filter has not been measured.</a:t>
            </a:r>
          </a:p>
        </p:txBody>
      </p:sp>
      <p:sp>
        <p:nvSpPr>
          <p:cNvPr id="15" name="Rounded Rectangle 14"/>
          <p:cNvSpPr/>
          <p:nvPr/>
        </p:nvSpPr>
        <p:spPr>
          <a:xfrm>
            <a:off x="8036356"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46668" y="2542032"/>
            <a:ext cx="3003194" cy="292608"/>
          </a:xfrm>
          <a:prstGeom prst="rect">
            <a:avLst/>
          </a:prstGeom>
          <a:noFill/>
        </p:spPr>
        <p:txBody>
          <a:bodyPr wrap="square" lIns="0" rIns="0" tIns="0" bIns="0" anchor="t">
            <a:noAutofit/>
          </a:bodyPr>
          <a:lstStyle/>
          <a:p>
            <a:pPr algn="l">
              <a:lnSpc>
                <a:spcPts val="1246"/>
              </a:lnSpc>
              <a:spcBef>
                <a:spcPts val="0"/>
              </a:spcBef>
              <a:spcAft>
                <a:spcPts val="0"/>
              </a:spcAft>
              <a:buNone/>
            </a:pPr>
            <a:r>
              <a:rPr sz="1050" b="1">
                <a:solidFill>
                  <a:srgbClr val="89AA91"/>
                </a:solidFill>
                <a:latin typeface="Plus Jakarta Sans"/>
              </a:rPr>
              <a:t>SOM · SERVICEABLE OBTAINABLE MARKET</a:t>
            </a:r>
          </a:p>
        </p:txBody>
      </p:sp>
      <p:sp>
        <p:nvSpPr>
          <p:cNvPr id="17" name="TextBox 16"/>
          <p:cNvSpPr txBox="1"/>
          <p:nvPr/>
        </p:nvSpPr>
        <p:spPr>
          <a:xfrm>
            <a:off x="8246668" y="3035808"/>
            <a:ext cx="3003194" cy="731520"/>
          </a:xfrm>
          <a:prstGeom prst="rect">
            <a:avLst/>
          </a:prstGeom>
          <a:noFill/>
        </p:spPr>
        <p:txBody>
          <a:bodyPr wrap="square" lIns="0" rIns="0" tIns="0" bIns="0" anchor="t">
            <a:noAutofit/>
          </a:bodyPr>
          <a:lstStyle/>
          <a:p>
            <a:pPr algn="l">
              <a:lnSpc>
                <a:spcPts val="5427"/>
              </a:lnSpc>
              <a:spcBef>
                <a:spcPts val="0"/>
              </a:spcBef>
              <a:spcAft>
                <a:spcPts val="0"/>
              </a:spcAft>
              <a:buNone/>
            </a:pPr>
            <a:r>
              <a:rPr sz="4600" b="1">
                <a:solidFill>
                  <a:srgbClr val="EDF1E8"/>
                </a:solidFill>
                <a:latin typeface="Plus Jakarta Sans"/>
              </a:rPr>
              <a:t>120</a:t>
            </a:r>
          </a:p>
        </p:txBody>
      </p:sp>
      <p:sp>
        <p:nvSpPr>
          <p:cNvPr id="18" name="TextBox 17"/>
          <p:cNvSpPr txBox="1"/>
          <p:nvPr/>
        </p:nvSpPr>
        <p:spPr>
          <a:xfrm>
            <a:off x="8246668"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12 potential partners × 100 invites × 25% activation × 40% 90-day retention. A 24-month target, not traction.</a:t>
            </a:r>
          </a:p>
        </p:txBody>
      </p:sp>
      <p:sp>
        <p:nvSpPr>
          <p:cNvPr id="19" name="TextBox 18"/>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Sources: M2  |  SAM/SOM hypothetical; cards not to scale</a:t>
            </a:r>
          </a:p>
        </p:txBody>
      </p:sp>
      <p:sp>
        <p:nvSpPr>
          <p:cNvPr id="20" name="TextBox 19"/>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05</a:t>
            </a:r>
          </a:p>
        </p:txBody>
      </p:sp>
      <p:pic>
        <p:nvPicPr>
          <p:cNvPr id="21" name="Picture 20"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2" name="TextBox 21"/>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MARKET SENSITIVITY</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The serviceable share is still an assumption.</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Change the assumed fit—not the published 59M caregiver baseline.</a:t>
            </a:r>
          </a:p>
        </p:txBody>
      </p:sp>
      <p:sp>
        <p:nvSpPr>
          <p:cNvPr id="7" name="TextBox 6"/>
          <p:cNvSpPr txBox="1"/>
          <p:nvPr/>
        </p:nvSpPr>
        <p:spPr>
          <a:xfrm>
            <a:off x="731520" y="2514600"/>
            <a:ext cx="1901952" cy="365760"/>
          </a:xfrm>
          <a:prstGeom prst="rect">
            <a:avLst/>
          </a:prstGeom>
          <a:noFill/>
        </p:spPr>
        <p:txBody>
          <a:bodyPr wrap="square" lIns="0" rIns="0" tIns="0" bIns="0" anchor="t">
            <a:noAutofit/>
          </a:bodyPr>
          <a:lstStyle/>
          <a:p>
            <a:pPr algn="l">
              <a:lnSpc>
                <a:spcPts val="2242"/>
              </a:lnSpc>
              <a:spcBef>
                <a:spcPts val="0"/>
              </a:spcBef>
              <a:spcAft>
                <a:spcPts val="0"/>
              </a:spcAft>
              <a:buNone/>
            </a:pPr>
            <a:r>
              <a:rPr sz="1900" b="0">
                <a:solidFill>
                  <a:srgbClr val="EDF1E8"/>
                </a:solidFill>
                <a:latin typeface="Plus Jakarta Sans Medium"/>
              </a:rPr>
              <a:t>1% assumed fit</a:t>
            </a:r>
          </a:p>
        </p:txBody>
      </p:sp>
      <p:sp>
        <p:nvSpPr>
          <p:cNvPr id="8" name="Rounded Rectangle 7"/>
          <p:cNvSpPr/>
          <p:nvPr/>
        </p:nvSpPr>
        <p:spPr>
          <a:xfrm>
            <a:off x="2788920" y="2487168"/>
            <a:ext cx="6995160" cy="420624"/>
          </a:xfrm>
          <a:prstGeom prst="roundRect">
            <a:avLst>
              <a:gd name="adj" fmla="val 17391"/>
            </a:avLst>
          </a:prstGeom>
          <a:solidFill>
            <a:srgbClr val="3D514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2788920" y="2487168"/>
            <a:ext cx="699515" cy="420624"/>
          </a:xfrm>
          <a:prstGeom prst="roundRect">
            <a:avLst>
              <a:gd name="adj" fmla="val 17391"/>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40112" y="2478024"/>
            <a:ext cx="1371600" cy="457200"/>
          </a:xfrm>
          <a:prstGeom prst="rect">
            <a:avLst/>
          </a:prstGeom>
          <a:noFill/>
        </p:spPr>
        <p:txBody>
          <a:bodyPr wrap="square" lIns="0" rIns="0" tIns="0" bIns="0" anchor="t">
            <a:noAutofit/>
          </a:bodyPr>
          <a:lstStyle/>
          <a:p>
            <a:pPr algn="l">
              <a:lnSpc>
                <a:spcPts val="2713"/>
              </a:lnSpc>
              <a:spcBef>
                <a:spcPts val="0"/>
              </a:spcBef>
              <a:spcAft>
                <a:spcPts val="0"/>
              </a:spcAft>
              <a:buNone/>
            </a:pPr>
            <a:r>
              <a:rPr sz="2300" b="1">
                <a:solidFill>
                  <a:srgbClr val="EDF1E8"/>
                </a:solidFill>
                <a:latin typeface="Plus Jakarta Sans"/>
              </a:rPr>
              <a:t>0.59M</a:t>
            </a:r>
          </a:p>
        </p:txBody>
      </p:sp>
      <p:sp>
        <p:nvSpPr>
          <p:cNvPr id="11" name="TextBox 10"/>
          <p:cNvSpPr txBox="1"/>
          <p:nvPr/>
        </p:nvSpPr>
        <p:spPr>
          <a:xfrm>
            <a:off x="731520" y="3474720"/>
            <a:ext cx="1901952" cy="365760"/>
          </a:xfrm>
          <a:prstGeom prst="rect">
            <a:avLst/>
          </a:prstGeom>
          <a:noFill/>
        </p:spPr>
        <p:txBody>
          <a:bodyPr wrap="square" lIns="0" rIns="0" tIns="0" bIns="0" anchor="t">
            <a:noAutofit/>
          </a:bodyPr>
          <a:lstStyle/>
          <a:p>
            <a:pPr algn="l">
              <a:lnSpc>
                <a:spcPts val="2242"/>
              </a:lnSpc>
              <a:spcBef>
                <a:spcPts val="0"/>
              </a:spcBef>
              <a:spcAft>
                <a:spcPts val="0"/>
              </a:spcAft>
              <a:buNone/>
            </a:pPr>
            <a:r>
              <a:rPr sz="1900" b="0">
                <a:solidFill>
                  <a:srgbClr val="EDF1E8"/>
                </a:solidFill>
                <a:latin typeface="Plus Jakarta Sans Medium"/>
              </a:rPr>
              <a:t>5% base case</a:t>
            </a:r>
          </a:p>
        </p:txBody>
      </p:sp>
      <p:sp>
        <p:nvSpPr>
          <p:cNvPr id="12" name="Rounded Rectangle 11"/>
          <p:cNvSpPr/>
          <p:nvPr/>
        </p:nvSpPr>
        <p:spPr>
          <a:xfrm>
            <a:off x="2788920" y="3447288"/>
            <a:ext cx="6995160" cy="420624"/>
          </a:xfrm>
          <a:prstGeom prst="roundRect">
            <a:avLst>
              <a:gd name="adj" fmla="val 17391"/>
            </a:avLst>
          </a:prstGeom>
          <a:solidFill>
            <a:srgbClr val="3D514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2788920" y="3447288"/>
            <a:ext cx="3497580" cy="420624"/>
          </a:xfrm>
          <a:prstGeom prst="roundRect">
            <a:avLst>
              <a:gd name="adj" fmla="val 17391"/>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040112" y="3438144"/>
            <a:ext cx="1371600" cy="457200"/>
          </a:xfrm>
          <a:prstGeom prst="rect">
            <a:avLst/>
          </a:prstGeom>
          <a:noFill/>
        </p:spPr>
        <p:txBody>
          <a:bodyPr wrap="square" lIns="0" rIns="0" tIns="0" bIns="0" anchor="t">
            <a:noAutofit/>
          </a:bodyPr>
          <a:lstStyle/>
          <a:p>
            <a:pPr algn="l">
              <a:lnSpc>
                <a:spcPts val="2713"/>
              </a:lnSpc>
              <a:spcBef>
                <a:spcPts val="0"/>
              </a:spcBef>
              <a:spcAft>
                <a:spcPts val="0"/>
              </a:spcAft>
              <a:buNone/>
            </a:pPr>
            <a:r>
              <a:rPr sz="2300" b="1">
                <a:solidFill>
                  <a:srgbClr val="EDF1E8"/>
                </a:solidFill>
                <a:latin typeface="Plus Jakarta Sans"/>
              </a:rPr>
              <a:t>2.95M</a:t>
            </a:r>
          </a:p>
        </p:txBody>
      </p:sp>
      <p:sp>
        <p:nvSpPr>
          <p:cNvPr id="15" name="TextBox 14"/>
          <p:cNvSpPr txBox="1"/>
          <p:nvPr/>
        </p:nvSpPr>
        <p:spPr>
          <a:xfrm>
            <a:off x="731520" y="4434840"/>
            <a:ext cx="1901952" cy="365760"/>
          </a:xfrm>
          <a:prstGeom prst="rect">
            <a:avLst/>
          </a:prstGeom>
          <a:noFill/>
        </p:spPr>
        <p:txBody>
          <a:bodyPr wrap="square" lIns="0" rIns="0" tIns="0" bIns="0" anchor="t">
            <a:noAutofit/>
          </a:bodyPr>
          <a:lstStyle/>
          <a:p>
            <a:pPr algn="l">
              <a:lnSpc>
                <a:spcPts val="2152"/>
              </a:lnSpc>
              <a:spcBef>
                <a:spcPts val="0"/>
              </a:spcBef>
              <a:spcAft>
                <a:spcPts val="0"/>
              </a:spcAft>
              <a:buNone/>
            </a:pPr>
            <a:r>
              <a:rPr sz="1800" b="0">
                <a:solidFill>
                  <a:srgbClr val="EDF1E8"/>
                </a:solidFill>
                <a:latin typeface="Plus Jakarta Sans Medium"/>
              </a:rPr>
              <a:t>10% assumed fit</a:t>
            </a:r>
          </a:p>
        </p:txBody>
      </p:sp>
      <p:sp>
        <p:nvSpPr>
          <p:cNvPr id="16" name="Rounded Rectangle 15"/>
          <p:cNvSpPr/>
          <p:nvPr/>
        </p:nvSpPr>
        <p:spPr>
          <a:xfrm>
            <a:off x="2788920" y="4407408"/>
            <a:ext cx="6995160" cy="420624"/>
          </a:xfrm>
          <a:prstGeom prst="roundRect">
            <a:avLst>
              <a:gd name="adj" fmla="val 17391"/>
            </a:avLst>
          </a:prstGeom>
          <a:solidFill>
            <a:srgbClr val="3D514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2788920" y="4407408"/>
            <a:ext cx="6995160" cy="420624"/>
          </a:xfrm>
          <a:prstGeom prst="roundRect">
            <a:avLst>
              <a:gd name="adj" fmla="val 17391"/>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040112" y="4398264"/>
            <a:ext cx="1371600" cy="457200"/>
          </a:xfrm>
          <a:prstGeom prst="rect">
            <a:avLst/>
          </a:prstGeom>
          <a:noFill/>
        </p:spPr>
        <p:txBody>
          <a:bodyPr wrap="square" lIns="0" rIns="0" tIns="0" bIns="0" anchor="t">
            <a:noAutofit/>
          </a:bodyPr>
          <a:lstStyle/>
          <a:p>
            <a:pPr algn="l">
              <a:lnSpc>
                <a:spcPts val="2713"/>
              </a:lnSpc>
              <a:spcBef>
                <a:spcPts val="0"/>
              </a:spcBef>
              <a:spcAft>
                <a:spcPts val="0"/>
              </a:spcAft>
              <a:buNone/>
            </a:pPr>
            <a:r>
              <a:rPr sz="2300" b="1">
                <a:solidFill>
                  <a:srgbClr val="EDF1E8"/>
                </a:solidFill>
                <a:latin typeface="Plus Jakarta Sans"/>
              </a:rPr>
              <a:t>5.9M</a:t>
            </a:r>
          </a:p>
        </p:txBody>
      </p:sp>
      <p:sp>
        <p:nvSpPr>
          <p:cNvPr id="19" name="TextBox 18"/>
          <p:cNvSpPr txBox="1"/>
          <p:nvPr/>
        </p:nvSpPr>
        <p:spPr>
          <a:xfrm>
            <a:off x="731520" y="5559552"/>
            <a:ext cx="10728655" cy="411480"/>
          </a:xfrm>
          <a:prstGeom prst="rect">
            <a:avLst/>
          </a:prstGeom>
          <a:noFill/>
        </p:spPr>
        <p:txBody>
          <a:bodyPr wrap="square" lIns="0" rIns="0" tIns="0" bIns="0" anchor="t">
            <a:noAutofit/>
          </a:bodyPr>
          <a:lstStyle/>
          <a:p>
            <a:pPr algn="l">
              <a:lnSpc>
                <a:spcPts val="1770"/>
              </a:lnSpc>
              <a:spcBef>
                <a:spcPts val="0"/>
              </a:spcBef>
              <a:spcAft>
                <a:spcPts val="0"/>
              </a:spcAft>
              <a:buNone/>
            </a:pPr>
            <a:r>
              <a:rPr sz="1500" b="0">
                <a:solidFill>
                  <a:srgbClr val="AEBEAF"/>
                </a:solidFill>
                <a:latin typeface="Plus Jakarta Sans"/>
              </a:rPr>
              <a:t>These are arithmetic scenarios, not research findings or confidence intervals.</a:t>
            </a:r>
          </a:p>
        </p:txBody>
      </p:sp>
      <p:sp>
        <p:nvSpPr>
          <p:cNvPr id="20" name="TextBox 19"/>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Sources: M2  |  No measured eligibility or adoption rate</a:t>
            </a:r>
          </a:p>
        </p:txBody>
      </p:sp>
      <p:sp>
        <p:nvSpPr>
          <p:cNvPr id="21" name="TextBox 20"/>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06</a:t>
            </a:r>
          </a:p>
        </p:txBody>
      </p:sp>
      <p:pic>
        <p:nvPicPr>
          <p:cNvPr id="22" name="Picture 21"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3" name="TextBox 22"/>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BOTTOM-UP OBTAINABLE MARKET</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Build the obtainable market bottom-up.</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Illustrative 24-month outreach model; every conversion rate requires testing.</a:t>
            </a:r>
          </a:p>
        </p:txBody>
      </p:sp>
      <p:sp>
        <p:nvSpPr>
          <p:cNvPr id="7" name="TextBox 6"/>
          <p:cNvSpPr txBox="1"/>
          <p:nvPr/>
        </p:nvSpPr>
        <p:spPr>
          <a:xfrm>
            <a:off x="731520" y="2514600"/>
            <a:ext cx="1901952" cy="365760"/>
          </a:xfrm>
          <a:prstGeom prst="rect">
            <a:avLst/>
          </a:prstGeom>
          <a:noFill/>
        </p:spPr>
        <p:txBody>
          <a:bodyPr wrap="square" lIns="0" rIns="0" tIns="0" bIns="0" anchor="t">
            <a:noAutofit/>
          </a:bodyPr>
          <a:lstStyle/>
          <a:p>
            <a:pPr algn="l">
              <a:lnSpc>
                <a:spcPts val="2242"/>
              </a:lnSpc>
              <a:spcBef>
                <a:spcPts val="0"/>
              </a:spcBef>
              <a:spcAft>
                <a:spcPts val="0"/>
              </a:spcAft>
              <a:buNone/>
            </a:pPr>
            <a:r>
              <a:rPr sz="1900" b="0">
                <a:solidFill>
                  <a:srgbClr val="EDF1E8"/>
                </a:solidFill>
                <a:latin typeface="Plus Jakarta Sans Medium"/>
              </a:rPr>
              <a:t>Invited</a:t>
            </a:r>
          </a:p>
        </p:txBody>
      </p:sp>
      <p:sp>
        <p:nvSpPr>
          <p:cNvPr id="8" name="Rounded Rectangle 7"/>
          <p:cNvSpPr/>
          <p:nvPr/>
        </p:nvSpPr>
        <p:spPr>
          <a:xfrm>
            <a:off x="2788920" y="2487168"/>
            <a:ext cx="6995160" cy="420624"/>
          </a:xfrm>
          <a:prstGeom prst="roundRect">
            <a:avLst>
              <a:gd name="adj" fmla="val 17391"/>
            </a:avLst>
          </a:prstGeom>
          <a:solidFill>
            <a:srgbClr val="3D514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2788920" y="2487168"/>
            <a:ext cx="6995160" cy="420624"/>
          </a:xfrm>
          <a:prstGeom prst="roundRect">
            <a:avLst>
              <a:gd name="adj" fmla="val 17391"/>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40112" y="2478024"/>
            <a:ext cx="1371600" cy="457200"/>
          </a:xfrm>
          <a:prstGeom prst="rect">
            <a:avLst/>
          </a:prstGeom>
          <a:noFill/>
        </p:spPr>
        <p:txBody>
          <a:bodyPr wrap="square" lIns="0" rIns="0" tIns="0" bIns="0" anchor="t">
            <a:noAutofit/>
          </a:bodyPr>
          <a:lstStyle/>
          <a:p>
            <a:pPr algn="l">
              <a:lnSpc>
                <a:spcPts val="2713"/>
              </a:lnSpc>
              <a:spcBef>
                <a:spcPts val="0"/>
              </a:spcBef>
              <a:spcAft>
                <a:spcPts val="0"/>
              </a:spcAft>
              <a:buNone/>
            </a:pPr>
            <a:r>
              <a:rPr sz="2300" b="1">
                <a:solidFill>
                  <a:srgbClr val="EDF1E8"/>
                </a:solidFill>
                <a:latin typeface="Plus Jakarta Sans"/>
              </a:rPr>
              <a:t>1,200</a:t>
            </a:r>
          </a:p>
        </p:txBody>
      </p:sp>
      <p:sp>
        <p:nvSpPr>
          <p:cNvPr id="11" name="TextBox 10"/>
          <p:cNvSpPr txBox="1"/>
          <p:nvPr/>
        </p:nvSpPr>
        <p:spPr>
          <a:xfrm>
            <a:off x="731520" y="3474720"/>
            <a:ext cx="1901952" cy="365760"/>
          </a:xfrm>
          <a:prstGeom prst="rect">
            <a:avLst/>
          </a:prstGeom>
          <a:noFill/>
        </p:spPr>
        <p:txBody>
          <a:bodyPr wrap="square" lIns="0" rIns="0" tIns="0" bIns="0" anchor="t">
            <a:noAutofit/>
          </a:bodyPr>
          <a:lstStyle/>
          <a:p>
            <a:pPr algn="l">
              <a:lnSpc>
                <a:spcPts val="2242"/>
              </a:lnSpc>
              <a:spcBef>
                <a:spcPts val="0"/>
              </a:spcBef>
              <a:spcAft>
                <a:spcPts val="0"/>
              </a:spcAft>
              <a:buNone/>
            </a:pPr>
            <a:r>
              <a:rPr sz="1900" b="0">
                <a:solidFill>
                  <a:srgbClr val="EDF1E8"/>
                </a:solidFill>
                <a:latin typeface="Plus Jakarta Sans Medium"/>
              </a:rPr>
              <a:t>Activated</a:t>
            </a:r>
          </a:p>
        </p:txBody>
      </p:sp>
      <p:sp>
        <p:nvSpPr>
          <p:cNvPr id="12" name="Rounded Rectangle 11"/>
          <p:cNvSpPr/>
          <p:nvPr/>
        </p:nvSpPr>
        <p:spPr>
          <a:xfrm>
            <a:off x="2788920" y="3447288"/>
            <a:ext cx="6995160" cy="420624"/>
          </a:xfrm>
          <a:prstGeom prst="roundRect">
            <a:avLst>
              <a:gd name="adj" fmla="val 17391"/>
            </a:avLst>
          </a:prstGeom>
          <a:solidFill>
            <a:srgbClr val="3D514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2788920" y="3447288"/>
            <a:ext cx="1748790" cy="420624"/>
          </a:xfrm>
          <a:prstGeom prst="roundRect">
            <a:avLst>
              <a:gd name="adj" fmla="val 17391"/>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040112" y="3438144"/>
            <a:ext cx="1371600" cy="457200"/>
          </a:xfrm>
          <a:prstGeom prst="rect">
            <a:avLst/>
          </a:prstGeom>
          <a:noFill/>
        </p:spPr>
        <p:txBody>
          <a:bodyPr wrap="square" lIns="0" rIns="0" tIns="0" bIns="0" anchor="t">
            <a:noAutofit/>
          </a:bodyPr>
          <a:lstStyle/>
          <a:p>
            <a:pPr algn="l">
              <a:lnSpc>
                <a:spcPts val="2713"/>
              </a:lnSpc>
              <a:spcBef>
                <a:spcPts val="0"/>
              </a:spcBef>
              <a:spcAft>
                <a:spcPts val="0"/>
              </a:spcAft>
              <a:buNone/>
            </a:pPr>
            <a:r>
              <a:rPr sz="2300" b="1">
                <a:solidFill>
                  <a:srgbClr val="EDF1E8"/>
                </a:solidFill>
                <a:latin typeface="Plus Jakarta Sans"/>
              </a:rPr>
              <a:t>300</a:t>
            </a:r>
          </a:p>
        </p:txBody>
      </p:sp>
      <p:sp>
        <p:nvSpPr>
          <p:cNvPr id="15" name="TextBox 14"/>
          <p:cNvSpPr txBox="1"/>
          <p:nvPr/>
        </p:nvSpPr>
        <p:spPr>
          <a:xfrm>
            <a:off x="731520" y="4434840"/>
            <a:ext cx="1901952" cy="365760"/>
          </a:xfrm>
          <a:prstGeom prst="rect">
            <a:avLst/>
          </a:prstGeom>
          <a:noFill/>
        </p:spPr>
        <p:txBody>
          <a:bodyPr wrap="square" lIns="0" rIns="0" tIns="0" bIns="0" anchor="t">
            <a:noAutofit/>
          </a:bodyPr>
          <a:lstStyle/>
          <a:p>
            <a:pPr algn="l">
              <a:lnSpc>
                <a:spcPts val="2152"/>
              </a:lnSpc>
              <a:spcBef>
                <a:spcPts val="0"/>
              </a:spcBef>
              <a:spcAft>
                <a:spcPts val="0"/>
              </a:spcAft>
              <a:buNone/>
            </a:pPr>
            <a:r>
              <a:rPr sz="1800" b="0">
                <a:solidFill>
                  <a:srgbClr val="EDF1E8"/>
                </a:solidFill>
                <a:latin typeface="Plus Jakarta Sans Medium"/>
              </a:rPr>
              <a:t>90-day retained</a:t>
            </a:r>
          </a:p>
        </p:txBody>
      </p:sp>
      <p:sp>
        <p:nvSpPr>
          <p:cNvPr id="16" name="Rounded Rectangle 15"/>
          <p:cNvSpPr/>
          <p:nvPr/>
        </p:nvSpPr>
        <p:spPr>
          <a:xfrm>
            <a:off x="2788920" y="4407408"/>
            <a:ext cx="6995160" cy="420624"/>
          </a:xfrm>
          <a:prstGeom prst="roundRect">
            <a:avLst>
              <a:gd name="adj" fmla="val 17391"/>
            </a:avLst>
          </a:prstGeom>
          <a:solidFill>
            <a:srgbClr val="3D514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2788920" y="4407408"/>
            <a:ext cx="699516" cy="420624"/>
          </a:xfrm>
          <a:prstGeom prst="roundRect">
            <a:avLst>
              <a:gd name="adj" fmla="val 17391"/>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040112" y="4398264"/>
            <a:ext cx="1371600" cy="457200"/>
          </a:xfrm>
          <a:prstGeom prst="rect">
            <a:avLst/>
          </a:prstGeom>
          <a:noFill/>
        </p:spPr>
        <p:txBody>
          <a:bodyPr wrap="square" lIns="0" rIns="0" tIns="0" bIns="0" anchor="t">
            <a:noAutofit/>
          </a:bodyPr>
          <a:lstStyle/>
          <a:p>
            <a:pPr algn="l">
              <a:lnSpc>
                <a:spcPts val="2713"/>
              </a:lnSpc>
              <a:spcBef>
                <a:spcPts val="0"/>
              </a:spcBef>
              <a:spcAft>
                <a:spcPts val="0"/>
              </a:spcAft>
              <a:buNone/>
            </a:pPr>
            <a:r>
              <a:rPr sz="2300" b="1">
                <a:solidFill>
                  <a:srgbClr val="EDF1E8"/>
                </a:solidFill>
                <a:latin typeface="Plus Jakarta Sans"/>
              </a:rPr>
              <a:t>120</a:t>
            </a:r>
          </a:p>
        </p:txBody>
      </p:sp>
      <p:sp>
        <p:nvSpPr>
          <p:cNvPr id="19" name="TextBox 18"/>
          <p:cNvSpPr txBox="1"/>
          <p:nvPr/>
        </p:nvSpPr>
        <p:spPr>
          <a:xfrm>
            <a:off x="731520" y="5559552"/>
            <a:ext cx="10728655" cy="411480"/>
          </a:xfrm>
          <a:prstGeom prst="rect">
            <a:avLst/>
          </a:prstGeom>
          <a:noFill/>
        </p:spPr>
        <p:txBody>
          <a:bodyPr wrap="square" lIns="0" rIns="0" tIns="0" bIns="0" anchor="t">
            <a:noAutofit/>
          </a:bodyPr>
          <a:lstStyle/>
          <a:p>
            <a:pPr algn="l">
              <a:lnSpc>
                <a:spcPts val="1770"/>
              </a:lnSpc>
              <a:spcBef>
                <a:spcPts val="0"/>
              </a:spcBef>
              <a:spcAft>
                <a:spcPts val="0"/>
              </a:spcAft>
              <a:buNone/>
            </a:pPr>
            <a:r>
              <a:rPr sz="1500" b="0">
                <a:solidFill>
                  <a:srgbClr val="AEBEAF"/>
                </a:solidFill>
                <a:latin typeface="Plus Jakarta Sans"/>
              </a:rPr>
              <a:t>12 prospective partners × 100 unique invitations. No partner agreements or invitations are claimed.</a:t>
            </a:r>
          </a:p>
        </p:txBody>
      </p:sp>
      <p:sp>
        <p:nvSpPr>
          <p:cNvPr id="20" name="TextBox 19"/>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CareSphere planning appendix · October 26, 2026  |  25% activation; 40% retention of activated</a:t>
            </a:r>
          </a:p>
        </p:txBody>
      </p:sp>
      <p:sp>
        <p:nvSpPr>
          <p:cNvPr id="21" name="TextBox 20"/>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07</a:t>
            </a:r>
          </a:p>
        </p:txBody>
      </p:sp>
      <p:pic>
        <p:nvPicPr>
          <p:cNvPr id="22" name="Picture 21"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3" name="TextBox 22"/>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COMPETITOR COMPARISON</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Different tools solve different jobs.</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A comparison of documented focus—not an all-or-nothing feature scorecard.</a:t>
            </a:r>
          </a:p>
        </p:txBody>
      </p:sp>
      <p:sp>
        <p:nvSpPr>
          <p:cNvPr id="7" name="TextBox 6"/>
          <p:cNvSpPr txBox="1"/>
          <p:nvPr/>
        </p:nvSpPr>
        <p:spPr>
          <a:xfrm>
            <a:off x="804672" y="2221992"/>
            <a:ext cx="1536192" cy="502920"/>
          </a:xfrm>
          <a:prstGeom prst="rect">
            <a:avLst/>
          </a:prstGeom>
          <a:noFill/>
        </p:spPr>
        <p:txBody>
          <a:bodyPr wrap="square" lIns="0" rIns="0" tIns="0" bIns="0" anchor="t">
            <a:noAutofit/>
          </a:bodyPr>
          <a:lstStyle/>
          <a:p>
            <a:pPr algn="l">
              <a:lnSpc>
                <a:spcPts val="1888"/>
              </a:lnSpc>
              <a:spcBef>
                <a:spcPts val="0"/>
              </a:spcBef>
              <a:spcAft>
                <a:spcPts val="0"/>
              </a:spcAft>
              <a:buNone/>
            </a:pPr>
            <a:r>
              <a:rPr sz="1600" b="1">
                <a:solidFill>
                  <a:srgbClr val="89AA91"/>
                </a:solidFill>
                <a:latin typeface="Plus Jakarta Sans"/>
              </a:rPr>
              <a:t>Dimension</a:t>
            </a:r>
          </a:p>
        </p:txBody>
      </p:sp>
      <p:sp>
        <p:nvSpPr>
          <p:cNvPr id="8" name="TextBox 7"/>
          <p:cNvSpPr txBox="1"/>
          <p:nvPr/>
        </p:nvSpPr>
        <p:spPr>
          <a:xfrm>
            <a:off x="2633472" y="2221992"/>
            <a:ext cx="1975103" cy="502920"/>
          </a:xfrm>
          <a:prstGeom prst="rect">
            <a:avLst/>
          </a:prstGeom>
          <a:noFill/>
        </p:spPr>
        <p:txBody>
          <a:bodyPr wrap="square" lIns="0" rIns="0" tIns="0" bIns="0" anchor="t">
            <a:noAutofit/>
          </a:bodyPr>
          <a:lstStyle/>
          <a:p>
            <a:pPr algn="l">
              <a:lnSpc>
                <a:spcPts val="1888"/>
              </a:lnSpc>
              <a:spcBef>
                <a:spcPts val="0"/>
              </a:spcBef>
              <a:spcAft>
                <a:spcPts val="0"/>
              </a:spcAft>
              <a:buNone/>
            </a:pPr>
            <a:r>
              <a:rPr sz="1600" b="1">
                <a:solidFill>
                  <a:srgbClr val="89AA91"/>
                </a:solidFill>
                <a:latin typeface="Plus Jakarta Sans"/>
              </a:rPr>
              <a:t>CareSphere</a:t>
            </a:r>
          </a:p>
        </p:txBody>
      </p:sp>
      <p:sp>
        <p:nvSpPr>
          <p:cNvPr id="9" name="TextBox 8"/>
          <p:cNvSpPr txBox="1"/>
          <p:nvPr/>
        </p:nvSpPr>
        <p:spPr>
          <a:xfrm>
            <a:off x="4901184" y="2221992"/>
            <a:ext cx="1975103" cy="502920"/>
          </a:xfrm>
          <a:prstGeom prst="rect">
            <a:avLst/>
          </a:prstGeom>
          <a:noFill/>
        </p:spPr>
        <p:txBody>
          <a:bodyPr wrap="square" lIns="0" rIns="0" tIns="0" bIns="0" anchor="t">
            <a:noAutofit/>
          </a:bodyPr>
          <a:lstStyle/>
          <a:p>
            <a:pPr algn="l">
              <a:lnSpc>
                <a:spcPts val="1888"/>
              </a:lnSpc>
              <a:spcBef>
                <a:spcPts val="0"/>
              </a:spcBef>
              <a:spcAft>
                <a:spcPts val="0"/>
              </a:spcAft>
              <a:buNone/>
            </a:pPr>
            <a:r>
              <a:rPr sz="1600" b="1">
                <a:solidFill>
                  <a:srgbClr val="89AA91"/>
                </a:solidFill>
                <a:latin typeface="Plus Jakarta Sans"/>
              </a:rPr>
              <a:t>Medisafe</a:t>
            </a:r>
          </a:p>
        </p:txBody>
      </p:sp>
      <p:sp>
        <p:nvSpPr>
          <p:cNvPr id="10" name="TextBox 9"/>
          <p:cNvSpPr txBox="1"/>
          <p:nvPr/>
        </p:nvSpPr>
        <p:spPr>
          <a:xfrm>
            <a:off x="7168896" y="2221992"/>
            <a:ext cx="1975103" cy="502920"/>
          </a:xfrm>
          <a:prstGeom prst="rect">
            <a:avLst/>
          </a:prstGeom>
          <a:noFill/>
        </p:spPr>
        <p:txBody>
          <a:bodyPr wrap="square" lIns="0" rIns="0" tIns="0" bIns="0" anchor="t">
            <a:noAutofit/>
          </a:bodyPr>
          <a:lstStyle/>
          <a:p>
            <a:pPr algn="l">
              <a:lnSpc>
                <a:spcPts val="1888"/>
              </a:lnSpc>
              <a:spcBef>
                <a:spcPts val="0"/>
              </a:spcBef>
              <a:spcAft>
                <a:spcPts val="0"/>
              </a:spcAft>
              <a:buNone/>
            </a:pPr>
            <a:r>
              <a:rPr sz="1600" b="1">
                <a:solidFill>
                  <a:srgbClr val="89AA91"/>
                </a:solidFill>
                <a:latin typeface="Plus Jakarta Sans"/>
              </a:rPr>
              <a:t>CaringBridge</a:t>
            </a:r>
          </a:p>
        </p:txBody>
      </p:sp>
      <p:sp>
        <p:nvSpPr>
          <p:cNvPr id="11" name="TextBox 10"/>
          <p:cNvSpPr txBox="1"/>
          <p:nvPr/>
        </p:nvSpPr>
        <p:spPr>
          <a:xfrm>
            <a:off x="9436608" y="2221992"/>
            <a:ext cx="1947672" cy="502920"/>
          </a:xfrm>
          <a:prstGeom prst="rect">
            <a:avLst/>
          </a:prstGeom>
          <a:noFill/>
        </p:spPr>
        <p:txBody>
          <a:bodyPr wrap="square" lIns="0" rIns="0" tIns="0" bIns="0" anchor="t">
            <a:noAutofit/>
          </a:bodyPr>
          <a:lstStyle/>
          <a:p>
            <a:pPr algn="l">
              <a:lnSpc>
                <a:spcPts val="1888"/>
              </a:lnSpc>
              <a:spcBef>
                <a:spcPts val="0"/>
              </a:spcBef>
              <a:spcAft>
                <a:spcPts val="0"/>
              </a:spcAft>
              <a:buNone/>
            </a:pPr>
            <a:r>
              <a:rPr sz="1600" b="1">
                <a:solidFill>
                  <a:srgbClr val="89AA91"/>
                </a:solidFill>
                <a:latin typeface="Plus Jakarta Sans"/>
              </a:rPr>
              <a:t>Lotsa Helping Hands</a:t>
            </a:r>
          </a:p>
        </p:txBody>
      </p:sp>
      <p:sp>
        <p:nvSpPr>
          <p:cNvPr id="12" name="Rounded Rectangle 11"/>
          <p:cNvSpPr/>
          <p:nvPr/>
        </p:nvSpPr>
        <p:spPr>
          <a:xfrm>
            <a:off x="731520" y="2798064"/>
            <a:ext cx="10728655" cy="640080"/>
          </a:xfrm>
          <a:prstGeom prst="roundRect">
            <a:avLst>
              <a:gd name="adj" fmla="val 11428"/>
            </a:avLst>
          </a:prstGeom>
          <a:solidFill>
            <a:srgbClr val="14251C">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862072"/>
            <a:ext cx="1536192"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EDF1E8"/>
                </a:solidFill>
                <a:latin typeface="Plus Jakarta Sans Medium"/>
              </a:rPr>
              <a:t>Main job</a:t>
            </a:r>
          </a:p>
        </p:txBody>
      </p:sp>
      <p:sp>
        <p:nvSpPr>
          <p:cNvPr id="14" name="TextBox 13"/>
          <p:cNvSpPr txBox="1"/>
          <p:nvPr/>
        </p:nvSpPr>
        <p:spPr>
          <a:xfrm>
            <a:off x="2633472" y="2862072"/>
            <a:ext cx="1975103"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D5DED3"/>
                </a:solidFill>
                <a:latin typeface="Plus Jakarta Sans"/>
              </a:rPr>
              <a:t>Daily support</a:t>
            </a:r>
          </a:p>
        </p:txBody>
      </p:sp>
      <p:sp>
        <p:nvSpPr>
          <p:cNvPr id="15" name="TextBox 14"/>
          <p:cNvSpPr txBox="1"/>
          <p:nvPr/>
        </p:nvSpPr>
        <p:spPr>
          <a:xfrm>
            <a:off x="4901184" y="2862072"/>
            <a:ext cx="1975103"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D5DED3"/>
                </a:solidFill>
                <a:latin typeface="Plus Jakarta Sans"/>
              </a:rPr>
              <a:t>Medication routines</a:t>
            </a:r>
          </a:p>
        </p:txBody>
      </p:sp>
      <p:sp>
        <p:nvSpPr>
          <p:cNvPr id="16" name="TextBox 15"/>
          <p:cNvSpPr txBox="1"/>
          <p:nvPr/>
        </p:nvSpPr>
        <p:spPr>
          <a:xfrm>
            <a:off x="7168896" y="2862072"/>
            <a:ext cx="1975103"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D5DED3"/>
                </a:solidFill>
                <a:latin typeface="Plus Jakarta Sans"/>
              </a:rPr>
              <a:t>Health updates</a:t>
            </a:r>
          </a:p>
        </p:txBody>
      </p:sp>
      <p:sp>
        <p:nvSpPr>
          <p:cNvPr id="17" name="TextBox 16"/>
          <p:cNvSpPr txBox="1"/>
          <p:nvPr/>
        </p:nvSpPr>
        <p:spPr>
          <a:xfrm>
            <a:off x="9436608" y="2862072"/>
            <a:ext cx="1947672"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D5DED3"/>
                </a:solidFill>
                <a:latin typeface="Plus Jakarta Sans"/>
              </a:rPr>
              <a:t>Volunteer help</a:t>
            </a:r>
          </a:p>
        </p:txBody>
      </p:sp>
      <p:sp>
        <p:nvSpPr>
          <p:cNvPr id="18" name="Rounded Rectangle 17"/>
          <p:cNvSpPr/>
          <p:nvPr/>
        </p:nvSpPr>
        <p:spPr>
          <a:xfrm>
            <a:off x="731520" y="3474720"/>
            <a:ext cx="10728655" cy="640080"/>
          </a:xfrm>
          <a:prstGeom prst="roundRect">
            <a:avLst>
              <a:gd name="adj" fmla="val 11428"/>
            </a:avLst>
          </a:prstGeom>
          <a:solidFill>
            <a:srgbClr val="14251C">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04672" y="3538728"/>
            <a:ext cx="1536192"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EDF1E8"/>
                </a:solidFill>
                <a:latin typeface="Plus Jakarta Sans Medium"/>
              </a:rPr>
              <a:t>Examples</a:t>
            </a:r>
          </a:p>
        </p:txBody>
      </p:sp>
      <p:sp>
        <p:nvSpPr>
          <p:cNvPr id="20" name="TextBox 19"/>
          <p:cNvSpPr txBox="1"/>
          <p:nvPr/>
        </p:nvSpPr>
        <p:spPr>
          <a:xfrm>
            <a:off x="2633472" y="3538728"/>
            <a:ext cx="1975103"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D5DED3"/>
                </a:solidFill>
                <a:latin typeface="Plus Jakarta Sans"/>
              </a:rPr>
              <a:t>Routines, calming, visit prep</a:t>
            </a:r>
          </a:p>
        </p:txBody>
      </p:sp>
      <p:sp>
        <p:nvSpPr>
          <p:cNvPr id="21" name="TextBox 20"/>
          <p:cNvSpPr txBox="1"/>
          <p:nvPr/>
        </p:nvSpPr>
        <p:spPr>
          <a:xfrm>
            <a:off x="4901184" y="3538728"/>
            <a:ext cx="1975103"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D5DED3"/>
                </a:solidFill>
                <a:latin typeface="Plus Jakarta Sans"/>
              </a:rPr>
              <a:t>Dose reminders; Medfriend</a:t>
            </a:r>
          </a:p>
        </p:txBody>
      </p:sp>
      <p:sp>
        <p:nvSpPr>
          <p:cNvPr id="22" name="TextBox 21"/>
          <p:cNvSpPr txBox="1"/>
          <p:nvPr/>
        </p:nvSpPr>
        <p:spPr>
          <a:xfrm>
            <a:off x="7168896" y="3538728"/>
            <a:ext cx="1975103"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D5DED3"/>
                </a:solidFill>
                <a:latin typeface="Plus Jakarta Sans"/>
              </a:rPr>
              <a:t>Journal updates; support requests</a:t>
            </a:r>
          </a:p>
        </p:txBody>
      </p:sp>
      <p:sp>
        <p:nvSpPr>
          <p:cNvPr id="23" name="TextBox 22"/>
          <p:cNvSpPr txBox="1"/>
          <p:nvPr/>
        </p:nvSpPr>
        <p:spPr>
          <a:xfrm>
            <a:off x="9436608" y="3538728"/>
            <a:ext cx="1947672"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D5DED3"/>
                </a:solidFill>
                <a:latin typeface="Plus Jakarta Sans"/>
              </a:rPr>
              <a:t>Help calendar; task sign-ups</a:t>
            </a:r>
          </a:p>
        </p:txBody>
      </p:sp>
      <p:sp>
        <p:nvSpPr>
          <p:cNvPr id="24" name="Rounded Rectangle 23"/>
          <p:cNvSpPr/>
          <p:nvPr/>
        </p:nvSpPr>
        <p:spPr>
          <a:xfrm>
            <a:off x="731520" y="4151375"/>
            <a:ext cx="10728655" cy="640080"/>
          </a:xfrm>
          <a:prstGeom prst="roundRect">
            <a:avLst>
              <a:gd name="adj" fmla="val 11428"/>
            </a:avLst>
          </a:prstGeom>
          <a:solidFill>
            <a:srgbClr val="14251C">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04672" y="4215383"/>
            <a:ext cx="1536192"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EDF1E8"/>
                </a:solidFill>
                <a:latin typeface="Plus Jakarta Sans Medium"/>
              </a:rPr>
              <a:t>Sharing model</a:t>
            </a:r>
          </a:p>
        </p:txBody>
      </p:sp>
      <p:sp>
        <p:nvSpPr>
          <p:cNvPr id="26" name="TextBox 25"/>
          <p:cNvSpPr txBox="1"/>
          <p:nvPr/>
        </p:nvSpPr>
        <p:spPr>
          <a:xfrm>
            <a:off x="2633472" y="4215383"/>
            <a:ext cx="1975103"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D5DED3"/>
                </a:solidFill>
                <a:latin typeface="Plus Jakarta Sans"/>
              </a:rPr>
              <a:t>Review exports; Jitsi calls</a:t>
            </a:r>
          </a:p>
        </p:txBody>
      </p:sp>
      <p:sp>
        <p:nvSpPr>
          <p:cNvPr id="27" name="TextBox 26"/>
          <p:cNvSpPr txBox="1"/>
          <p:nvPr/>
        </p:nvSpPr>
        <p:spPr>
          <a:xfrm>
            <a:off x="4901184" y="4215383"/>
            <a:ext cx="1975103"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D5DED3"/>
                </a:solidFill>
                <a:latin typeface="Plus Jakarta Sans"/>
              </a:rPr>
              <a:t>Missed-dose alerts to Medfriend</a:t>
            </a:r>
          </a:p>
        </p:txBody>
      </p:sp>
      <p:sp>
        <p:nvSpPr>
          <p:cNvPr id="28" name="TextBox 27"/>
          <p:cNvSpPr txBox="1"/>
          <p:nvPr/>
        </p:nvSpPr>
        <p:spPr>
          <a:xfrm>
            <a:off x="7168896" y="4215383"/>
            <a:ext cx="1975103"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D5DED3"/>
                </a:solidFill>
                <a:latin typeface="Plus Jakarta Sans"/>
              </a:rPr>
              <a:t>Private/public health pages</a:t>
            </a:r>
          </a:p>
        </p:txBody>
      </p:sp>
      <p:sp>
        <p:nvSpPr>
          <p:cNvPr id="29" name="TextBox 28"/>
          <p:cNvSpPr txBox="1"/>
          <p:nvPr/>
        </p:nvSpPr>
        <p:spPr>
          <a:xfrm>
            <a:off x="9436608" y="4215383"/>
            <a:ext cx="1947672"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D5DED3"/>
                </a:solidFill>
                <a:latin typeface="Plus Jakarta Sans"/>
              </a:rPr>
              <a:t>Shared community coordination</a:t>
            </a:r>
          </a:p>
        </p:txBody>
      </p:sp>
      <p:sp>
        <p:nvSpPr>
          <p:cNvPr id="30" name="Rounded Rectangle 29"/>
          <p:cNvSpPr/>
          <p:nvPr/>
        </p:nvSpPr>
        <p:spPr>
          <a:xfrm>
            <a:off x="731520" y="4828031"/>
            <a:ext cx="10728655" cy="640080"/>
          </a:xfrm>
          <a:prstGeom prst="roundRect">
            <a:avLst>
              <a:gd name="adj" fmla="val 11428"/>
            </a:avLst>
          </a:prstGeom>
          <a:solidFill>
            <a:srgbClr val="14251C">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04672" y="4892040"/>
            <a:ext cx="1536192"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EDF1E8"/>
                </a:solidFill>
                <a:latin typeface="Plus Jakarta Sans Medium"/>
              </a:rPr>
              <a:t>CareSphere lens</a:t>
            </a:r>
          </a:p>
        </p:txBody>
      </p:sp>
      <p:sp>
        <p:nvSpPr>
          <p:cNvPr id="32" name="TextBox 31"/>
          <p:cNvSpPr txBox="1"/>
          <p:nvPr/>
        </p:nvSpPr>
        <p:spPr>
          <a:xfrm>
            <a:off x="2633472" y="4892040"/>
            <a:ext cx="1975103"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D5DED3"/>
                </a:solidFill>
                <a:latin typeface="Plus Jakarta Sans"/>
              </a:rPr>
              <a:t>Personal daily use</a:t>
            </a:r>
          </a:p>
        </p:txBody>
      </p:sp>
      <p:sp>
        <p:nvSpPr>
          <p:cNvPr id="33" name="TextBox 32"/>
          <p:cNvSpPr txBox="1"/>
          <p:nvPr/>
        </p:nvSpPr>
        <p:spPr>
          <a:xfrm>
            <a:off x="4901184" y="4892040"/>
            <a:ext cx="1975103"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D5DED3"/>
                </a:solidFill>
                <a:latin typeface="Plus Jakarta Sans"/>
              </a:rPr>
              <a:t>Medication-focused alternative</a:t>
            </a:r>
          </a:p>
        </p:txBody>
      </p:sp>
      <p:sp>
        <p:nvSpPr>
          <p:cNvPr id="34" name="TextBox 33"/>
          <p:cNvSpPr txBox="1"/>
          <p:nvPr/>
        </p:nvSpPr>
        <p:spPr>
          <a:xfrm>
            <a:off x="7168896" y="4892040"/>
            <a:ext cx="1975103"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D5DED3"/>
                </a:solidFill>
                <a:latin typeface="Plus Jakarta Sans"/>
              </a:rPr>
              <a:t>Communication alternative</a:t>
            </a:r>
          </a:p>
        </p:txBody>
      </p:sp>
      <p:sp>
        <p:nvSpPr>
          <p:cNvPr id="35" name="TextBox 34"/>
          <p:cNvSpPr txBox="1"/>
          <p:nvPr/>
        </p:nvSpPr>
        <p:spPr>
          <a:xfrm>
            <a:off x="9436608" y="4892040"/>
            <a:ext cx="1947672" cy="521207"/>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D5DED3"/>
                </a:solidFill>
                <a:latin typeface="Plus Jakarta Sans"/>
              </a:rPr>
              <a:t>Task-coordination alternative</a:t>
            </a:r>
          </a:p>
        </p:txBody>
      </p:sp>
      <p:sp>
        <p:nvSpPr>
          <p:cNvPr id="36" name="TextBox 35"/>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Sources: P1, C1, C2, C3</a:t>
            </a:r>
          </a:p>
        </p:txBody>
      </p:sp>
      <p:sp>
        <p:nvSpPr>
          <p:cNvPr id="37" name="TextBox 36"/>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08</a:t>
            </a:r>
          </a:p>
        </p:txBody>
      </p:sp>
      <p:pic>
        <p:nvPicPr>
          <p:cNvPr id="38" name="Picture 37"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39" name="TextBox 38"/>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POSITIONING</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Compete on calm, not feature count.</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A differentiation hypothesis that must survive user testing.</a:t>
            </a:r>
          </a:p>
        </p:txBody>
      </p:sp>
      <p:sp>
        <p:nvSpPr>
          <p:cNvPr id="7" name="Rounded Rectangle 6"/>
          <p:cNvSpPr/>
          <p:nvPr/>
        </p:nvSpPr>
        <p:spPr>
          <a:xfrm>
            <a:off x="731520"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41832"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POTENTIAL ADVANTAGE</a:t>
            </a:r>
          </a:p>
        </p:txBody>
      </p:sp>
      <p:sp>
        <p:nvSpPr>
          <p:cNvPr id="9" name="TextBox 8"/>
          <p:cNvSpPr txBox="1"/>
          <p:nvPr/>
        </p:nvSpPr>
        <p:spPr>
          <a:xfrm>
            <a:off x="941832"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A coherent routine</a:t>
            </a:r>
          </a:p>
        </p:txBody>
      </p:sp>
      <p:sp>
        <p:nvSpPr>
          <p:cNvPr id="10" name="TextBox 9"/>
          <p:cNvSpPr txBox="1"/>
          <p:nvPr/>
        </p:nvSpPr>
        <p:spPr>
          <a:xfrm>
            <a:off x="941832"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Activities, comfort settings, notes and visit preparation in one local-first experience. No claim of uniqueness.</a:t>
            </a:r>
          </a:p>
        </p:txBody>
      </p:sp>
      <p:sp>
        <p:nvSpPr>
          <p:cNvPr id="11" name="Rounded Rectangle 10"/>
          <p:cNvSpPr/>
          <p:nvPr/>
        </p:nvSpPr>
        <p:spPr>
          <a:xfrm>
            <a:off x="4383938"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94250"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REAL TRADE-OFF</a:t>
            </a:r>
          </a:p>
        </p:txBody>
      </p:sp>
      <p:sp>
        <p:nvSpPr>
          <p:cNvPr id="13" name="TextBox 12"/>
          <p:cNvSpPr txBox="1"/>
          <p:nvPr/>
        </p:nvSpPr>
        <p:spPr>
          <a:xfrm>
            <a:off x="4594250"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Less automatic coordination</a:t>
            </a:r>
          </a:p>
        </p:txBody>
      </p:sp>
      <p:sp>
        <p:nvSpPr>
          <p:cNvPr id="14" name="TextBox 13"/>
          <p:cNvSpPr txBox="1"/>
          <p:nvPr/>
        </p:nvSpPr>
        <p:spPr>
          <a:xfrm>
            <a:off x="4594250"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No invisible sharing or care-team feed. People who need shared task dispatch may prefer a coordination tool.</a:t>
            </a:r>
          </a:p>
        </p:txBody>
      </p:sp>
      <p:sp>
        <p:nvSpPr>
          <p:cNvPr id="15" name="Rounded Rectangle 14"/>
          <p:cNvSpPr/>
          <p:nvPr/>
        </p:nvSpPr>
        <p:spPr>
          <a:xfrm>
            <a:off x="8036356"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46668"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WHAT COULD ENDURE</a:t>
            </a:r>
          </a:p>
        </p:txBody>
      </p:sp>
      <p:sp>
        <p:nvSpPr>
          <p:cNvPr id="17" name="TextBox 16"/>
          <p:cNvSpPr txBox="1"/>
          <p:nvPr/>
        </p:nvSpPr>
        <p:spPr>
          <a:xfrm>
            <a:off x="8246668"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Trust earned over time</a:t>
            </a:r>
          </a:p>
        </p:txBody>
      </p:sp>
      <p:sp>
        <p:nvSpPr>
          <p:cNvPr id="18" name="TextBox 17"/>
          <p:cNvSpPr txBox="1"/>
          <p:nvPr/>
        </p:nvSpPr>
        <p:spPr>
          <a:xfrm>
            <a:off x="8246668"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Accessible design, reliable reminders and understandable privacy. Code alone is not a defensible moat.</a:t>
            </a:r>
          </a:p>
        </p:txBody>
      </p:sp>
      <p:sp>
        <p:nvSpPr>
          <p:cNvPr id="19" name="TextBox 18"/>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Sources: P1, C1, C2, C3  |  Positioning is a hypothesis, not a benchmark</a:t>
            </a:r>
          </a:p>
        </p:txBody>
      </p:sp>
      <p:sp>
        <p:nvSpPr>
          <p:cNvPr id="20" name="TextBox 19"/>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09</a:t>
            </a:r>
          </a:p>
        </p:txBody>
      </p:sp>
      <p:pic>
        <p:nvPicPr>
          <p:cNvPr id="21" name="Picture 20"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2" name="TextBox 21"/>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GO-TO-MARKET</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Learn through trusted, small-scale channels.</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Proposed outreach—not signed distribution or institutional endorsements.</a:t>
            </a:r>
          </a:p>
        </p:txBody>
      </p:sp>
      <p:sp>
        <p:nvSpPr>
          <p:cNvPr id="7" name="Rounded Rectangle 6"/>
          <p:cNvSpPr/>
          <p:nvPr/>
        </p:nvSpPr>
        <p:spPr>
          <a:xfrm>
            <a:off x="731520"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41832"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DISCOVER</a:t>
            </a:r>
          </a:p>
        </p:txBody>
      </p:sp>
      <p:sp>
        <p:nvSpPr>
          <p:cNvPr id="9" name="TextBox 8"/>
          <p:cNvSpPr txBox="1"/>
          <p:nvPr/>
        </p:nvSpPr>
        <p:spPr>
          <a:xfrm>
            <a:off x="941832"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Listen first</a:t>
            </a:r>
          </a:p>
        </p:txBody>
      </p:sp>
      <p:sp>
        <p:nvSpPr>
          <p:cNvPr id="10" name="TextBox 9"/>
          <p:cNvSpPr txBox="1"/>
          <p:nvPr/>
        </p:nvSpPr>
        <p:spPr>
          <a:xfrm>
            <a:off x="941832" y="3959352"/>
            <a:ext cx="3003194" cy="1463040"/>
          </a:xfrm>
          <a:prstGeom prst="rect">
            <a:avLst/>
          </a:prstGeom>
          <a:noFill/>
        </p:spPr>
        <p:txBody>
          <a:bodyPr wrap="square" lIns="0" rIns="0" tIns="0" bIns="0" anchor="t">
            <a:noAutofit/>
          </a:bodyPr>
          <a:lstStyle/>
          <a:p>
            <a:pPr algn="l">
              <a:lnSpc>
                <a:spcPts val="1925"/>
              </a:lnSpc>
              <a:spcBef>
                <a:spcPts val="0"/>
              </a:spcBef>
              <a:spcAft>
                <a:spcPts val="0"/>
              </a:spcAft>
              <a:buNone/>
            </a:pPr>
            <a:r>
              <a:rPr sz="1650" b="0">
                <a:solidFill>
                  <a:srgbClr val="D5DED3"/>
                </a:solidFill>
                <a:latin typeface="Plus Jakarta Sans"/>
              </a:rPr>
              <a:t>Interview adult caregivers and independent users. Explore accessibility barriers and current workarounds; do not seek diagnoses.</a:t>
            </a:r>
          </a:p>
        </p:txBody>
      </p:sp>
      <p:sp>
        <p:nvSpPr>
          <p:cNvPr id="11" name="Rounded Rectangle 10"/>
          <p:cNvSpPr/>
          <p:nvPr/>
        </p:nvSpPr>
        <p:spPr>
          <a:xfrm>
            <a:off x="4383938"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94250"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PILOT</a:t>
            </a:r>
          </a:p>
        </p:txBody>
      </p:sp>
      <p:sp>
        <p:nvSpPr>
          <p:cNvPr id="13" name="TextBox 12"/>
          <p:cNvSpPr txBox="1"/>
          <p:nvPr/>
        </p:nvSpPr>
        <p:spPr>
          <a:xfrm>
            <a:off x="4594250"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Supported onboarding</a:t>
            </a:r>
          </a:p>
        </p:txBody>
      </p:sp>
      <p:sp>
        <p:nvSpPr>
          <p:cNvPr id="14" name="TextBox 13"/>
          <p:cNvSpPr txBox="1"/>
          <p:nvPr/>
        </p:nvSpPr>
        <p:spPr>
          <a:xfrm>
            <a:off x="4594250"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Invite opt-in cohorts through interested community organizations. Use fictional care data in demonstrations.</a:t>
            </a:r>
          </a:p>
        </p:txBody>
      </p:sp>
      <p:sp>
        <p:nvSpPr>
          <p:cNvPr id="15" name="Rounded Rectangle 14"/>
          <p:cNvSpPr/>
          <p:nvPr/>
        </p:nvSpPr>
        <p:spPr>
          <a:xfrm>
            <a:off x="8036356"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46668"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EXPAND ONLY IF USEFUL</a:t>
            </a:r>
          </a:p>
        </p:txBody>
      </p:sp>
      <p:sp>
        <p:nvSpPr>
          <p:cNvPr id="17" name="TextBox 16"/>
          <p:cNvSpPr txBox="1"/>
          <p:nvPr/>
        </p:nvSpPr>
        <p:spPr>
          <a:xfrm>
            <a:off x="8246668"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Earn referrals</a:t>
            </a:r>
          </a:p>
        </p:txBody>
      </p:sp>
      <p:sp>
        <p:nvSpPr>
          <p:cNvPr id="18" name="TextBox 17"/>
          <p:cNvSpPr txBox="1"/>
          <p:nvPr/>
        </p:nvSpPr>
        <p:spPr>
          <a:xfrm>
            <a:off x="8246668" y="3959352"/>
            <a:ext cx="3003194" cy="1463040"/>
          </a:xfrm>
          <a:prstGeom prst="rect">
            <a:avLst/>
          </a:prstGeom>
          <a:noFill/>
        </p:spPr>
        <p:txBody>
          <a:bodyPr wrap="square" lIns="0" rIns="0" tIns="0" bIns="0" anchor="t">
            <a:noAutofit/>
          </a:bodyPr>
          <a:lstStyle/>
          <a:p>
            <a:pPr algn="l">
              <a:lnSpc>
                <a:spcPts val="1925"/>
              </a:lnSpc>
              <a:spcBef>
                <a:spcPts val="0"/>
              </a:spcBef>
              <a:spcAft>
                <a:spcPts val="0"/>
              </a:spcAft>
              <a:buNone/>
            </a:pPr>
            <a:r>
              <a:rPr sz="1650" b="0">
                <a:solidFill>
                  <a:srgbClr val="D5DED3"/>
                </a:solidFill>
                <a:latin typeface="Plus Jakarta Sans"/>
              </a:rPr>
              <a:t>Offer understandable setup guides and accessible walkthroughs. Expand channels after repeat use and safe operation are demonstrated.</a:t>
            </a:r>
          </a:p>
        </p:txBody>
      </p:sp>
      <p:sp>
        <p:nvSpPr>
          <p:cNvPr id="19" name="TextBox 18"/>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CareSphere planning appendix · October 26, 2026  |  Prospective channels; no acquired users or CAC data</a:t>
            </a:r>
          </a:p>
        </p:txBody>
      </p:sp>
      <p:sp>
        <p:nvSpPr>
          <p:cNvPr id="20" name="TextBox 19"/>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10</a:t>
            </a:r>
          </a:p>
        </p:txBody>
      </p:sp>
      <p:pic>
        <p:nvPicPr>
          <p:cNvPr id="21" name="Picture 20"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2" name="TextBox 21"/>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SUSTAINABILITY MODEL</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Keep essential support accessible.</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A model to validate—not a launched subscription or promised revenue.</a:t>
            </a:r>
          </a:p>
        </p:txBody>
      </p:sp>
      <p:sp>
        <p:nvSpPr>
          <p:cNvPr id="7" name="Rounded Rectangle 6"/>
          <p:cNvSpPr/>
          <p:nvPr/>
        </p:nvSpPr>
        <p:spPr>
          <a:xfrm>
            <a:off x="731520"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41832"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CORE EXPERIENCE</a:t>
            </a:r>
          </a:p>
        </p:txBody>
      </p:sp>
      <p:sp>
        <p:nvSpPr>
          <p:cNvPr id="9" name="TextBox 8"/>
          <p:cNvSpPr txBox="1"/>
          <p:nvPr/>
        </p:nvSpPr>
        <p:spPr>
          <a:xfrm>
            <a:off x="941832"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Free-first</a:t>
            </a:r>
          </a:p>
        </p:txBody>
      </p:sp>
      <p:sp>
        <p:nvSpPr>
          <p:cNvPr id="10" name="TextBox 9"/>
          <p:cNvSpPr txBox="1"/>
          <p:nvPr/>
        </p:nvSpPr>
        <p:spPr>
          <a:xfrm>
            <a:off x="941832"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Protect account-free daily tools. Do not sell care data or make an ad-targeting feed the business model.</a:t>
            </a:r>
          </a:p>
        </p:txBody>
      </p:sp>
      <p:sp>
        <p:nvSpPr>
          <p:cNvPr id="11" name="Rounded Rectangle 10"/>
          <p:cNvSpPr/>
          <p:nvPr/>
        </p:nvSpPr>
        <p:spPr>
          <a:xfrm>
            <a:off x="4383938"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94250"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POSSIBLE FUNDING</a:t>
            </a:r>
          </a:p>
        </p:txBody>
      </p:sp>
      <p:sp>
        <p:nvSpPr>
          <p:cNvPr id="13" name="TextBox 12"/>
          <p:cNvSpPr txBox="1"/>
          <p:nvPr/>
        </p:nvSpPr>
        <p:spPr>
          <a:xfrm>
            <a:off x="4594250"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Sponsored support</a:t>
            </a:r>
          </a:p>
        </p:txBody>
      </p:sp>
      <p:sp>
        <p:nvSpPr>
          <p:cNvPr id="14" name="TextBox 13"/>
          <p:cNvSpPr txBox="1"/>
          <p:nvPr/>
        </p:nvSpPr>
        <p:spPr>
          <a:xfrm>
            <a:off x="4594250"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Test grants or organizational sponsorship for onboarding, training and maintenance—not access to private records.</a:t>
            </a:r>
          </a:p>
        </p:txBody>
      </p:sp>
      <p:sp>
        <p:nvSpPr>
          <p:cNvPr id="15" name="Rounded Rectangle 14"/>
          <p:cNvSpPr/>
          <p:nvPr/>
        </p:nvSpPr>
        <p:spPr>
          <a:xfrm>
            <a:off x="8036356"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46668"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DECISION GATE</a:t>
            </a:r>
          </a:p>
        </p:txBody>
      </p:sp>
      <p:sp>
        <p:nvSpPr>
          <p:cNvPr id="17" name="TextBox 16"/>
          <p:cNvSpPr txBox="1"/>
          <p:nvPr/>
        </p:nvSpPr>
        <p:spPr>
          <a:xfrm>
            <a:off x="8246668"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Validate willingness to pay</a:t>
            </a:r>
          </a:p>
        </p:txBody>
      </p:sp>
      <p:sp>
        <p:nvSpPr>
          <p:cNvPr id="18" name="TextBox 17"/>
          <p:cNvSpPr txBox="1"/>
          <p:nvPr/>
        </p:nvSpPr>
        <p:spPr>
          <a:xfrm>
            <a:off x="8246668" y="3959352"/>
            <a:ext cx="3003194" cy="1463040"/>
          </a:xfrm>
          <a:prstGeom prst="rect">
            <a:avLst/>
          </a:prstGeom>
          <a:noFill/>
        </p:spPr>
        <p:txBody>
          <a:bodyPr wrap="square" lIns="0" rIns="0" tIns="0" bIns="0" anchor="t">
            <a:noAutofit/>
          </a:bodyPr>
          <a:lstStyle/>
          <a:p>
            <a:pPr algn="l">
              <a:lnSpc>
                <a:spcPts val="1925"/>
              </a:lnSpc>
              <a:spcBef>
                <a:spcPts val="0"/>
              </a:spcBef>
              <a:spcAft>
                <a:spcPts val="0"/>
              </a:spcAft>
              <a:buNone/>
            </a:pPr>
            <a:r>
              <a:rPr sz="1650" b="0">
                <a:solidFill>
                  <a:srgbClr val="D5DED3"/>
                </a:solidFill>
                <a:latin typeface="Plus Jakarta Sans"/>
              </a:rPr>
              <a:t>Interview potential supporters, cost the service, and clarify obligations before offering contracts. Payment flows are not demonstrated.</a:t>
            </a:r>
          </a:p>
        </p:txBody>
      </p:sp>
      <p:sp>
        <p:nvSpPr>
          <p:cNvPr id="19" name="TextBox 18"/>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CareSphere planning appendix · October 26, 2026  |  Funding and pricing unvalidated</a:t>
            </a:r>
          </a:p>
        </p:txBody>
      </p:sp>
      <p:sp>
        <p:nvSpPr>
          <p:cNvPr id="20" name="TextBox 19"/>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11</a:t>
            </a:r>
          </a:p>
        </p:txBody>
      </p:sp>
      <p:pic>
        <p:nvPicPr>
          <p:cNvPr id="21" name="Picture 20"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2" name="TextBox 21"/>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ILLUSTRATIVE ECONOMICS</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A transparent budget—not a profit forecast.</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One hypothetical annual cohort: 100 sponsored seats at $36 per seat per year.</a:t>
            </a:r>
          </a:p>
        </p:txBody>
      </p:sp>
      <p:sp>
        <p:nvSpPr>
          <p:cNvPr id="7" name="TextBox 6"/>
          <p:cNvSpPr txBox="1"/>
          <p:nvPr/>
        </p:nvSpPr>
        <p:spPr>
          <a:xfrm>
            <a:off x="731520" y="2514600"/>
            <a:ext cx="1901952" cy="365760"/>
          </a:xfrm>
          <a:prstGeom prst="rect">
            <a:avLst/>
          </a:prstGeom>
          <a:noFill/>
        </p:spPr>
        <p:txBody>
          <a:bodyPr wrap="square" lIns="0" rIns="0" tIns="0" bIns="0" anchor="t">
            <a:noAutofit/>
          </a:bodyPr>
          <a:lstStyle/>
          <a:p>
            <a:pPr algn="l">
              <a:lnSpc>
                <a:spcPts val="1883"/>
              </a:lnSpc>
              <a:spcBef>
                <a:spcPts val="0"/>
              </a:spcBef>
              <a:spcAft>
                <a:spcPts val="0"/>
              </a:spcAft>
              <a:buNone/>
            </a:pPr>
            <a:r>
              <a:rPr sz="1600" b="0">
                <a:solidFill>
                  <a:srgbClr val="EDF1E8"/>
                </a:solidFill>
                <a:latin typeface="Plus Jakarta Sans Medium"/>
              </a:rPr>
              <a:t>Gross sponsorship</a:t>
            </a:r>
          </a:p>
        </p:txBody>
      </p:sp>
      <p:sp>
        <p:nvSpPr>
          <p:cNvPr id="8" name="Rounded Rectangle 7"/>
          <p:cNvSpPr/>
          <p:nvPr/>
        </p:nvSpPr>
        <p:spPr>
          <a:xfrm>
            <a:off x="2788920" y="2487168"/>
            <a:ext cx="6995160" cy="420624"/>
          </a:xfrm>
          <a:prstGeom prst="roundRect">
            <a:avLst>
              <a:gd name="adj" fmla="val 17391"/>
            </a:avLst>
          </a:prstGeom>
          <a:solidFill>
            <a:srgbClr val="3D514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2788920" y="2487168"/>
            <a:ext cx="6995160" cy="420624"/>
          </a:xfrm>
          <a:prstGeom prst="roundRect">
            <a:avLst>
              <a:gd name="adj" fmla="val 17391"/>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40112" y="2478024"/>
            <a:ext cx="1371600" cy="457200"/>
          </a:xfrm>
          <a:prstGeom prst="rect">
            <a:avLst/>
          </a:prstGeom>
          <a:noFill/>
        </p:spPr>
        <p:txBody>
          <a:bodyPr wrap="square" lIns="0" rIns="0" tIns="0" bIns="0" anchor="t">
            <a:noAutofit/>
          </a:bodyPr>
          <a:lstStyle/>
          <a:p>
            <a:pPr algn="l">
              <a:lnSpc>
                <a:spcPts val="2713"/>
              </a:lnSpc>
              <a:spcBef>
                <a:spcPts val="0"/>
              </a:spcBef>
              <a:spcAft>
                <a:spcPts val="0"/>
              </a:spcAft>
              <a:buNone/>
            </a:pPr>
            <a:r>
              <a:rPr sz="2300" b="1">
                <a:solidFill>
                  <a:srgbClr val="EDF1E8"/>
                </a:solidFill>
                <a:latin typeface="Plus Jakarta Sans"/>
              </a:rPr>
              <a:t>$3,600</a:t>
            </a:r>
          </a:p>
        </p:txBody>
      </p:sp>
      <p:sp>
        <p:nvSpPr>
          <p:cNvPr id="11" name="TextBox 10"/>
          <p:cNvSpPr txBox="1"/>
          <p:nvPr/>
        </p:nvSpPr>
        <p:spPr>
          <a:xfrm>
            <a:off x="731520" y="3474720"/>
            <a:ext cx="1901952" cy="365760"/>
          </a:xfrm>
          <a:prstGeom prst="rect">
            <a:avLst/>
          </a:prstGeom>
          <a:noFill/>
        </p:spPr>
        <p:txBody>
          <a:bodyPr wrap="square" lIns="0" rIns="0" tIns="0" bIns="0" anchor="t">
            <a:noAutofit/>
          </a:bodyPr>
          <a:lstStyle/>
          <a:p>
            <a:pPr algn="l">
              <a:lnSpc>
                <a:spcPts val="2242"/>
              </a:lnSpc>
              <a:spcBef>
                <a:spcPts val="0"/>
              </a:spcBef>
              <a:spcAft>
                <a:spcPts val="0"/>
              </a:spcAft>
              <a:buNone/>
            </a:pPr>
            <a:r>
              <a:rPr sz="1900" b="0">
                <a:solidFill>
                  <a:srgbClr val="EDF1E8"/>
                </a:solidFill>
                <a:latin typeface="Plus Jakarta Sans Medium"/>
              </a:rPr>
              <a:t>Variable costs</a:t>
            </a:r>
          </a:p>
        </p:txBody>
      </p:sp>
      <p:sp>
        <p:nvSpPr>
          <p:cNvPr id="12" name="Rounded Rectangle 11"/>
          <p:cNvSpPr/>
          <p:nvPr/>
        </p:nvSpPr>
        <p:spPr>
          <a:xfrm>
            <a:off x="2788920" y="3447288"/>
            <a:ext cx="6995160" cy="420624"/>
          </a:xfrm>
          <a:prstGeom prst="roundRect">
            <a:avLst>
              <a:gd name="adj" fmla="val 17391"/>
            </a:avLst>
          </a:prstGeom>
          <a:solidFill>
            <a:srgbClr val="3D514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2788920" y="3447288"/>
            <a:ext cx="1165860" cy="420624"/>
          </a:xfrm>
          <a:prstGeom prst="roundRect">
            <a:avLst>
              <a:gd name="adj" fmla="val 17391"/>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040112" y="3438144"/>
            <a:ext cx="1371600" cy="457200"/>
          </a:xfrm>
          <a:prstGeom prst="rect">
            <a:avLst/>
          </a:prstGeom>
          <a:noFill/>
        </p:spPr>
        <p:txBody>
          <a:bodyPr wrap="square" lIns="0" rIns="0" tIns="0" bIns="0" anchor="t">
            <a:noAutofit/>
          </a:bodyPr>
          <a:lstStyle/>
          <a:p>
            <a:pPr algn="l">
              <a:lnSpc>
                <a:spcPts val="2713"/>
              </a:lnSpc>
              <a:spcBef>
                <a:spcPts val="0"/>
              </a:spcBef>
              <a:spcAft>
                <a:spcPts val="0"/>
              </a:spcAft>
              <a:buNone/>
            </a:pPr>
            <a:r>
              <a:rPr sz="2300" b="1">
                <a:solidFill>
                  <a:srgbClr val="EDF1E8"/>
                </a:solidFill>
                <a:latin typeface="Plus Jakarta Sans"/>
              </a:rPr>
              <a:t>$600</a:t>
            </a:r>
          </a:p>
        </p:txBody>
      </p:sp>
      <p:sp>
        <p:nvSpPr>
          <p:cNvPr id="15" name="TextBox 14"/>
          <p:cNvSpPr txBox="1"/>
          <p:nvPr/>
        </p:nvSpPr>
        <p:spPr>
          <a:xfrm>
            <a:off x="731520" y="4434840"/>
            <a:ext cx="1901952" cy="365760"/>
          </a:xfrm>
          <a:prstGeom prst="rect">
            <a:avLst/>
          </a:prstGeom>
          <a:noFill/>
        </p:spPr>
        <p:txBody>
          <a:bodyPr wrap="square" lIns="0" rIns="0" tIns="0" bIns="0" anchor="t">
            <a:noAutofit/>
          </a:bodyPr>
          <a:lstStyle/>
          <a:p>
            <a:pPr algn="l">
              <a:lnSpc>
                <a:spcPts val="2242"/>
              </a:lnSpc>
              <a:spcBef>
                <a:spcPts val="0"/>
              </a:spcBef>
              <a:spcAft>
                <a:spcPts val="0"/>
              </a:spcAft>
              <a:buNone/>
            </a:pPr>
            <a:r>
              <a:rPr sz="1900" b="0">
                <a:solidFill>
                  <a:srgbClr val="EDF1E8"/>
                </a:solidFill>
                <a:latin typeface="Plus Jakarta Sans Medium"/>
              </a:rPr>
              <a:t>Fixed budget</a:t>
            </a:r>
          </a:p>
        </p:txBody>
      </p:sp>
      <p:sp>
        <p:nvSpPr>
          <p:cNvPr id="16" name="Rounded Rectangle 15"/>
          <p:cNvSpPr/>
          <p:nvPr/>
        </p:nvSpPr>
        <p:spPr>
          <a:xfrm>
            <a:off x="2788920" y="4407408"/>
            <a:ext cx="6995160" cy="420624"/>
          </a:xfrm>
          <a:prstGeom prst="roundRect">
            <a:avLst>
              <a:gd name="adj" fmla="val 17391"/>
            </a:avLst>
          </a:prstGeom>
          <a:solidFill>
            <a:srgbClr val="3D5141">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2788920" y="4407408"/>
            <a:ext cx="4663440" cy="420624"/>
          </a:xfrm>
          <a:prstGeom prst="roundRect">
            <a:avLst>
              <a:gd name="adj" fmla="val 17391"/>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040112" y="4398264"/>
            <a:ext cx="1371600" cy="457200"/>
          </a:xfrm>
          <a:prstGeom prst="rect">
            <a:avLst/>
          </a:prstGeom>
          <a:noFill/>
        </p:spPr>
        <p:txBody>
          <a:bodyPr wrap="square" lIns="0" rIns="0" tIns="0" bIns="0" anchor="t">
            <a:noAutofit/>
          </a:bodyPr>
          <a:lstStyle/>
          <a:p>
            <a:pPr algn="l">
              <a:lnSpc>
                <a:spcPts val="2713"/>
              </a:lnSpc>
              <a:spcBef>
                <a:spcPts val="0"/>
              </a:spcBef>
              <a:spcAft>
                <a:spcPts val="0"/>
              </a:spcAft>
              <a:buNone/>
            </a:pPr>
            <a:r>
              <a:rPr sz="2300" b="1">
                <a:solidFill>
                  <a:srgbClr val="EDF1E8"/>
                </a:solidFill>
                <a:latin typeface="Plus Jakarta Sans"/>
              </a:rPr>
              <a:t>$2,400</a:t>
            </a:r>
          </a:p>
        </p:txBody>
      </p:sp>
      <p:sp>
        <p:nvSpPr>
          <p:cNvPr id="19" name="TextBox 18"/>
          <p:cNvSpPr txBox="1"/>
          <p:nvPr/>
        </p:nvSpPr>
        <p:spPr>
          <a:xfrm>
            <a:off x="731520" y="5559552"/>
            <a:ext cx="10728655" cy="411480"/>
          </a:xfrm>
          <a:prstGeom prst="rect">
            <a:avLst/>
          </a:prstGeom>
          <a:noFill/>
        </p:spPr>
        <p:txBody>
          <a:bodyPr wrap="square" lIns="0" rIns="0" tIns="0" bIns="0" anchor="t">
            <a:noAutofit/>
          </a:bodyPr>
          <a:lstStyle/>
          <a:p>
            <a:pPr algn="l">
              <a:lnSpc>
                <a:spcPts val="1770"/>
              </a:lnSpc>
              <a:spcBef>
                <a:spcPts val="0"/>
              </a:spcBef>
              <a:spcAft>
                <a:spcPts val="0"/>
              </a:spcAft>
              <a:buNone/>
            </a:pPr>
            <a:r>
              <a:rPr sz="1500" b="0">
                <a:solidFill>
                  <a:srgbClr val="AEBEAF"/>
                </a:solidFill>
                <a:latin typeface="Plus Jakarta Sans"/>
              </a:rPr>
              <a:t>$600 remains before labor, tax, payment fees, legal/compliance work and contingencies.</a:t>
            </a:r>
          </a:p>
        </p:txBody>
      </p:sp>
      <p:sp>
        <p:nvSpPr>
          <p:cNvPr id="20" name="TextBox 19"/>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CareSphere planning appendix · October 26, 2026  |  $6 variable/seat/year; $2,400 fixed/year</a:t>
            </a:r>
          </a:p>
        </p:txBody>
      </p:sp>
      <p:sp>
        <p:nvSpPr>
          <p:cNvPr id="21" name="TextBox 20"/>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12</a:t>
            </a:r>
          </a:p>
        </p:txBody>
      </p:sp>
      <p:pic>
        <p:nvPicPr>
          <p:cNvPr id="22" name="Picture 21"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3" name="TextBox 22"/>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PRODUCT AND SYSTEM BOUNDARIES</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Local-first has clear boundaries.</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Web, iPhone and Android source exist; native-device validation remains pending.</a:t>
            </a:r>
          </a:p>
        </p:txBody>
      </p:sp>
      <p:sp>
        <p:nvSpPr>
          <p:cNvPr id="7" name="Rounded Rectangle 6"/>
          <p:cNvSpPr/>
          <p:nvPr/>
        </p:nvSpPr>
        <p:spPr>
          <a:xfrm>
            <a:off x="731520"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41832"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ON THE DEVICE</a:t>
            </a:r>
          </a:p>
        </p:txBody>
      </p:sp>
      <p:sp>
        <p:nvSpPr>
          <p:cNvPr id="9" name="TextBox 8"/>
          <p:cNvSpPr txBox="1"/>
          <p:nvPr/>
        </p:nvSpPr>
        <p:spPr>
          <a:xfrm>
            <a:off x="941832"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Personal care tools</a:t>
            </a:r>
          </a:p>
        </p:txBody>
      </p:sp>
      <p:sp>
        <p:nvSpPr>
          <p:cNvPr id="10" name="TextBox 9"/>
          <p:cNvSpPr txBox="1"/>
          <p:nvPr/>
        </p:nvSpPr>
        <p:spPr>
          <a:xfrm>
            <a:off x="941832" y="3959352"/>
            <a:ext cx="3003194" cy="1463040"/>
          </a:xfrm>
          <a:prstGeom prst="rect">
            <a:avLst/>
          </a:prstGeom>
          <a:noFill/>
        </p:spPr>
        <p:txBody>
          <a:bodyPr wrap="square" lIns="0" rIns="0" tIns="0" bIns="0" anchor="t">
            <a:noAutofit/>
          </a:bodyPr>
          <a:lstStyle/>
          <a:p>
            <a:pPr algn="l">
              <a:lnSpc>
                <a:spcPts val="1925"/>
              </a:lnSpc>
              <a:spcBef>
                <a:spcPts val="0"/>
              </a:spcBef>
              <a:spcAft>
                <a:spcPts val="0"/>
              </a:spcAft>
              <a:buNone/>
            </a:pPr>
            <a:r>
              <a:rPr sz="1650" b="0">
                <a:solidFill>
                  <a:srgbClr val="D5DED3"/>
                </a:solidFill>
                <a:latin typeface="Plus Jakarta Sans"/>
              </a:rPr>
              <a:t>Account-free core and encrypted local care data. Selected records can be reviewed before export. A lost key or device can mean lost access.</a:t>
            </a:r>
          </a:p>
        </p:txBody>
      </p:sp>
      <p:sp>
        <p:nvSpPr>
          <p:cNvPr id="11" name="Rounded Rectangle 10"/>
          <p:cNvSpPr/>
          <p:nvPr/>
        </p:nvSpPr>
        <p:spPr>
          <a:xfrm>
            <a:off x="4383938"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94250"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OUTSIDE THE DEVICE</a:t>
            </a:r>
          </a:p>
        </p:txBody>
      </p:sp>
      <p:sp>
        <p:nvSpPr>
          <p:cNvPr id="13" name="TextBox 12"/>
          <p:cNvSpPr txBox="1"/>
          <p:nvPr/>
        </p:nvSpPr>
        <p:spPr>
          <a:xfrm>
            <a:off x="4594250"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Explicit external services</a:t>
            </a:r>
          </a:p>
        </p:txBody>
      </p:sp>
      <p:sp>
        <p:nvSpPr>
          <p:cNvPr id="14" name="TextBox 13"/>
          <p:cNvSpPr txBox="1"/>
          <p:nvPr/>
        </p:nvSpPr>
        <p:spPr>
          <a:xfrm>
            <a:off x="4594250"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Jitsi video calls use external infrastructure. Apple’s optional on-device model needs eligible hardware, OS and model availability.</a:t>
            </a:r>
          </a:p>
        </p:txBody>
      </p:sp>
      <p:sp>
        <p:nvSpPr>
          <p:cNvPr id="15" name="Rounded Rectangle 14"/>
          <p:cNvSpPr/>
          <p:nvPr/>
        </p:nvSpPr>
        <p:spPr>
          <a:xfrm>
            <a:off x="8036356"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46668"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NEVER IMPLY</a:t>
            </a:r>
          </a:p>
        </p:txBody>
      </p:sp>
      <p:sp>
        <p:nvSpPr>
          <p:cNvPr id="17" name="TextBox 16"/>
          <p:cNvSpPr txBox="1"/>
          <p:nvPr/>
        </p:nvSpPr>
        <p:spPr>
          <a:xfrm>
            <a:off x="8246668" y="3035808"/>
            <a:ext cx="3003194" cy="731520"/>
          </a:xfrm>
          <a:prstGeom prst="rect">
            <a:avLst/>
          </a:prstGeom>
          <a:noFill/>
        </p:spPr>
        <p:txBody>
          <a:bodyPr wrap="square" lIns="0" rIns="0" tIns="0" bIns="0" anchor="t">
            <a:noAutofit/>
          </a:bodyPr>
          <a:lstStyle/>
          <a:p>
            <a:pPr algn="l">
              <a:lnSpc>
                <a:spcPts val="2492"/>
              </a:lnSpc>
              <a:spcBef>
                <a:spcPts val="0"/>
              </a:spcBef>
              <a:spcAft>
                <a:spcPts val="0"/>
              </a:spcAft>
              <a:buNone/>
            </a:pPr>
            <a:r>
              <a:rPr sz="2100" b="1">
                <a:solidFill>
                  <a:srgbClr val="EDF1E8"/>
                </a:solidFill>
                <a:latin typeface="Plus Jakarta Sans"/>
              </a:rPr>
              <a:t>Clinical or emergency coverage</a:t>
            </a:r>
          </a:p>
        </p:txBody>
      </p:sp>
      <p:sp>
        <p:nvSpPr>
          <p:cNvPr id="18" name="TextBox 17"/>
          <p:cNvSpPr txBox="1"/>
          <p:nvPr/>
        </p:nvSpPr>
        <p:spPr>
          <a:xfrm>
            <a:off x="8246668" y="3959352"/>
            <a:ext cx="3003194" cy="1463040"/>
          </a:xfrm>
          <a:prstGeom prst="rect">
            <a:avLst/>
          </a:prstGeom>
          <a:noFill/>
        </p:spPr>
        <p:txBody>
          <a:bodyPr wrap="square" lIns="0" rIns="0" tIns="0" bIns="0" anchor="t">
            <a:noAutofit/>
          </a:bodyPr>
          <a:lstStyle/>
          <a:p>
            <a:pPr algn="l">
              <a:lnSpc>
                <a:spcPts val="1925"/>
              </a:lnSpc>
              <a:spcBef>
                <a:spcPts val="0"/>
              </a:spcBef>
              <a:spcAft>
                <a:spcPts val="0"/>
              </a:spcAft>
              <a:buNone/>
            </a:pPr>
            <a:r>
              <a:rPr sz="1650" b="0">
                <a:solidFill>
                  <a:srgbClr val="D5DED3"/>
                </a:solidFill>
                <a:latin typeface="Plus Jakarta Sans"/>
              </a:rPr>
              <a:t>No diagnosis, verified-dose guarantee, continuous monitoring or emergency dispatch. Reference links and visit summaries support information organization.</a:t>
            </a:r>
          </a:p>
        </p:txBody>
      </p:sp>
      <p:sp>
        <p:nvSpPr>
          <p:cNvPr id="19" name="TextBox 18"/>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Sources: P1</a:t>
            </a:r>
          </a:p>
        </p:txBody>
      </p:sp>
      <p:sp>
        <p:nvSpPr>
          <p:cNvPr id="20" name="TextBox 19"/>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13</a:t>
            </a:r>
          </a:p>
        </p:txBody>
      </p:sp>
      <p:pic>
        <p:nvPicPr>
          <p:cNvPr id="21" name="Picture 20"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2" name="TextBox 21"/>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EVIDENCE AND TRACTION</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Built is not the same as validated.</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Research informs design; it does not validate CareSphere’s clinical outcomes.</a:t>
            </a:r>
          </a:p>
        </p:txBody>
      </p:sp>
      <p:sp>
        <p:nvSpPr>
          <p:cNvPr id="7" name="Rounded Rectangle 6"/>
          <p:cNvSpPr/>
          <p:nvPr/>
        </p:nvSpPr>
        <p:spPr>
          <a:xfrm>
            <a:off x="731520"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41832"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SOURCE AND ARTIFACTS</a:t>
            </a:r>
          </a:p>
        </p:txBody>
      </p:sp>
      <p:sp>
        <p:nvSpPr>
          <p:cNvPr id="9" name="TextBox 8"/>
          <p:cNvSpPr txBox="1"/>
          <p:nvPr/>
        </p:nvSpPr>
        <p:spPr>
          <a:xfrm>
            <a:off x="941832"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What can be inspected</a:t>
            </a:r>
          </a:p>
        </p:txBody>
      </p:sp>
      <p:sp>
        <p:nvSpPr>
          <p:cNvPr id="10" name="TextBox 9"/>
          <p:cNvSpPr txBox="1"/>
          <p:nvPr/>
        </p:nvSpPr>
        <p:spPr>
          <a:xfrm>
            <a:off x="941832"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Feature source across three platforms; real mobile-web screenshots; editable decks and a working-web demonstration workflow.</a:t>
            </a:r>
          </a:p>
        </p:txBody>
      </p:sp>
      <p:sp>
        <p:nvSpPr>
          <p:cNvPr id="11" name="Rounded Rectangle 10"/>
          <p:cNvSpPr/>
          <p:nvPr/>
        </p:nvSpPr>
        <p:spPr>
          <a:xfrm>
            <a:off x="4383938"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94250"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RESEARCH RATIONALE</a:t>
            </a:r>
          </a:p>
        </p:txBody>
      </p:sp>
      <p:sp>
        <p:nvSpPr>
          <p:cNvPr id="13" name="TextBox 12"/>
          <p:cNvSpPr txBox="1"/>
          <p:nvPr/>
        </p:nvSpPr>
        <p:spPr>
          <a:xfrm>
            <a:off x="4594250"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What papers suggest</a:t>
            </a:r>
          </a:p>
        </p:txBody>
      </p:sp>
      <p:sp>
        <p:nvSpPr>
          <p:cNvPr id="14" name="TextBox 13"/>
          <p:cNvSpPr txBox="1"/>
          <p:nvPr/>
        </p:nvSpPr>
        <p:spPr>
          <a:xfrm>
            <a:off x="4594250"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Digital support, individual needs and meaningful video interaction inform design. These studies did not test CareSphere.</a:t>
            </a:r>
          </a:p>
        </p:txBody>
      </p:sp>
      <p:sp>
        <p:nvSpPr>
          <p:cNvPr id="15" name="Rounded Rectangle 14"/>
          <p:cNvSpPr/>
          <p:nvPr/>
        </p:nvSpPr>
        <p:spPr>
          <a:xfrm>
            <a:off x="8036356"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46668"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NOT ESTABLISHED</a:t>
            </a:r>
          </a:p>
        </p:txBody>
      </p:sp>
      <p:sp>
        <p:nvSpPr>
          <p:cNvPr id="17" name="TextBox 16"/>
          <p:cNvSpPr txBox="1"/>
          <p:nvPr/>
        </p:nvSpPr>
        <p:spPr>
          <a:xfrm>
            <a:off x="8246668"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What still needs evidence</a:t>
            </a:r>
          </a:p>
        </p:txBody>
      </p:sp>
      <p:sp>
        <p:nvSpPr>
          <p:cNvPr id="18" name="TextBox 17"/>
          <p:cNvSpPr txBox="1"/>
          <p:nvPr/>
        </p:nvSpPr>
        <p:spPr>
          <a:xfrm>
            <a:off x="8246668"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Verified adoption, retention, revenue, clinical outcomes, signed partners, native store releases and physical-device reliability.</a:t>
            </a:r>
          </a:p>
        </p:txBody>
      </p:sp>
      <p:sp>
        <p:nvSpPr>
          <p:cNvPr id="19" name="TextBox 18"/>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Sources: P1, R1, R2, R3</a:t>
            </a:r>
          </a:p>
        </p:txBody>
      </p:sp>
      <p:sp>
        <p:nvSpPr>
          <p:cNvPr id="20" name="TextBox 19"/>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14</a:t>
            </a:r>
          </a:p>
        </p:txBody>
      </p:sp>
      <p:pic>
        <p:nvPicPr>
          <p:cNvPr id="21" name="Picture 20"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2" name="TextBox 21"/>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ROADMAP AND GATES</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Advance when the evidence is ready.</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Relative planning windows—not fixed release dates or completed tests.</a:t>
            </a:r>
          </a:p>
        </p:txBody>
      </p:sp>
      <p:sp>
        <p:nvSpPr>
          <p:cNvPr id="7" name="Rounded Rectangle 6"/>
          <p:cNvSpPr/>
          <p:nvPr/>
        </p:nvSpPr>
        <p:spPr>
          <a:xfrm>
            <a:off x="731520"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41832"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0–3 MONTHS · PROPOSED</a:t>
            </a:r>
          </a:p>
        </p:txBody>
      </p:sp>
      <p:sp>
        <p:nvSpPr>
          <p:cNvPr id="9" name="TextBox 8"/>
          <p:cNvSpPr txBox="1"/>
          <p:nvPr/>
        </p:nvSpPr>
        <p:spPr>
          <a:xfrm>
            <a:off x="941832"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Accessibility gate</a:t>
            </a:r>
          </a:p>
        </p:txBody>
      </p:sp>
      <p:sp>
        <p:nvSpPr>
          <p:cNvPr id="10" name="TextBox 9"/>
          <p:cNvSpPr txBox="1"/>
          <p:nvPr/>
        </p:nvSpPr>
        <p:spPr>
          <a:xfrm>
            <a:off x="941832"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Review VoiceOver, Dynamic Type, keyboard navigation, contrast and language flows with consenting users.</a:t>
            </a:r>
          </a:p>
        </p:txBody>
      </p:sp>
      <p:sp>
        <p:nvSpPr>
          <p:cNvPr id="11" name="Rounded Rectangle 10"/>
          <p:cNvSpPr/>
          <p:nvPr/>
        </p:nvSpPr>
        <p:spPr>
          <a:xfrm>
            <a:off x="4383938"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94250"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3–6 MONTHS · PROPOSED</a:t>
            </a:r>
          </a:p>
        </p:txBody>
      </p:sp>
      <p:sp>
        <p:nvSpPr>
          <p:cNvPr id="13" name="TextBox 12"/>
          <p:cNvSpPr txBox="1"/>
          <p:nvPr/>
        </p:nvSpPr>
        <p:spPr>
          <a:xfrm>
            <a:off x="4594250"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Reliability gate</a:t>
            </a:r>
          </a:p>
        </p:txBody>
      </p:sp>
      <p:sp>
        <p:nvSpPr>
          <p:cNvPr id="14" name="TextBox 13"/>
          <p:cNvSpPr txBox="1"/>
          <p:nvPr/>
        </p:nvSpPr>
        <p:spPr>
          <a:xfrm>
            <a:off x="4594250"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Test reminders across time zones and restarts; BLE disconnects; encryption, export and recovery on real devices.</a:t>
            </a:r>
          </a:p>
        </p:txBody>
      </p:sp>
      <p:sp>
        <p:nvSpPr>
          <p:cNvPr id="15" name="Rounded Rectangle 14"/>
          <p:cNvSpPr/>
          <p:nvPr/>
        </p:nvSpPr>
        <p:spPr>
          <a:xfrm>
            <a:off x="8036356"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46668"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6–12 MONTHS · PROPOSED</a:t>
            </a:r>
          </a:p>
        </p:txBody>
      </p:sp>
      <p:sp>
        <p:nvSpPr>
          <p:cNvPr id="17" name="TextBox 16"/>
          <p:cNvSpPr txBox="1"/>
          <p:nvPr/>
        </p:nvSpPr>
        <p:spPr>
          <a:xfrm>
            <a:off x="8246668"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Pilot gate</a:t>
            </a:r>
          </a:p>
        </p:txBody>
      </p:sp>
      <p:sp>
        <p:nvSpPr>
          <p:cNvPr id="18" name="TextBox 17"/>
          <p:cNvSpPr txBox="1"/>
          <p:nvPr/>
        </p:nvSpPr>
        <p:spPr>
          <a:xfrm>
            <a:off x="8246668" y="3959352"/>
            <a:ext cx="3003194" cy="1463040"/>
          </a:xfrm>
          <a:prstGeom prst="rect">
            <a:avLst/>
          </a:prstGeom>
          <a:noFill/>
        </p:spPr>
        <p:txBody>
          <a:bodyPr wrap="square" lIns="0" rIns="0" tIns="0" bIns="0" anchor="t">
            <a:noAutofit/>
          </a:bodyPr>
          <a:lstStyle/>
          <a:p>
            <a:pPr algn="l">
              <a:lnSpc>
                <a:spcPts val="1925"/>
              </a:lnSpc>
              <a:spcBef>
                <a:spcPts val="0"/>
              </a:spcBef>
              <a:spcAft>
                <a:spcPts val="0"/>
              </a:spcAft>
              <a:buNone/>
            </a:pPr>
            <a:r>
              <a:rPr sz="1650" b="0">
                <a:solidFill>
                  <a:srgbClr val="D5DED3"/>
                </a:solidFill>
                <a:latin typeface="Plus Jakarta Sans"/>
              </a:rPr>
              <a:t>Run a small opt-in cohort only after critical safety issues are resolved. Measure chosen-task success and repeat usefulness before widening access.</a:t>
            </a:r>
          </a:p>
        </p:txBody>
      </p:sp>
      <p:sp>
        <p:nvSpPr>
          <p:cNvPr id="19" name="TextBox 18"/>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CareSphere planning appendix · October 26, 2026  |  Timing subject to resources and testing</a:t>
            </a:r>
          </a:p>
        </p:txBody>
      </p:sp>
      <p:sp>
        <p:nvSpPr>
          <p:cNvPr id="20" name="TextBox 19"/>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15</a:t>
            </a:r>
          </a:p>
        </p:txBody>
      </p:sp>
      <p:pic>
        <p:nvPicPr>
          <p:cNvPr id="21" name="Picture 20"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2" name="TextBox 21"/>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RISKS AND MITIGATIONS</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Trust risks deserve an explicit plan.</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No mitigation below should be mistaken for a completed audit.</a:t>
            </a:r>
          </a:p>
        </p:txBody>
      </p:sp>
      <p:sp>
        <p:nvSpPr>
          <p:cNvPr id="7" name="Rounded Rectangle 6"/>
          <p:cNvSpPr/>
          <p:nvPr/>
        </p:nvSpPr>
        <p:spPr>
          <a:xfrm>
            <a:off x="731520" y="2221992"/>
            <a:ext cx="10728655" cy="557784"/>
          </a:xfrm>
          <a:prstGeom prst="roundRect">
            <a:avLst>
              <a:gd name="adj" fmla="val 32786"/>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96112" y="2331720"/>
            <a:ext cx="1600200" cy="320040"/>
          </a:xfrm>
          <a:prstGeom prst="rect">
            <a:avLst/>
          </a:prstGeom>
          <a:noFill/>
        </p:spPr>
        <p:txBody>
          <a:bodyPr wrap="square" lIns="0" rIns="0" tIns="0" bIns="0" anchor="t">
            <a:noAutofit/>
          </a:bodyPr>
          <a:lstStyle/>
          <a:p>
            <a:pPr algn="l">
              <a:lnSpc>
                <a:spcPts val="2005"/>
              </a:lnSpc>
              <a:spcBef>
                <a:spcPts val="0"/>
              </a:spcBef>
              <a:spcAft>
                <a:spcPts val="0"/>
              </a:spcAft>
              <a:buNone/>
            </a:pPr>
            <a:r>
              <a:rPr sz="1700" b="1">
                <a:solidFill>
                  <a:srgbClr val="EDF1E8"/>
                </a:solidFill>
                <a:latin typeface="Plus Jakarta Sans"/>
              </a:rPr>
              <a:t>Reliability</a:t>
            </a:r>
          </a:p>
        </p:txBody>
      </p:sp>
      <p:sp>
        <p:nvSpPr>
          <p:cNvPr id="9" name="TextBox 8"/>
          <p:cNvSpPr txBox="1"/>
          <p:nvPr/>
        </p:nvSpPr>
        <p:spPr>
          <a:xfrm>
            <a:off x="2679191" y="2331720"/>
            <a:ext cx="3840480" cy="320040"/>
          </a:xfrm>
          <a:prstGeom prst="rect">
            <a:avLst/>
          </a:prstGeom>
          <a:noFill/>
        </p:spPr>
        <p:txBody>
          <a:bodyPr wrap="square" lIns="0" rIns="0" tIns="0" bIns="0" anchor="t">
            <a:noAutofit/>
          </a:bodyPr>
          <a:lstStyle/>
          <a:p>
            <a:pPr algn="l">
              <a:lnSpc>
                <a:spcPts val="1888"/>
              </a:lnSpc>
              <a:spcBef>
                <a:spcPts val="0"/>
              </a:spcBef>
              <a:spcAft>
                <a:spcPts val="0"/>
              </a:spcAft>
              <a:buNone/>
            </a:pPr>
            <a:r>
              <a:rPr sz="1600" b="0">
                <a:solidFill>
                  <a:srgbClr val="D5DED3"/>
                </a:solidFill>
                <a:latin typeface="Plus Jakarta Sans"/>
              </a:rPr>
              <a:t>Missed reminders or stale readings</a:t>
            </a:r>
          </a:p>
        </p:txBody>
      </p:sp>
      <p:sp>
        <p:nvSpPr>
          <p:cNvPr id="10" name="TextBox 9"/>
          <p:cNvSpPr txBox="1"/>
          <p:nvPr/>
        </p:nvSpPr>
        <p:spPr>
          <a:xfrm>
            <a:off x="6812280" y="2331720"/>
            <a:ext cx="4443984" cy="320040"/>
          </a:xfrm>
          <a:prstGeom prst="rect">
            <a:avLst/>
          </a:prstGeom>
          <a:noFill/>
        </p:spPr>
        <p:txBody>
          <a:bodyPr wrap="square" lIns="0" rIns="0" tIns="0" bIns="0" anchor="t">
            <a:noAutofit/>
          </a:bodyPr>
          <a:lstStyle/>
          <a:p>
            <a:pPr algn="l">
              <a:lnSpc>
                <a:spcPts val="1812"/>
              </a:lnSpc>
              <a:spcBef>
                <a:spcPts val="0"/>
              </a:spcBef>
              <a:spcAft>
                <a:spcPts val="0"/>
              </a:spcAft>
              <a:buNone/>
            </a:pPr>
            <a:r>
              <a:rPr sz="1550" b="0">
                <a:solidFill>
                  <a:srgbClr val="D5DED3"/>
                </a:solidFill>
                <a:latin typeface="Plus Jakarta Sans"/>
              </a:rPr>
              <a:t>Device/time-zone testing; visible failure states</a:t>
            </a:r>
          </a:p>
        </p:txBody>
      </p:sp>
      <p:sp>
        <p:nvSpPr>
          <p:cNvPr id="11" name="Rounded Rectangle 10"/>
          <p:cNvSpPr/>
          <p:nvPr/>
        </p:nvSpPr>
        <p:spPr>
          <a:xfrm>
            <a:off x="731520" y="2852928"/>
            <a:ext cx="10728655" cy="557784"/>
          </a:xfrm>
          <a:prstGeom prst="roundRect">
            <a:avLst>
              <a:gd name="adj" fmla="val 32786"/>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96112" y="2962656"/>
            <a:ext cx="1600200" cy="320040"/>
          </a:xfrm>
          <a:prstGeom prst="rect">
            <a:avLst/>
          </a:prstGeom>
          <a:noFill/>
        </p:spPr>
        <p:txBody>
          <a:bodyPr wrap="square" lIns="0" rIns="0" tIns="0" bIns="0" anchor="t">
            <a:noAutofit/>
          </a:bodyPr>
          <a:lstStyle/>
          <a:p>
            <a:pPr algn="l">
              <a:lnSpc>
                <a:spcPts val="2005"/>
              </a:lnSpc>
              <a:spcBef>
                <a:spcPts val="0"/>
              </a:spcBef>
              <a:spcAft>
                <a:spcPts val="0"/>
              </a:spcAft>
              <a:buNone/>
            </a:pPr>
            <a:r>
              <a:rPr sz="1700" b="1">
                <a:solidFill>
                  <a:srgbClr val="EDF1E8"/>
                </a:solidFill>
                <a:latin typeface="Plus Jakarta Sans"/>
              </a:rPr>
              <a:t>Privacy</a:t>
            </a:r>
          </a:p>
        </p:txBody>
      </p:sp>
      <p:sp>
        <p:nvSpPr>
          <p:cNvPr id="13" name="TextBox 12"/>
          <p:cNvSpPr txBox="1"/>
          <p:nvPr/>
        </p:nvSpPr>
        <p:spPr>
          <a:xfrm>
            <a:off x="2679191" y="2962656"/>
            <a:ext cx="3840480" cy="320040"/>
          </a:xfrm>
          <a:prstGeom prst="rect">
            <a:avLst/>
          </a:prstGeom>
          <a:noFill/>
        </p:spPr>
        <p:txBody>
          <a:bodyPr wrap="square" lIns="0" rIns="0" tIns="0" bIns="0" anchor="t">
            <a:noAutofit/>
          </a:bodyPr>
          <a:lstStyle/>
          <a:p>
            <a:pPr algn="l">
              <a:lnSpc>
                <a:spcPts val="1888"/>
              </a:lnSpc>
              <a:spcBef>
                <a:spcPts val="0"/>
              </a:spcBef>
              <a:spcAft>
                <a:spcPts val="0"/>
              </a:spcAft>
              <a:buNone/>
            </a:pPr>
            <a:r>
              <a:rPr sz="1600" b="0">
                <a:solidFill>
                  <a:srgbClr val="D5DED3"/>
                </a:solidFill>
                <a:latin typeface="Plus Jakarta Sans"/>
              </a:rPr>
              <a:t>Sensitive exports or shared rooms</a:t>
            </a:r>
          </a:p>
        </p:txBody>
      </p:sp>
      <p:sp>
        <p:nvSpPr>
          <p:cNvPr id="14" name="TextBox 13"/>
          <p:cNvSpPr txBox="1"/>
          <p:nvPr/>
        </p:nvSpPr>
        <p:spPr>
          <a:xfrm>
            <a:off x="6812280" y="2962656"/>
            <a:ext cx="4443984" cy="320040"/>
          </a:xfrm>
          <a:prstGeom prst="rect">
            <a:avLst/>
          </a:prstGeom>
          <a:noFill/>
        </p:spPr>
        <p:txBody>
          <a:bodyPr wrap="square" lIns="0" rIns="0" tIns="0" bIns="0" anchor="t">
            <a:noAutofit/>
          </a:bodyPr>
          <a:lstStyle/>
          <a:p>
            <a:pPr algn="l">
              <a:lnSpc>
                <a:spcPts val="1812"/>
              </a:lnSpc>
              <a:spcBef>
                <a:spcPts val="0"/>
              </a:spcBef>
              <a:spcAft>
                <a:spcPts val="0"/>
              </a:spcAft>
              <a:buNone/>
            </a:pPr>
            <a:r>
              <a:rPr sz="1550" b="0">
                <a:solidFill>
                  <a:srgbClr val="D5DED3"/>
                </a:solidFill>
                <a:latin typeface="Plus Jakarta Sans"/>
              </a:rPr>
              <a:t>Review-before-share; explain external services</a:t>
            </a:r>
          </a:p>
        </p:txBody>
      </p:sp>
      <p:sp>
        <p:nvSpPr>
          <p:cNvPr id="15" name="Rounded Rectangle 14"/>
          <p:cNvSpPr/>
          <p:nvPr/>
        </p:nvSpPr>
        <p:spPr>
          <a:xfrm>
            <a:off x="731520" y="3483864"/>
            <a:ext cx="10728655" cy="557784"/>
          </a:xfrm>
          <a:prstGeom prst="roundRect">
            <a:avLst>
              <a:gd name="adj" fmla="val 32786"/>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96112" y="3593592"/>
            <a:ext cx="1600200" cy="320040"/>
          </a:xfrm>
          <a:prstGeom prst="rect">
            <a:avLst/>
          </a:prstGeom>
          <a:noFill/>
        </p:spPr>
        <p:txBody>
          <a:bodyPr wrap="square" lIns="0" rIns="0" tIns="0" bIns="0" anchor="t">
            <a:noAutofit/>
          </a:bodyPr>
          <a:lstStyle/>
          <a:p>
            <a:pPr algn="l">
              <a:lnSpc>
                <a:spcPts val="2005"/>
              </a:lnSpc>
              <a:spcBef>
                <a:spcPts val="0"/>
              </a:spcBef>
              <a:spcAft>
                <a:spcPts val="0"/>
              </a:spcAft>
              <a:buNone/>
            </a:pPr>
            <a:r>
              <a:rPr sz="1700" b="1">
                <a:solidFill>
                  <a:srgbClr val="EDF1E8"/>
                </a:solidFill>
                <a:latin typeface="Plus Jakarta Sans"/>
              </a:rPr>
              <a:t>Accessibility</a:t>
            </a:r>
          </a:p>
        </p:txBody>
      </p:sp>
      <p:sp>
        <p:nvSpPr>
          <p:cNvPr id="17" name="TextBox 16"/>
          <p:cNvSpPr txBox="1"/>
          <p:nvPr/>
        </p:nvSpPr>
        <p:spPr>
          <a:xfrm>
            <a:off x="2679191" y="3593592"/>
            <a:ext cx="3840480" cy="320040"/>
          </a:xfrm>
          <a:prstGeom prst="rect">
            <a:avLst/>
          </a:prstGeom>
          <a:noFill/>
        </p:spPr>
        <p:txBody>
          <a:bodyPr wrap="square" lIns="0" rIns="0" tIns="0" bIns="0" anchor="t">
            <a:noAutofit/>
          </a:bodyPr>
          <a:lstStyle/>
          <a:p>
            <a:pPr algn="l">
              <a:lnSpc>
                <a:spcPts val="1888"/>
              </a:lnSpc>
              <a:spcBef>
                <a:spcPts val="0"/>
              </a:spcBef>
              <a:spcAft>
                <a:spcPts val="0"/>
              </a:spcAft>
              <a:buNone/>
            </a:pPr>
            <a:r>
              <a:rPr sz="1600" b="0">
                <a:solidFill>
                  <a:srgbClr val="D5DED3"/>
                </a:solidFill>
                <a:latin typeface="Plus Jakarta Sans"/>
              </a:rPr>
              <a:t>People cannot use core tasks</a:t>
            </a:r>
          </a:p>
        </p:txBody>
      </p:sp>
      <p:sp>
        <p:nvSpPr>
          <p:cNvPr id="18" name="TextBox 17"/>
          <p:cNvSpPr txBox="1"/>
          <p:nvPr/>
        </p:nvSpPr>
        <p:spPr>
          <a:xfrm>
            <a:off x="6812280" y="3593592"/>
            <a:ext cx="4443984" cy="320040"/>
          </a:xfrm>
          <a:prstGeom prst="rect">
            <a:avLst/>
          </a:prstGeom>
          <a:noFill/>
        </p:spPr>
        <p:txBody>
          <a:bodyPr wrap="square" lIns="0" rIns="0" tIns="0" bIns="0" anchor="t">
            <a:noAutofit/>
          </a:bodyPr>
          <a:lstStyle/>
          <a:p>
            <a:pPr algn="l">
              <a:lnSpc>
                <a:spcPts val="1888"/>
              </a:lnSpc>
              <a:spcBef>
                <a:spcPts val="0"/>
              </a:spcBef>
              <a:spcAft>
                <a:spcPts val="0"/>
              </a:spcAft>
              <a:buNone/>
            </a:pPr>
            <a:r>
              <a:rPr sz="1600" b="0">
                <a:solidFill>
                  <a:srgbClr val="D5DED3"/>
                </a:solidFill>
                <a:latin typeface="Plus Jakarta Sans"/>
              </a:rPr>
              <a:t>User-led testing; assistive-tech review</a:t>
            </a:r>
          </a:p>
        </p:txBody>
      </p:sp>
      <p:sp>
        <p:nvSpPr>
          <p:cNvPr id="19" name="Rounded Rectangle 18"/>
          <p:cNvSpPr/>
          <p:nvPr/>
        </p:nvSpPr>
        <p:spPr>
          <a:xfrm>
            <a:off x="731520" y="4114800"/>
            <a:ext cx="10728655" cy="557784"/>
          </a:xfrm>
          <a:prstGeom prst="roundRect">
            <a:avLst>
              <a:gd name="adj" fmla="val 32786"/>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96112" y="4224528"/>
            <a:ext cx="1600200" cy="320040"/>
          </a:xfrm>
          <a:prstGeom prst="rect">
            <a:avLst/>
          </a:prstGeom>
          <a:noFill/>
        </p:spPr>
        <p:txBody>
          <a:bodyPr wrap="square" lIns="0" rIns="0" tIns="0" bIns="0" anchor="t">
            <a:noAutofit/>
          </a:bodyPr>
          <a:lstStyle/>
          <a:p>
            <a:pPr algn="l">
              <a:lnSpc>
                <a:spcPts val="2005"/>
              </a:lnSpc>
              <a:spcBef>
                <a:spcPts val="0"/>
              </a:spcBef>
              <a:spcAft>
                <a:spcPts val="0"/>
              </a:spcAft>
              <a:buNone/>
            </a:pPr>
            <a:r>
              <a:rPr sz="1700" b="1">
                <a:solidFill>
                  <a:srgbClr val="EDF1E8"/>
                </a:solidFill>
                <a:latin typeface="Plus Jakarta Sans"/>
              </a:rPr>
              <a:t>Adoption</a:t>
            </a:r>
          </a:p>
        </p:txBody>
      </p:sp>
      <p:sp>
        <p:nvSpPr>
          <p:cNvPr id="21" name="TextBox 20"/>
          <p:cNvSpPr txBox="1"/>
          <p:nvPr/>
        </p:nvSpPr>
        <p:spPr>
          <a:xfrm>
            <a:off x="2679191" y="4224528"/>
            <a:ext cx="3840480" cy="320040"/>
          </a:xfrm>
          <a:prstGeom prst="rect">
            <a:avLst/>
          </a:prstGeom>
          <a:noFill/>
        </p:spPr>
        <p:txBody>
          <a:bodyPr wrap="square" lIns="0" rIns="0" tIns="0" bIns="0" anchor="t">
            <a:noAutofit/>
          </a:bodyPr>
          <a:lstStyle/>
          <a:p>
            <a:pPr algn="l">
              <a:lnSpc>
                <a:spcPts val="1888"/>
              </a:lnSpc>
              <a:spcBef>
                <a:spcPts val="0"/>
              </a:spcBef>
              <a:spcAft>
                <a:spcPts val="0"/>
              </a:spcAft>
              <a:buNone/>
            </a:pPr>
            <a:r>
              <a:rPr sz="1600" b="0">
                <a:solidFill>
                  <a:srgbClr val="D5DED3"/>
                </a:solidFill>
                <a:latin typeface="Plus Jakarta Sans"/>
              </a:rPr>
              <a:t>Broad mission, weak repeat use</a:t>
            </a:r>
          </a:p>
        </p:txBody>
      </p:sp>
      <p:sp>
        <p:nvSpPr>
          <p:cNvPr id="22" name="TextBox 21"/>
          <p:cNvSpPr txBox="1"/>
          <p:nvPr/>
        </p:nvSpPr>
        <p:spPr>
          <a:xfrm>
            <a:off x="6812280" y="4224528"/>
            <a:ext cx="4443984" cy="320040"/>
          </a:xfrm>
          <a:prstGeom prst="rect">
            <a:avLst/>
          </a:prstGeom>
          <a:noFill/>
        </p:spPr>
        <p:txBody>
          <a:bodyPr wrap="square" lIns="0" rIns="0" tIns="0" bIns="0" anchor="t">
            <a:noAutofit/>
          </a:bodyPr>
          <a:lstStyle/>
          <a:p>
            <a:pPr algn="l">
              <a:lnSpc>
                <a:spcPts val="1888"/>
              </a:lnSpc>
              <a:spcBef>
                <a:spcPts val="0"/>
              </a:spcBef>
              <a:spcAft>
                <a:spcPts val="0"/>
              </a:spcAft>
              <a:buNone/>
            </a:pPr>
            <a:r>
              <a:rPr sz="1600" b="0">
                <a:solidFill>
                  <a:srgbClr val="D5DED3"/>
                </a:solidFill>
                <a:latin typeface="Plus Jakarta Sans"/>
              </a:rPr>
              <a:t>Narrow pilot; measure meaningful return use</a:t>
            </a:r>
          </a:p>
        </p:txBody>
      </p:sp>
      <p:sp>
        <p:nvSpPr>
          <p:cNvPr id="23" name="Rounded Rectangle 22"/>
          <p:cNvSpPr/>
          <p:nvPr/>
        </p:nvSpPr>
        <p:spPr>
          <a:xfrm>
            <a:off x="731520" y="4745736"/>
            <a:ext cx="10728655" cy="557784"/>
          </a:xfrm>
          <a:prstGeom prst="roundRect">
            <a:avLst>
              <a:gd name="adj" fmla="val 32786"/>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6112" y="4855464"/>
            <a:ext cx="1600200" cy="320040"/>
          </a:xfrm>
          <a:prstGeom prst="rect">
            <a:avLst/>
          </a:prstGeom>
          <a:noFill/>
        </p:spPr>
        <p:txBody>
          <a:bodyPr wrap="square" lIns="0" rIns="0" tIns="0" bIns="0" anchor="t">
            <a:noAutofit/>
          </a:bodyPr>
          <a:lstStyle/>
          <a:p>
            <a:pPr algn="l">
              <a:lnSpc>
                <a:spcPts val="2005"/>
              </a:lnSpc>
              <a:spcBef>
                <a:spcPts val="0"/>
              </a:spcBef>
              <a:spcAft>
                <a:spcPts val="0"/>
              </a:spcAft>
              <a:buNone/>
            </a:pPr>
            <a:r>
              <a:rPr sz="1700" b="1">
                <a:solidFill>
                  <a:srgbClr val="EDF1E8"/>
                </a:solidFill>
                <a:latin typeface="Plus Jakarta Sans"/>
              </a:rPr>
              <a:t>Sustainability</a:t>
            </a:r>
          </a:p>
        </p:txBody>
      </p:sp>
      <p:sp>
        <p:nvSpPr>
          <p:cNvPr id="25" name="TextBox 24"/>
          <p:cNvSpPr txBox="1"/>
          <p:nvPr/>
        </p:nvSpPr>
        <p:spPr>
          <a:xfrm>
            <a:off x="2679191" y="4855464"/>
            <a:ext cx="3840480" cy="320040"/>
          </a:xfrm>
          <a:prstGeom prst="rect">
            <a:avLst/>
          </a:prstGeom>
          <a:noFill/>
        </p:spPr>
        <p:txBody>
          <a:bodyPr wrap="square" lIns="0" rIns="0" tIns="0" bIns="0" anchor="t">
            <a:noAutofit/>
          </a:bodyPr>
          <a:lstStyle/>
          <a:p>
            <a:pPr algn="l">
              <a:lnSpc>
                <a:spcPts val="1888"/>
              </a:lnSpc>
              <a:spcBef>
                <a:spcPts val="0"/>
              </a:spcBef>
              <a:spcAft>
                <a:spcPts val="0"/>
              </a:spcAft>
              <a:buNone/>
            </a:pPr>
            <a:r>
              <a:rPr sz="1600" b="0">
                <a:solidFill>
                  <a:srgbClr val="D5DED3"/>
                </a:solidFill>
                <a:latin typeface="Plus Jakarta Sans"/>
              </a:rPr>
              <a:t>Support costs exceed funding</a:t>
            </a:r>
          </a:p>
        </p:txBody>
      </p:sp>
      <p:sp>
        <p:nvSpPr>
          <p:cNvPr id="26" name="TextBox 25"/>
          <p:cNvSpPr txBox="1"/>
          <p:nvPr/>
        </p:nvSpPr>
        <p:spPr>
          <a:xfrm>
            <a:off x="6812280" y="4855464"/>
            <a:ext cx="4443984" cy="320040"/>
          </a:xfrm>
          <a:prstGeom prst="rect">
            <a:avLst/>
          </a:prstGeom>
          <a:noFill/>
        </p:spPr>
        <p:txBody>
          <a:bodyPr wrap="square" lIns="0" rIns="0" tIns="0" bIns="0" anchor="t">
            <a:noAutofit/>
          </a:bodyPr>
          <a:lstStyle/>
          <a:p>
            <a:pPr algn="l">
              <a:lnSpc>
                <a:spcPts val="1888"/>
              </a:lnSpc>
              <a:spcBef>
                <a:spcPts val="0"/>
              </a:spcBef>
              <a:spcAft>
                <a:spcPts val="0"/>
              </a:spcAft>
              <a:buNone/>
            </a:pPr>
            <a:r>
              <a:rPr sz="1600" b="0">
                <a:solidFill>
                  <a:srgbClr val="D5DED3"/>
                </a:solidFill>
                <a:latin typeface="Plus Jakarta Sans"/>
              </a:rPr>
              <a:t>Cost labor; test sponsorship before scaling</a:t>
            </a:r>
          </a:p>
        </p:txBody>
      </p:sp>
      <p:sp>
        <p:nvSpPr>
          <p:cNvPr id="27" name="TextBox 26"/>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CareSphere planning appendix · October 26, 2026  |  Mitigations proposed or require validation</a:t>
            </a:r>
          </a:p>
        </p:txBody>
      </p:sp>
      <p:sp>
        <p:nvSpPr>
          <p:cNvPr id="28" name="TextBox 27"/>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16</a:t>
            </a:r>
          </a:p>
        </p:txBody>
      </p:sp>
      <p:pic>
        <p:nvPicPr>
          <p:cNvPr id="29" name="Picture 28"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30" name="TextBox 29"/>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MEASUREMENT PLAN</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Measure useful support—not screen time.</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Metrics below are proposed definitions and targets, not achieved results.</a:t>
            </a:r>
          </a:p>
        </p:txBody>
      </p:sp>
      <p:sp>
        <p:nvSpPr>
          <p:cNvPr id="7" name="Rounded Rectangle 6"/>
          <p:cNvSpPr/>
          <p:nvPr/>
        </p:nvSpPr>
        <p:spPr>
          <a:xfrm>
            <a:off x="731520"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41832"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TASK SUCCESS</a:t>
            </a:r>
          </a:p>
        </p:txBody>
      </p:sp>
      <p:sp>
        <p:nvSpPr>
          <p:cNvPr id="9" name="TextBox 8"/>
          <p:cNvSpPr txBox="1"/>
          <p:nvPr/>
        </p:nvSpPr>
        <p:spPr>
          <a:xfrm>
            <a:off x="941832"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Can people do what they need?</a:t>
            </a:r>
          </a:p>
        </p:txBody>
      </p:sp>
      <p:sp>
        <p:nvSpPr>
          <p:cNvPr id="10" name="TextBox 9"/>
          <p:cNvSpPr txBox="1"/>
          <p:nvPr/>
        </p:nvSpPr>
        <p:spPr>
          <a:xfrm>
            <a:off x="941832"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Observe routine entry, finding a calming tool, and reviewing a visit brief. Record accessibility barriers with consent.</a:t>
            </a:r>
          </a:p>
        </p:txBody>
      </p:sp>
      <p:sp>
        <p:nvSpPr>
          <p:cNvPr id="11" name="Rounded Rectangle 10"/>
          <p:cNvSpPr/>
          <p:nvPr/>
        </p:nvSpPr>
        <p:spPr>
          <a:xfrm>
            <a:off x="4383938"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594250"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ACTIVATION TARGET</a:t>
            </a:r>
          </a:p>
        </p:txBody>
      </p:sp>
      <p:sp>
        <p:nvSpPr>
          <p:cNvPr id="13" name="TextBox 12"/>
          <p:cNvSpPr txBox="1"/>
          <p:nvPr/>
        </p:nvSpPr>
        <p:spPr>
          <a:xfrm>
            <a:off x="4594250"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25% of invitees</a:t>
            </a:r>
          </a:p>
        </p:txBody>
      </p:sp>
      <p:sp>
        <p:nvSpPr>
          <p:cNvPr id="14" name="TextBox 13"/>
          <p:cNvSpPr txBox="1"/>
          <p:nvPr/>
        </p:nvSpPr>
        <p:spPr>
          <a:xfrm>
            <a:off x="4594250"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Complete one personally chosen useful action within seven days. This is an input to the SOM scenario, not measured conversion.</a:t>
            </a:r>
          </a:p>
        </p:txBody>
      </p:sp>
      <p:sp>
        <p:nvSpPr>
          <p:cNvPr id="15" name="Rounded Rectangle 14"/>
          <p:cNvSpPr/>
          <p:nvPr/>
        </p:nvSpPr>
        <p:spPr>
          <a:xfrm>
            <a:off x="8036356" y="2286000"/>
            <a:ext cx="3423818" cy="3456432"/>
          </a:xfrm>
          <a:prstGeom prst="roundRect">
            <a:avLst>
              <a:gd name="adj" fmla="val 5341"/>
            </a:avLst>
          </a:prstGeom>
          <a:solidFill>
            <a:srgbClr val="14251C">
              <a:alpha val="85000"/>
            </a:srgbClr>
          </a:solidFill>
          <a:ln w="9525">
            <a:solidFill>
              <a:srgbClr val="89AA91">
                <a:alpha val="2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46668" y="2542032"/>
            <a:ext cx="3003194" cy="292608"/>
          </a:xfrm>
          <a:prstGeom prst="rect">
            <a:avLst/>
          </a:prstGeom>
          <a:noFill/>
        </p:spPr>
        <p:txBody>
          <a:bodyPr wrap="square" lIns="0" rIns="0" tIns="0" bIns="0" anchor="t">
            <a:noAutofit/>
          </a:bodyPr>
          <a:lstStyle/>
          <a:p>
            <a:pPr algn="l">
              <a:lnSpc>
                <a:spcPts val="1297"/>
              </a:lnSpc>
              <a:spcBef>
                <a:spcPts val="0"/>
              </a:spcBef>
              <a:spcAft>
                <a:spcPts val="0"/>
              </a:spcAft>
              <a:buNone/>
            </a:pPr>
            <a:r>
              <a:rPr sz="1100" b="1">
                <a:solidFill>
                  <a:srgbClr val="89AA91"/>
                </a:solidFill>
                <a:latin typeface="Plus Jakarta Sans"/>
              </a:rPr>
              <a:t>RETENTION TARGET</a:t>
            </a:r>
          </a:p>
        </p:txBody>
      </p:sp>
      <p:sp>
        <p:nvSpPr>
          <p:cNvPr id="17" name="TextBox 16"/>
          <p:cNvSpPr txBox="1"/>
          <p:nvPr/>
        </p:nvSpPr>
        <p:spPr>
          <a:xfrm>
            <a:off x="8246668" y="3035808"/>
            <a:ext cx="3003194" cy="731520"/>
          </a:xfrm>
          <a:prstGeom prst="rect">
            <a:avLst/>
          </a:prstGeom>
          <a:noFill/>
        </p:spPr>
        <p:txBody>
          <a:bodyPr wrap="square" lIns="0" rIns="0" tIns="0" bIns="0" anchor="t">
            <a:noAutofit/>
          </a:bodyPr>
          <a:lstStyle/>
          <a:p>
            <a:pPr algn="l">
              <a:lnSpc>
                <a:spcPts val="2832"/>
              </a:lnSpc>
              <a:spcBef>
                <a:spcPts val="0"/>
              </a:spcBef>
              <a:spcAft>
                <a:spcPts val="0"/>
              </a:spcAft>
              <a:buNone/>
            </a:pPr>
            <a:r>
              <a:rPr sz="2400" b="1">
                <a:solidFill>
                  <a:srgbClr val="EDF1E8"/>
                </a:solidFill>
                <a:latin typeface="Plus Jakarta Sans"/>
              </a:rPr>
              <a:t>40% of activated</a:t>
            </a:r>
          </a:p>
        </p:txBody>
      </p:sp>
      <p:sp>
        <p:nvSpPr>
          <p:cNvPr id="18" name="TextBox 17"/>
          <p:cNvSpPr txBox="1"/>
          <p:nvPr/>
        </p:nvSpPr>
        <p:spPr>
          <a:xfrm>
            <a:off x="8246668" y="3959352"/>
            <a:ext cx="3003194" cy="1463040"/>
          </a:xfrm>
          <a:prstGeom prst="rect">
            <a:avLst/>
          </a:prstGeom>
          <a:noFill/>
        </p:spPr>
        <p:txBody>
          <a:bodyPr wrap="square" lIns="0" rIns="0" tIns="0" bIns="0" anchor="t">
            <a:noAutofit/>
          </a:bodyPr>
          <a:lstStyle/>
          <a:p>
            <a:pPr algn="l">
              <a:lnSpc>
                <a:spcPts val="2005"/>
              </a:lnSpc>
              <a:spcBef>
                <a:spcPts val="0"/>
              </a:spcBef>
              <a:spcAft>
                <a:spcPts val="0"/>
              </a:spcAft>
              <a:buNone/>
            </a:pPr>
            <a:r>
              <a:rPr sz="1700" b="0">
                <a:solidFill>
                  <a:srgbClr val="D5DED3"/>
                </a:solidFill>
                <a:latin typeface="Plus Jakarta Sans"/>
              </a:rPr>
              <a:t>A chosen useful action during days 61–90. Measure with opt-in follow-up; no hidden collection of care records.</a:t>
            </a:r>
          </a:p>
        </p:txBody>
      </p:sp>
      <p:sp>
        <p:nvSpPr>
          <p:cNvPr id="19" name="TextBox 18"/>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CareSphere planning appendix · October 26, 2026  |  Targets unvalidated; denominators must be reported</a:t>
            </a:r>
          </a:p>
        </p:txBody>
      </p:sp>
      <p:sp>
        <p:nvSpPr>
          <p:cNvPr id="20" name="TextBox 19"/>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17</a:t>
            </a:r>
          </a:p>
        </p:txBody>
      </p:sp>
      <p:pic>
        <p:nvPicPr>
          <p:cNvPr id="21" name="Picture 20"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2" name="TextBox 21"/>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THE REQUEST</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Help shape CareSphere’s next chapter.</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Seeking feedback and potential pilot collaborators—not claiming endorsements.</a:t>
            </a:r>
          </a:p>
        </p:txBody>
      </p:sp>
      <p:sp>
        <p:nvSpPr>
          <p:cNvPr id="7" name="TextBox 6"/>
          <p:cNvSpPr txBox="1"/>
          <p:nvPr/>
        </p:nvSpPr>
        <p:spPr>
          <a:xfrm>
            <a:off x="731520" y="2441448"/>
            <a:ext cx="7269480" cy="640080"/>
          </a:xfrm>
          <a:prstGeom prst="rect">
            <a:avLst/>
          </a:prstGeom>
          <a:noFill/>
        </p:spPr>
        <p:txBody>
          <a:bodyPr wrap="square" lIns="0" rIns="0" tIns="0" bIns="0" anchor="t">
            <a:noAutofit/>
          </a:bodyPr>
          <a:lstStyle/>
          <a:p>
            <a:pPr algn="l">
              <a:lnSpc>
                <a:spcPts val="3186"/>
              </a:lnSpc>
              <a:spcBef>
                <a:spcPts val="0"/>
              </a:spcBef>
              <a:spcAft>
                <a:spcPts val="0"/>
              </a:spcAft>
              <a:buNone/>
            </a:pPr>
            <a:r>
              <a:rPr sz="2700" b="1">
                <a:solidFill>
                  <a:srgbClr val="EDF1E8"/>
                </a:solidFill>
                <a:latin typeface="Plus Jakarta Sans"/>
              </a:rPr>
              <a:t>Three things to learn next</a:t>
            </a:r>
          </a:p>
        </p:txBody>
      </p:sp>
      <p:sp>
        <p:nvSpPr>
          <p:cNvPr id="8" name="TextBox 7"/>
          <p:cNvSpPr txBox="1"/>
          <p:nvPr/>
        </p:nvSpPr>
        <p:spPr>
          <a:xfrm>
            <a:off x="731520" y="3346704"/>
            <a:ext cx="7315200" cy="429768"/>
          </a:xfrm>
          <a:prstGeom prst="rect">
            <a:avLst/>
          </a:prstGeom>
          <a:noFill/>
        </p:spPr>
        <p:txBody>
          <a:bodyPr wrap="square" lIns="0" rIns="0" tIns="0" bIns="0" anchor="t">
            <a:noAutofit/>
          </a:bodyPr>
          <a:lstStyle/>
          <a:p>
            <a:pPr algn="l">
              <a:lnSpc>
                <a:spcPts val="2477"/>
              </a:lnSpc>
              <a:spcBef>
                <a:spcPts val="0"/>
              </a:spcBef>
              <a:spcAft>
                <a:spcPts val="0"/>
              </a:spcAft>
              <a:buNone/>
            </a:pPr>
            <a:r>
              <a:rPr sz="2100" b="0">
                <a:solidFill>
                  <a:srgbClr val="D5DED3"/>
                </a:solidFill>
                <a:latin typeface="Plus Jakarta Sans"/>
              </a:rPr>
              <a:t>Can people use core tasks comfortably?</a:t>
            </a:r>
          </a:p>
        </p:txBody>
      </p:sp>
      <p:sp>
        <p:nvSpPr>
          <p:cNvPr id="9" name="TextBox 8"/>
          <p:cNvSpPr txBox="1"/>
          <p:nvPr/>
        </p:nvSpPr>
        <p:spPr>
          <a:xfrm>
            <a:off x="731520" y="3922776"/>
            <a:ext cx="7315200" cy="429768"/>
          </a:xfrm>
          <a:prstGeom prst="rect">
            <a:avLst/>
          </a:prstGeom>
          <a:noFill/>
        </p:spPr>
        <p:txBody>
          <a:bodyPr wrap="square" lIns="0" rIns="0" tIns="0" bIns="0" anchor="t">
            <a:noAutofit/>
          </a:bodyPr>
          <a:lstStyle/>
          <a:p>
            <a:pPr algn="l">
              <a:lnSpc>
                <a:spcPts val="2477"/>
              </a:lnSpc>
              <a:spcBef>
                <a:spcPts val="0"/>
              </a:spcBef>
              <a:spcAft>
                <a:spcPts val="0"/>
              </a:spcAft>
              <a:buNone/>
            </a:pPr>
            <a:r>
              <a:rPr sz="2100" b="0">
                <a:solidFill>
                  <a:srgbClr val="D5DED3"/>
                </a:solidFill>
                <a:latin typeface="Plus Jakarta Sans"/>
              </a:rPr>
              <a:t>Does the app remain useful after onboarding?</a:t>
            </a:r>
          </a:p>
        </p:txBody>
      </p:sp>
      <p:sp>
        <p:nvSpPr>
          <p:cNvPr id="10" name="TextBox 9"/>
          <p:cNvSpPr txBox="1"/>
          <p:nvPr/>
        </p:nvSpPr>
        <p:spPr>
          <a:xfrm>
            <a:off x="731520" y="4498848"/>
            <a:ext cx="7315200" cy="429768"/>
          </a:xfrm>
          <a:prstGeom prst="rect">
            <a:avLst/>
          </a:prstGeom>
          <a:noFill/>
        </p:spPr>
        <p:txBody>
          <a:bodyPr wrap="square" lIns="0" rIns="0" tIns="0" bIns="0" anchor="t">
            <a:noAutofit/>
          </a:bodyPr>
          <a:lstStyle/>
          <a:p>
            <a:pPr algn="l">
              <a:lnSpc>
                <a:spcPts val="2477"/>
              </a:lnSpc>
              <a:spcBef>
                <a:spcPts val="0"/>
              </a:spcBef>
              <a:spcAft>
                <a:spcPts val="0"/>
              </a:spcAft>
              <a:buNone/>
            </a:pPr>
            <a:r>
              <a:rPr sz="2100" b="0">
                <a:solidFill>
                  <a:srgbClr val="D5DED3"/>
                </a:solidFill>
                <a:latin typeface="Plus Jakarta Sans"/>
              </a:rPr>
              <a:t>Can support be funded without selling care data?</a:t>
            </a:r>
          </a:p>
        </p:txBody>
      </p:sp>
      <p:pic>
        <p:nvPicPr>
          <p:cNvPr id="11" name="Picture 10" descr="qr-caresphere.png">
            <a:hlinkClick r:id="rId6"/>
          </p:cNvPr>
          <p:cNvPicPr>
            <a:picLocks noChangeAspect="1"/>
          </p:cNvPicPr>
          <p:nvPr/>
        </p:nvPicPr>
        <p:blipFill>
          <a:blip r:embed="rId3"/>
          <a:stretch>
            <a:fillRect/>
          </a:stretch>
        </p:blipFill>
        <p:spPr>
          <a:xfrm>
            <a:off x="9144000" y="2514600"/>
            <a:ext cx="1874519" cy="1874519"/>
          </a:xfrm>
          <a:prstGeom prst="rect">
            <a:avLst/>
          </a:prstGeom>
        </p:spPr>
      </p:pic>
      <p:sp>
        <p:nvSpPr>
          <p:cNvPr id="12" name="TextBox 11"/>
          <p:cNvSpPr txBox="1"/>
          <p:nvPr/>
        </p:nvSpPr>
        <p:spPr>
          <a:xfrm>
            <a:off x="8641080" y="4590288"/>
            <a:ext cx="2834640" cy="502920"/>
          </a:xfrm>
          <a:prstGeom prst="rect">
            <a:avLst/>
          </a:prstGeom>
          <a:noFill/>
        </p:spPr>
        <p:txBody>
          <a:bodyPr wrap="square" lIns="0" rIns="0" tIns="0" bIns="0" anchor="t">
            <a:noAutofit/>
          </a:bodyPr>
          <a:lstStyle/>
          <a:p>
            <a:pPr algn="ctr">
              <a:lnSpc>
                <a:spcPts val="1652"/>
              </a:lnSpc>
              <a:spcBef>
                <a:spcPts val="0"/>
              </a:spcBef>
              <a:spcAft>
                <a:spcPts val="0"/>
              </a:spcAft>
              <a:buNone/>
            </a:pPr>
            <a:r>
              <a:rPr sz="1400" b="0">
                <a:solidFill>
                  <a:srgbClr val="89AA91"/>
                </a:solidFill>
                <a:latin typeface="Plus Jakarta Sans Medium"/>
              </a:rPr>
              <a:t>Explore the GitHub project</a:t>
            </a:r>
          </a:p>
        </p:txBody>
      </p:sp>
      <p:sp>
        <p:nvSpPr>
          <p:cNvPr id="13" name="TextBox 12"/>
          <p:cNvSpPr txBox="1"/>
          <p:nvPr/>
        </p:nvSpPr>
        <p:spPr>
          <a:xfrm>
            <a:off x="731520" y="5641848"/>
            <a:ext cx="10728655" cy="365760"/>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EDF1E8"/>
                </a:solidFill>
                <a:latin typeface="Plus Jakarta Sans Medium"/>
              </a:rPr>
              <a:t>github.com/engineer2025-sudo/CareSphere</a:t>
            </a:r>
          </a:p>
        </p:txBody>
      </p:sp>
      <p:sp>
        <p:nvSpPr>
          <p:cNvPr id="14" name="TextBox 13"/>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CareSphere planning appendix · October 26, 2026</a:t>
            </a:r>
          </a:p>
        </p:txBody>
      </p:sp>
      <p:sp>
        <p:nvSpPr>
          <p:cNvPr id="15" name="TextBox 14"/>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18</a:t>
            </a:r>
          </a:p>
        </p:txBody>
      </p:sp>
      <p:pic>
        <p:nvPicPr>
          <p:cNvPr id="16" name="Picture 15" descr="icon.png"/>
          <p:cNvPicPr>
            <a:picLocks noChangeAspect="1"/>
          </p:cNvPicPr>
          <p:nvPr/>
        </p:nvPicPr>
        <p:blipFill>
          <a:blip r:embed="rId4"/>
          <a:stretch>
            <a:fillRect/>
          </a:stretch>
        </p:blipFill>
        <p:spPr>
          <a:xfrm>
            <a:off x="731520" y="6382512"/>
            <a:ext cx="237744" cy="237744"/>
          </a:xfrm>
          <a:prstGeom prst="roundRect">
            <a:avLst>
              <a:gd name="adj" fmla="val 26923"/>
            </a:avLst>
          </a:prstGeom>
        </p:spPr>
      </p:pic>
      <p:sp>
        <p:nvSpPr>
          <p:cNvPr id="17" name="TextBox 16"/>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SOURCES · MARKET AND RESEARCH</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The evidence trail stays visible.</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Published estimates and design research are distinct from the model assumptions.</a:t>
            </a:r>
          </a:p>
        </p:txBody>
      </p:sp>
      <p:sp>
        <p:nvSpPr>
          <p:cNvPr id="7" name="TextBox 6"/>
          <p:cNvSpPr txBox="1"/>
          <p:nvPr/>
        </p:nvSpPr>
        <p:spPr>
          <a:xfrm>
            <a:off x="731520" y="2194560"/>
            <a:ext cx="10728655" cy="274320"/>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EDF1E8"/>
                </a:solidFill>
                <a:latin typeface="Plus Jakarta Sans Medium"/>
              </a:rPr>
              <a:t>M1 · AARP / NAC, Caregiving in the US 2025</a:t>
            </a:r>
          </a:p>
        </p:txBody>
      </p:sp>
      <p:sp>
        <p:nvSpPr>
          <p:cNvPr id="8" name="TextBox 7"/>
          <p:cNvSpPr txBox="1"/>
          <p:nvPr/>
        </p:nvSpPr>
        <p:spPr>
          <a:xfrm>
            <a:off x="731520" y="2459736"/>
            <a:ext cx="10728655" cy="219456"/>
          </a:xfrm>
          <a:prstGeom prst="rect">
            <a:avLst/>
          </a:prstGeom>
          <a:noFill/>
        </p:spPr>
        <p:txBody>
          <a:bodyPr wrap="square" lIns="0" rIns="0" tIns="0" bIns="0" anchor="t">
            <a:noAutofit/>
          </a:bodyPr>
          <a:lstStyle/>
          <a:p>
            <a:pPr algn="l">
              <a:lnSpc>
                <a:spcPts val="1238"/>
              </a:lnSpc>
              <a:spcBef>
                <a:spcPts val="0"/>
              </a:spcBef>
              <a:spcAft>
                <a:spcPts val="0"/>
              </a:spcAft>
              <a:buNone/>
            </a:pPr>
            <a:r>
              <a:rPr sz="1050" b="0">
                <a:solidFill>
                  <a:srgbClr val="AEBEAF"/>
                </a:solidFill>
                <a:latin typeface="Plus Jakarta Sans"/>
              </a:rPr>
              <a:t>https://www.aarp.org/pri/topics/ltss/family-caregiving/caregiving-in-the-us-2025/</a:t>
            </a:r>
          </a:p>
        </p:txBody>
      </p:sp>
      <p:sp>
        <p:nvSpPr>
          <p:cNvPr id="9" name="TextBox 8"/>
          <p:cNvSpPr txBox="1"/>
          <p:nvPr/>
        </p:nvSpPr>
        <p:spPr>
          <a:xfrm>
            <a:off x="731520" y="2770632"/>
            <a:ext cx="10728655" cy="274320"/>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EDF1E8"/>
                </a:solidFill>
                <a:latin typeface="Plus Jakarta Sans Medium"/>
              </a:rPr>
              <a:t>M2 · AARP, July 24, 2025: 59M caring for adults; 63M total</a:t>
            </a:r>
          </a:p>
        </p:txBody>
      </p:sp>
      <p:sp>
        <p:nvSpPr>
          <p:cNvPr id="10" name="TextBox 9"/>
          <p:cNvSpPr txBox="1"/>
          <p:nvPr/>
        </p:nvSpPr>
        <p:spPr>
          <a:xfrm>
            <a:off x="731520" y="3035808"/>
            <a:ext cx="10728655" cy="219456"/>
          </a:xfrm>
          <a:prstGeom prst="rect">
            <a:avLst/>
          </a:prstGeom>
          <a:noFill/>
        </p:spPr>
        <p:txBody>
          <a:bodyPr wrap="square" lIns="0" rIns="0" tIns="0" bIns="0" anchor="t">
            <a:noAutofit/>
          </a:bodyPr>
          <a:lstStyle/>
          <a:p>
            <a:pPr algn="l">
              <a:lnSpc>
                <a:spcPts val="1238"/>
              </a:lnSpc>
              <a:spcBef>
                <a:spcPts val="0"/>
              </a:spcBef>
              <a:spcAft>
                <a:spcPts val="0"/>
              </a:spcAft>
              <a:buNone/>
            </a:pPr>
            <a:r>
              <a:rPr sz="1050" b="0">
                <a:solidFill>
                  <a:srgbClr val="AEBEAF"/>
                </a:solidFill>
                <a:latin typeface="Plus Jakarta Sans"/>
              </a:rPr>
              <a:t>https://www.aarp.org/press/releases/2025-07-24-new-report-reveals-crisis-point-for-americas-63-million-family-caregivers.html</a:t>
            </a:r>
          </a:p>
        </p:txBody>
      </p:sp>
      <p:sp>
        <p:nvSpPr>
          <p:cNvPr id="11" name="TextBox 10"/>
          <p:cNvSpPr txBox="1"/>
          <p:nvPr/>
        </p:nvSpPr>
        <p:spPr>
          <a:xfrm>
            <a:off x="731520" y="3346704"/>
            <a:ext cx="10728655" cy="274320"/>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EDF1E8"/>
                </a:solidFill>
                <a:latin typeface="Plus Jakarta Sans Medium"/>
              </a:rPr>
              <a:t>M3 · U.S. Census, Vintage 2024: 61.2M Americans age 65+</a:t>
            </a:r>
          </a:p>
        </p:txBody>
      </p:sp>
      <p:sp>
        <p:nvSpPr>
          <p:cNvPr id="12" name="TextBox 11"/>
          <p:cNvSpPr txBox="1"/>
          <p:nvPr/>
        </p:nvSpPr>
        <p:spPr>
          <a:xfrm>
            <a:off x="731520" y="3611880"/>
            <a:ext cx="10728655" cy="219456"/>
          </a:xfrm>
          <a:prstGeom prst="rect">
            <a:avLst/>
          </a:prstGeom>
          <a:noFill/>
        </p:spPr>
        <p:txBody>
          <a:bodyPr wrap="square" lIns="0" rIns="0" tIns="0" bIns="0" anchor="t">
            <a:noAutofit/>
          </a:bodyPr>
          <a:lstStyle/>
          <a:p>
            <a:pPr algn="l">
              <a:lnSpc>
                <a:spcPts val="1238"/>
              </a:lnSpc>
              <a:spcBef>
                <a:spcPts val="0"/>
              </a:spcBef>
              <a:spcAft>
                <a:spcPts val="0"/>
              </a:spcAft>
              <a:buNone/>
            </a:pPr>
            <a:r>
              <a:rPr sz="1050" b="0">
                <a:solidFill>
                  <a:srgbClr val="AEBEAF"/>
                </a:solidFill>
                <a:latin typeface="Plus Jakarta Sans"/>
              </a:rPr>
              <a:t>https://www.census.gov/newsroom/press-releases/2025/older-adults-outnumber-children.html</a:t>
            </a:r>
          </a:p>
        </p:txBody>
      </p:sp>
      <p:sp>
        <p:nvSpPr>
          <p:cNvPr id="13" name="TextBox 12"/>
          <p:cNvSpPr txBox="1"/>
          <p:nvPr/>
        </p:nvSpPr>
        <p:spPr>
          <a:xfrm>
            <a:off x="731520" y="3922776"/>
            <a:ext cx="10728655" cy="274320"/>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EDF1E8"/>
                </a:solidFill>
                <a:latin typeface="Plus Jakarta Sans Medium"/>
              </a:rPr>
              <a:t>R1 · Ditton et al. (2025), Dementia</a:t>
            </a:r>
          </a:p>
        </p:txBody>
      </p:sp>
      <p:sp>
        <p:nvSpPr>
          <p:cNvPr id="14" name="TextBox 13"/>
          <p:cNvSpPr txBox="1"/>
          <p:nvPr/>
        </p:nvSpPr>
        <p:spPr>
          <a:xfrm>
            <a:off x="731520" y="4187952"/>
            <a:ext cx="10728655" cy="219456"/>
          </a:xfrm>
          <a:prstGeom prst="rect">
            <a:avLst/>
          </a:prstGeom>
          <a:noFill/>
        </p:spPr>
        <p:txBody>
          <a:bodyPr wrap="square" lIns="0" rIns="0" tIns="0" bIns="0" anchor="t">
            <a:noAutofit/>
          </a:bodyPr>
          <a:lstStyle/>
          <a:p>
            <a:pPr algn="l">
              <a:lnSpc>
                <a:spcPts val="1238"/>
              </a:lnSpc>
              <a:spcBef>
                <a:spcPts val="0"/>
              </a:spcBef>
              <a:spcAft>
                <a:spcPts val="0"/>
              </a:spcAft>
              <a:buNone/>
            </a:pPr>
            <a:r>
              <a:rPr sz="1050" b="0">
                <a:solidFill>
                  <a:srgbClr val="AEBEAF"/>
                </a:solidFill>
                <a:latin typeface="Plus Jakarta Sans"/>
              </a:rPr>
              <a:t>https://doi.org/10.1177/14713012241302371</a:t>
            </a:r>
          </a:p>
        </p:txBody>
      </p:sp>
      <p:sp>
        <p:nvSpPr>
          <p:cNvPr id="15" name="TextBox 14"/>
          <p:cNvSpPr txBox="1"/>
          <p:nvPr/>
        </p:nvSpPr>
        <p:spPr>
          <a:xfrm>
            <a:off x="731520" y="4498848"/>
            <a:ext cx="10728655" cy="274320"/>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EDF1E8"/>
                </a:solidFill>
                <a:latin typeface="Plus Jakarta Sans Medium"/>
              </a:rPr>
              <a:t>R2 · Maun et al. (2024), Journal of Autism and Developmental Disorders</a:t>
            </a:r>
          </a:p>
        </p:txBody>
      </p:sp>
      <p:sp>
        <p:nvSpPr>
          <p:cNvPr id="16" name="TextBox 15"/>
          <p:cNvSpPr txBox="1"/>
          <p:nvPr/>
        </p:nvSpPr>
        <p:spPr>
          <a:xfrm>
            <a:off x="731520" y="4764024"/>
            <a:ext cx="10728655" cy="219456"/>
          </a:xfrm>
          <a:prstGeom prst="rect">
            <a:avLst/>
          </a:prstGeom>
          <a:noFill/>
        </p:spPr>
        <p:txBody>
          <a:bodyPr wrap="square" lIns="0" rIns="0" tIns="0" bIns="0" anchor="t">
            <a:noAutofit/>
          </a:bodyPr>
          <a:lstStyle/>
          <a:p>
            <a:pPr algn="l">
              <a:lnSpc>
                <a:spcPts val="1238"/>
              </a:lnSpc>
              <a:spcBef>
                <a:spcPts val="0"/>
              </a:spcBef>
              <a:spcAft>
                <a:spcPts val="0"/>
              </a:spcAft>
              <a:buNone/>
            </a:pPr>
            <a:r>
              <a:rPr sz="1050" b="0">
                <a:solidFill>
                  <a:srgbClr val="AEBEAF"/>
                </a:solidFill>
                <a:latin typeface="Plus Jakarta Sans"/>
              </a:rPr>
              <a:t>https://doi.org/10.1007/s10803-023-06015-5</a:t>
            </a:r>
          </a:p>
        </p:txBody>
      </p:sp>
      <p:sp>
        <p:nvSpPr>
          <p:cNvPr id="17" name="TextBox 16"/>
          <p:cNvSpPr txBox="1"/>
          <p:nvPr/>
        </p:nvSpPr>
        <p:spPr>
          <a:xfrm>
            <a:off x="731520" y="5074920"/>
            <a:ext cx="10728655" cy="274320"/>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EDF1E8"/>
                </a:solidFill>
                <a:latin typeface="Plus Jakarta Sans Medium"/>
              </a:rPr>
              <a:t>R3 · Noh et al. (2025), Geriatric Nursing</a:t>
            </a:r>
          </a:p>
        </p:txBody>
      </p:sp>
      <p:sp>
        <p:nvSpPr>
          <p:cNvPr id="18" name="TextBox 17"/>
          <p:cNvSpPr txBox="1"/>
          <p:nvPr/>
        </p:nvSpPr>
        <p:spPr>
          <a:xfrm>
            <a:off x="731520" y="5340096"/>
            <a:ext cx="10728655" cy="219456"/>
          </a:xfrm>
          <a:prstGeom prst="rect">
            <a:avLst/>
          </a:prstGeom>
          <a:noFill/>
        </p:spPr>
        <p:txBody>
          <a:bodyPr wrap="square" lIns="0" rIns="0" tIns="0" bIns="0" anchor="t">
            <a:noAutofit/>
          </a:bodyPr>
          <a:lstStyle/>
          <a:p>
            <a:pPr algn="l">
              <a:lnSpc>
                <a:spcPts val="1238"/>
              </a:lnSpc>
              <a:spcBef>
                <a:spcPts val="0"/>
              </a:spcBef>
              <a:spcAft>
                <a:spcPts val="0"/>
              </a:spcAft>
              <a:buNone/>
            </a:pPr>
            <a:r>
              <a:rPr sz="1050" b="0">
                <a:solidFill>
                  <a:srgbClr val="AEBEAF"/>
                </a:solidFill>
                <a:latin typeface="Plus Jakarta Sans"/>
              </a:rPr>
              <a:t>https://doi.org/10.1016/j.gerinurse.2025.03.042</a:t>
            </a:r>
          </a:p>
        </p:txBody>
      </p:sp>
      <p:sp>
        <p:nvSpPr>
          <p:cNvPr id="19" name="TextBox 18"/>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Sources: M1, M2, M3, R1, R2, R3</a:t>
            </a:r>
          </a:p>
        </p:txBody>
      </p:sp>
      <p:sp>
        <p:nvSpPr>
          <p:cNvPr id="20" name="TextBox 19"/>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19</a:t>
            </a:r>
          </a:p>
        </p:txBody>
      </p:sp>
      <p:pic>
        <p:nvPicPr>
          <p:cNvPr id="21" name="Picture 20"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2" name="TextBox 21"/>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bg>
      <p:bgPr>
        <a:gradFill rotWithShape="1">
          <a:gsLst>
            <a:gs pos="0">
              <a:srgbClr val="20362A"/>
            </a:gs>
            <a:gs pos="100000">
              <a:srgbClr val="14231B"/>
            </a:gs>
          </a:gsLst>
          <a:lin scaled="0" ang="5400000"/>
        </a:gradFill>
        <a:effectLst/>
      </p:bgPr>
    </p:bg>
    <p:spTree>
      <p:nvGrpSpPr>
        <p:cNvPr id="1" name=""/>
        <p:cNvGrpSpPr/>
        <p:nvPr/>
      </p:nvGrpSpPr>
      <p:grpSpPr/>
      <p:pic>
        <p:nvPicPr>
          <p:cNvPr id="2" name="Backdrop" descr="app-background.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731520" y="644652"/>
            <a:ext cx="137160" cy="32004"/>
          </a:xfrm>
          <a:prstGeom prst="roundRect">
            <a:avLst>
              <a:gd name="adj" fmla="val 50000"/>
            </a:avLst>
          </a:prstGeom>
          <a:solidFill>
            <a:srgbClr val="89AA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941832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20">
                <a:solidFill>
                  <a:srgbClr val="89AA91"/>
                </a:solidFill>
                <a:latin typeface="Plus Jakarta Sans"/>
              </a:rPr>
              <a:t>SOURCES · COMPETITION AND ASSUMPTIONS</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740"/>
              </a:lnSpc>
              <a:spcBef>
                <a:spcPts val="0"/>
              </a:spcBef>
              <a:spcAft>
                <a:spcPts val="0"/>
              </a:spcAft>
              <a:buNone/>
            </a:pPr>
            <a:r>
              <a:rPr sz="3400" b="0">
                <a:solidFill>
                  <a:srgbClr val="EDF1E8"/>
                </a:solidFill>
                <a:latin typeface="Plus Jakarta Sans ExtraBold"/>
              </a:rPr>
              <a:t>Audit the claims. Change the inputs.</a:t>
            </a:r>
          </a:p>
        </p:txBody>
      </p:sp>
      <p:sp>
        <p:nvSpPr>
          <p:cNvPr id="6" name="TextBox 5"/>
          <p:cNvSpPr txBox="1"/>
          <p:nvPr/>
        </p:nvSpPr>
        <p:spPr>
          <a:xfrm>
            <a:off x="731520" y="1627632"/>
            <a:ext cx="10728655" cy="438912"/>
          </a:xfrm>
          <a:prstGeom prst="rect">
            <a:avLst/>
          </a:prstGeom>
          <a:noFill/>
        </p:spPr>
        <p:txBody>
          <a:bodyPr wrap="square" lIns="0" rIns="0" tIns="0" bIns="0" anchor="t">
            <a:noAutofit/>
          </a:bodyPr>
          <a:lstStyle/>
          <a:p>
            <a:pPr algn="l">
              <a:lnSpc>
                <a:spcPts val="2124"/>
              </a:lnSpc>
              <a:spcBef>
                <a:spcPts val="0"/>
              </a:spcBef>
              <a:spcAft>
                <a:spcPts val="0"/>
              </a:spcAft>
              <a:buNone/>
            </a:pPr>
            <a:r>
              <a:rPr sz="1800" b="0">
                <a:solidFill>
                  <a:srgbClr val="AEBEAF"/>
                </a:solidFill>
                <a:latin typeface="Plus Jakarta Sans"/>
              </a:rPr>
              <a:t>No third-party market forecast, competitor score, or invented traction is needed.</a:t>
            </a:r>
          </a:p>
        </p:txBody>
      </p:sp>
      <p:sp>
        <p:nvSpPr>
          <p:cNvPr id="7" name="TextBox 6"/>
          <p:cNvSpPr txBox="1"/>
          <p:nvPr/>
        </p:nvSpPr>
        <p:spPr>
          <a:xfrm>
            <a:off x="731520" y="2194560"/>
            <a:ext cx="10728655" cy="274320"/>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EDF1E8"/>
                </a:solidFill>
                <a:latin typeface="Plus Jakarta Sans Medium"/>
              </a:rPr>
              <a:t>C1 · Medisafe, official app features</a:t>
            </a:r>
          </a:p>
        </p:txBody>
      </p:sp>
      <p:sp>
        <p:nvSpPr>
          <p:cNvPr id="8" name="TextBox 7"/>
          <p:cNvSpPr txBox="1"/>
          <p:nvPr/>
        </p:nvSpPr>
        <p:spPr>
          <a:xfrm>
            <a:off x="731520" y="2468879"/>
            <a:ext cx="10728655" cy="219456"/>
          </a:xfrm>
          <a:prstGeom prst="rect">
            <a:avLst/>
          </a:prstGeom>
          <a:noFill/>
        </p:spPr>
        <p:txBody>
          <a:bodyPr wrap="square" lIns="0" rIns="0" tIns="0" bIns="0" anchor="t">
            <a:noAutofit/>
          </a:bodyPr>
          <a:lstStyle/>
          <a:p>
            <a:pPr algn="l">
              <a:lnSpc>
                <a:spcPts val="1238"/>
              </a:lnSpc>
              <a:spcBef>
                <a:spcPts val="0"/>
              </a:spcBef>
              <a:spcAft>
                <a:spcPts val="0"/>
              </a:spcAft>
              <a:buNone/>
            </a:pPr>
            <a:r>
              <a:rPr sz="1050" b="0">
                <a:solidFill>
                  <a:srgbClr val="AEBEAF"/>
                </a:solidFill>
                <a:latin typeface="Plus Jakarta Sans"/>
              </a:rPr>
              <a:t>https://medisafe.com/download-the-app</a:t>
            </a:r>
          </a:p>
        </p:txBody>
      </p:sp>
      <p:sp>
        <p:nvSpPr>
          <p:cNvPr id="9" name="TextBox 8"/>
          <p:cNvSpPr txBox="1"/>
          <p:nvPr/>
        </p:nvSpPr>
        <p:spPr>
          <a:xfrm>
            <a:off x="731520" y="2788920"/>
            <a:ext cx="10728655" cy="274320"/>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EDF1E8"/>
                </a:solidFill>
                <a:latin typeface="Plus Jakarta Sans Medium"/>
              </a:rPr>
              <a:t>C2 · CaringBridge, official platform overview</a:t>
            </a:r>
          </a:p>
        </p:txBody>
      </p:sp>
      <p:sp>
        <p:nvSpPr>
          <p:cNvPr id="10" name="TextBox 9"/>
          <p:cNvSpPr txBox="1"/>
          <p:nvPr/>
        </p:nvSpPr>
        <p:spPr>
          <a:xfrm>
            <a:off x="731520" y="3063239"/>
            <a:ext cx="10728655" cy="219456"/>
          </a:xfrm>
          <a:prstGeom prst="rect">
            <a:avLst/>
          </a:prstGeom>
          <a:noFill/>
        </p:spPr>
        <p:txBody>
          <a:bodyPr wrap="square" lIns="0" rIns="0" tIns="0" bIns="0" anchor="t">
            <a:noAutofit/>
          </a:bodyPr>
          <a:lstStyle/>
          <a:p>
            <a:pPr algn="l">
              <a:lnSpc>
                <a:spcPts val="1238"/>
              </a:lnSpc>
              <a:spcBef>
                <a:spcPts val="0"/>
              </a:spcBef>
              <a:spcAft>
                <a:spcPts val="0"/>
              </a:spcAft>
              <a:buNone/>
            </a:pPr>
            <a:r>
              <a:rPr sz="1050" b="0">
                <a:solidFill>
                  <a:srgbClr val="AEBEAF"/>
                </a:solidFill>
                <a:latin typeface="Plus Jakarta Sans"/>
              </a:rPr>
              <a:t>https://www.caringbridge.org/</a:t>
            </a:r>
          </a:p>
        </p:txBody>
      </p:sp>
      <p:sp>
        <p:nvSpPr>
          <p:cNvPr id="11" name="TextBox 10"/>
          <p:cNvSpPr txBox="1"/>
          <p:nvPr/>
        </p:nvSpPr>
        <p:spPr>
          <a:xfrm>
            <a:off x="731520" y="3383280"/>
            <a:ext cx="10728655" cy="274320"/>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EDF1E8"/>
                </a:solidFill>
                <a:latin typeface="Plus Jakarta Sans Medium"/>
              </a:rPr>
              <a:t>C3 · Lotsa Helping Hands, official overview and care calendar</a:t>
            </a:r>
          </a:p>
        </p:txBody>
      </p:sp>
      <p:sp>
        <p:nvSpPr>
          <p:cNvPr id="12" name="TextBox 11"/>
          <p:cNvSpPr txBox="1"/>
          <p:nvPr/>
        </p:nvSpPr>
        <p:spPr>
          <a:xfrm>
            <a:off x="731520" y="3657600"/>
            <a:ext cx="10728655" cy="219456"/>
          </a:xfrm>
          <a:prstGeom prst="rect">
            <a:avLst/>
          </a:prstGeom>
          <a:noFill/>
        </p:spPr>
        <p:txBody>
          <a:bodyPr wrap="square" lIns="0" rIns="0" tIns="0" bIns="0" anchor="t">
            <a:noAutofit/>
          </a:bodyPr>
          <a:lstStyle/>
          <a:p>
            <a:pPr algn="l">
              <a:lnSpc>
                <a:spcPts val="1238"/>
              </a:lnSpc>
              <a:spcBef>
                <a:spcPts val="0"/>
              </a:spcBef>
              <a:spcAft>
                <a:spcPts val="0"/>
              </a:spcAft>
              <a:buNone/>
            </a:pPr>
            <a:r>
              <a:rPr sz="1050" b="0">
                <a:solidFill>
                  <a:srgbClr val="AEBEAF"/>
                </a:solidFill>
                <a:latin typeface="Plus Jakarta Sans"/>
              </a:rPr>
              <a:t>https://lotsahelpinghands.com/</a:t>
            </a:r>
          </a:p>
        </p:txBody>
      </p:sp>
      <p:sp>
        <p:nvSpPr>
          <p:cNvPr id="13" name="TextBox 12"/>
          <p:cNvSpPr txBox="1"/>
          <p:nvPr/>
        </p:nvSpPr>
        <p:spPr>
          <a:xfrm>
            <a:off x="731520" y="3977639"/>
            <a:ext cx="10728655" cy="274320"/>
          </a:xfrm>
          <a:prstGeom prst="rect">
            <a:avLst/>
          </a:prstGeom>
          <a:noFill/>
        </p:spPr>
        <p:txBody>
          <a:bodyPr wrap="square" lIns="0" rIns="0" tIns="0" bIns="0" anchor="t">
            <a:noAutofit/>
          </a:bodyPr>
          <a:lstStyle/>
          <a:p>
            <a:pPr algn="l">
              <a:lnSpc>
                <a:spcPts val="1711"/>
              </a:lnSpc>
              <a:spcBef>
                <a:spcPts val="0"/>
              </a:spcBef>
              <a:spcAft>
                <a:spcPts val="0"/>
              </a:spcAft>
              <a:buNone/>
            </a:pPr>
            <a:r>
              <a:rPr sz="1450" b="0">
                <a:solidFill>
                  <a:srgbClr val="EDF1E8"/>
                </a:solidFill>
                <a:latin typeface="Plus Jakarta Sans Medium"/>
              </a:rPr>
              <a:t>P1 · CareSphere app source inspected at 0af7c225; build/device checks pending</a:t>
            </a:r>
          </a:p>
        </p:txBody>
      </p:sp>
      <p:sp>
        <p:nvSpPr>
          <p:cNvPr id="14" name="TextBox 13"/>
          <p:cNvSpPr txBox="1"/>
          <p:nvPr/>
        </p:nvSpPr>
        <p:spPr>
          <a:xfrm>
            <a:off x="731520" y="4251959"/>
            <a:ext cx="10728655" cy="219456"/>
          </a:xfrm>
          <a:prstGeom prst="rect">
            <a:avLst/>
          </a:prstGeom>
          <a:noFill/>
        </p:spPr>
        <p:txBody>
          <a:bodyPr wrap="square" lIns="0" rIns="0" tIns="0" bIns="0" anchor="t">
            <a:noAutofit/>
          </a:bodyPr>
          <a:lstStyle/>
          <a:p>
            <a:pPr algn="l">
              <a:lnSpc>
                <a:spcPts val="1238"/>
              </a:lnSpc>
              <a:spcBef>
                <a:spcPts val="0"/>
              </a:spcBef>
              <a:spcAft>
                <a:spcPts val="0"/>
              </a:spcAft>
              <a:buNone/>
            </a:pPr>
            <a:r>
              <a:rPr sz="1050" b="0">
                <a:solidFill>
                  <a:srgbClr val="AEBEAF"/>
                </a:solidFill>
                <a:latin typeface="Plus Jakarta Sans"/>
              </a:rPr>
              <a:t>https://github.com/engineer2025-sudo/Care/tree/0af7c22518a7fa7d8caa3f795c9d0b022f7373a8</a:t>
            </a:r>
          </a:p>
        </p:txBody>
      </p:sp>
      <p:sp>
        <p:nvSpPr>
          <p:cNvPr id="15" name="TextBox 14"/>
          <p:cNvSpPr txBox="1"/>
          <p:nvPr/>
        </p:nvSpPr>
        <p:spPr>
          <a:xfrm>
            <a:off x="731520" y="4846320"/>
            <a:ext cx="10728655" cy="859536"/>
          </a:xfrm>
          <a:prstGeom prst="rect">
            <a:avLst/>
          </a:prstGeom>
          <a:noFill/>
        </p:spPr>
        <p:txBody>
          <a:bodyPr wrap="square" lIns="0" rIns="0" tIns="0" bIns="0" anchor="t">
            <a:noAutofit/>
          </a:bodyPr>
          <a:lstStyle/>
          <a:p>
            <a:pPr algn="l">
              <a:lnSpc>
                <a:spcPts val="1770"/>
              </a:lnSpc>
              <a:spcBef>
                <a:spcPts val="0"/>
              </a:spcBef>
              <a:spcAft>
                <a:spcPts val="0"/>
              </a:spcAft>
              <a:buNone/>
            </a:pPr>
            <a:r>
              <a:rPr sz="1500" b="0">
                <a:solidFill>
                  <a:srgbClr val="D5DED3"/>
                </a:solidFill>
                <a:latin typeface="Plus Jakarta Sans"/>
              </a:rPr>
              <a:t>Unvalidated inputs: 5% serviceable fit; 12 partners; 100 invites each; 25% activation; 40% retention; $36/seat/year; $6 variable/seat/year; $2,400 fixed/year. No willingness-to-pay or acquisition-cost data supplied.</a:t>
            </a:r>
          </a:p>
        </p:txBody>
      </p:sp>
      <p:sp>
        <p:nvSpPr>
          <p:cNvPr id="16" name="TextBox 15"/>
          <p:cNvSpPr txBox="1"/>
          <p:nvPr/>
        </p:nvSpPr>
        <p:spPr>
          <a:xfrm>
            <a:off x="731520" y="6181344"/>
            <a:ext cx="10728655" cy="164592"/>
          </a:xfrm>
          <a:prstGeom prst="rect">
            <a:avLst/>
          </a:prstGeom>
          <a:noFill/>
        </p:spPr>
        <p:txBody>
          <a:bodyPr wrap="square" lIns="0" rIns="0" tIns="0" bIns="0" anchor="t">
            <a:noAutofit/>
          </a:bodyPr>
          <a:lstStyle/>
          <a:p>
            <a:pPr algn="l">
              <a:lnSpc>
                <a:spcPts val="1121"/>
              </a:lnSpc>
              <a:spcBef>
                <a:spcPts val="0"/>
              </a:spcBef>
              <a:spcAft>
                <a:spcPts val="0"/>
              </a:spcAft>
              <a:buNone/>
            </a:pPr>
            <a:r>
              <a:rPr sz="950" b="0">
                <a:solidFill>
                  <a:srgbClr val="AEBEAF"/>
                </a:solidFill>
                <a:latin typeface="Plus Jakarta Sans"/>
              </a:rPr>
              <a:t>Sources: C1, C2, C3, P1</a:t>
            </a:r>
          </a:p>
        </p:txBody>
      </p:sp>
      <p:sp>
        <p:nvSpPr>
          <p:cNvPr id="17" name="TextBox 16"/>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EDF1E8">
                    <a:alpha val="7000"/>
                  </a:srgbClr>
                </a:solidFill>
                <a:latin typeface="Plus Jakarta Sans ExtraBold"/>
              </a:rPr>
              <a:t>20</a:t>
            </a:r>
          </a:p>
        </p:txBody>
      </p:sp>
      <p:pic>
        <p:nvPicPr>
          <p:cNvPr id="18" name="Picture 17"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19" name="TextBox 18"/>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AEBEAF"/>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